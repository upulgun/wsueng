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296" r:id="rId8"/>
    <p:sldId id="299" r:id="rId9"/>
    <p:sldId id="300" r:id="rId10"/>
    <p:sldId id="301" r:id="rId11"/>
    <p:sldId id="29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06ECDE31-1066-4EFA-B8E3-2556D50F1018}"/>
    <pc:docChg chg="modSld">
      <pc:chgData name="Upul Gunawardana" userId="d78f31a5-8ae7-4659-910b-ce777cc612cd" providerId="ADAL" clId="{06ECDE31-1066-4EFA-B8E3-2556D50F1018}" dt="2022-05-19T15:02:22.833" v="7" actId="20577"/>
      <pc:docMkLst>
        <pc:docMk/>
      </pc:docMkLst>
      <pc:sldChg chg="modSp mod">
        <pc:chgData name="Upul Gunawardana" userId="d78f31a5-8ae7-4659-910b-ce777cc612cd" providerId="ADAL" clId="{06ECDE31-1066-4EFA-B8E3-2556D50F1018}" dt="2022-05-19T15:02:22.833" v="7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06ECDE31-1066-4EFA-B8E3-2556D50F1018}" dt="2022-05-19T15:02:22.833" v="7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control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55-while-statemen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i="1" dirty="0"/>
              <a:t>while</a:t>
            </a:r>
            <a:r>
              <a:rPr lang="en-GB" sz="4400" dirty="0"/>
              <a:t> Iteration Statement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 Statement (loops)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0CBE3C3-C788-4CA0-917E-52C5600FFBD0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Loops are used to repeat a statement a certain number of times when a condition is met.</a:t>
            </a:r>
          </a:p>
          <a:p>
            <a:r>
              <a:rPr lang="en-AU" dirty="0"/>
              <a:t>There are three types of loops: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while</a:t>
            </a:r>
            <a:r>
              <a:rPr lang="en-AU" dirty="0"/>
              <a:t> loop. </a:t>
            </a:r>
            <a:r>
              <a:rPr lang="en-AU" b="1" dirty="0"/>
              <a:t>←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do-while</a:t>
            </a:r>
            <a:r>
              <a:rPr lang="en-AU" dirty="0"/>
              <a:t> loop.</a:t>
            </a:r>
          </a:p>
          <a:p>
            <a:pPr lvl="1"/>
            <a:r>
              <a:rPr lang="en-AU" i="1" dirty="0">
                <a:solidFill>
                  <a:srgbClr val="7030A0"/>
                </a:solidFill>
              </a:rPr>
              <a:t>for</a:t>
            </a:r>
            <a:r>
              <a:rPr lang="en-AU" dirty="0"/>
              <a:t> loop.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Loop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AD6302D-FA1D-4565-91FE-DD38931C5ABD}"/>
              </a:ext>
            </a:extLst>
          </p:cNvPr>
          <p:cNvGrpSpPr/>
          <p:nvPr/>
        </p:nvGrpSpPr>
        <p:grpSpPr>
          <a:xfrm>
            <a:off x="457200" y="1099076"/>
            <a:ext cx="8077379" cy="5210244"/>
            <a:chOff x="457200" y="1099076"/>
            <a:chExt cx="8077379" cy="5210244"/>
          </a:xfrm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A94B8F9B-9949-4127-9146-A4B0DB9C8BD3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099076"/>
              <a:ext cx="8077379" cy="187331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dirty="0"/>
                <a:t>The format is:</a:t>
              </a:r>
            </a:p>
            <a:p>
              <a:pPr marL="457200" lvl="1" indent="0">
                <a:buFont typeface="Arial" panose="020B0604020202020204" pitchFamily="34" charset="0"/>
                <a:buNone/>
              </a:pPr>
              <a:r>
                <a:rPr lang="en-AU" i="1" dirty="0">
                  <a:solidFill>
                    <a:srgbClr val="7030A0"/>
                  </a:solidFill>
                </a:rPr>
                <a:t>while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 (expression or condition) </a:t>
              </a:r>
              <a:r>
                <a:rPr lang="en-AU" dirty="0"/>
                <a:t>{ Statement(s) }</a:t>
              </a:r>
            </a:p>
            <a:p>
              <a:pPr marL="457200" lvl="1" indent="0">
                <a:buFont typeface="Arial" panose="020B0604020202020204" pitchFamily="34" charset="0"/>
                <a:buNone/>
              </a:pPr>
              <a:r>
                <a:rPr lang="en-AU" dirty="0"/>
                <a:t>– repeat while “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expression or condition</a:t>
              </a:r>
              <a:r>
                <a:rPr lang="en-AU" dirty="0"/>
                <a:t>” is </a:t>
              </a:r>
              <a:r>
                <a:rPr lang="en-AU" b="1" dirty="0">
                  <a:solidFill>
                    <a:schemeClr val="accent2">
                      <a:lumMod val="75000"/>
                    </a:schemeClr>
                  </a:solidFill>
                </a:rPr>
                <a:t>true</a:t>
              </a:r>
              <a:r>
                <a:rPr lang="en-AU" dirty="0"/>
                <a:t>.</a:t>
              </a:r>
            </a:p>
            <a:p>
              <a:pPr marL="357188" lvl="1" indent="-357188">
                <a:buFont typeface="Arial" panose="020B0604020202020204" pitchFamily="34" charset="0"/>
                <a:buChar char="•"/>
              </a:pPr>
              <a:r>
                <a:rPr lang="en-AU" dirty="0"/>
                <a:t>The logical flow of while loop:</a:t>
              </a:r>
            </a:p>
            <a:p>
              <a:pPr marL="457200" lvl="1" indent="0">
                <a:buFont typeface="Arial" panose="020B0604020202020204" pitchFamily="34" charset="0"/>
                <a:buNone/>
              </a:pPr>
              <a:endParaRPr lang="en-AU" dirty="0"/>
            </a:p>
          </p:txBody>
        </p:sp>
        <p:pic>
          <p:nvPicPr>
            <p:cNvPr id="9" name="Picture 3" descr="0501sowc copy">
              <a:extLst>
                <a:ext uri="{FF2B5EF4-FFF2-40B4-BE49-F238E27FC236}">
                  <a16:creationId xmlns:a16="http://schemas.microsoft.com/office/drawing/2014/main" id="{260B416D-EAA5-41D0-9055-0B3E288FF1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5255" y="2972395"/>
              <a:ext cx="4191000" cy="333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386383-E271-4F9F-93C5-85C9C327653F}"/>
              </a:ext>
            </a:extLst>
          </p:cNvPr>
          <p:cNvSpPr/>
          <p:nvPr/>
        </p:nvSpPr>
        <p:spPr>
          <a:xfrm>
            <a:off x="941184" y="1220397"/>
            <a:ext cx="658314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dirty="0"/>
              <a:t>// custom countdown using while</a:t>
            </a:r>
          </a:p>
          <a:p>
            <a:r>
              <a:rPr lang="en-AU" sz="2000" dirty="0"/>
              <a:t>#include &lt;</a:t>
            </a:r>
            <a:r>
              <a:rPr lang="en-AU" sz="2000" dirty="0" err="1"/>
              <a:t>iostream</a:t>
            </a:r>
            <a:r>
              <a:rPr lang="en-AU" sz="2000" dirty="0"/>
              <a:t>&gt;</a:t>
            </a:r>
          </a:p>
          <a:p>
            <a:r>
              <a:rPr lang="en-AU" sz="2000" dirty="0"/>
              <a:t>using namespace </a:t>
            </a:r>
            <a:r>
              <a:rPr lang="en-AU" sz="2000" dirty="0" err="1"/>
              <a:t>std</a:t>
            </a:r>
            <a:r>
              <a:rPr lang="en-AU" sz="2000" dirty="0"/>
              <a:t>;</a:t>
            </a:r>
          </a:p>
          <a:p>
            <a:r>
              <a:rPr lang="en-AU" sz="2000" dirty="0" err="1"/>
              <a:t>int</a:t>
            </a:r>
            <a:r>
              <a:rPr lang="en-AU" sz="2000" dirty="0"/>
              <a:t> main ()</a:t>
            </a:r>
          </a:p>
          <a:p>
            <a:r>
              <a:rPr lang="en-AU" sz="2000" dirty="0"/>
              <a:t>{</a:t>
            </a:r>
          </a:p>
          <a:p>
            <a:r>
              <a:rPr lang="da-DK" sz="2000" dirty="0"/>
              <a:t>	</a:t>
            </a:r>
            <a:r>
              <a:rPr lang="da-DK" sz="2000" dirty="0" err="1"/>
              <a:t>int</a:t>
            </a:r>
            <a:r>
              <a:rPr lang="da-DK" sz="2000" dirty="0"/>
              <a:t> n;</a:t>
            </a:r>
          </a:p>
          <a:p>
            <a:r>
              <a:rPr lang="da-DK" sz="2000" dirty="0"/>
              <a:t>	cout &lt;&lt; "Enter the starting number: ";</a:t>
            </a:r>
          </a:p>
          <a:p>
            <a:r>
              <a:rPr lang="da-DK" sz="2000" dirty="0"/>
              <a:t>	</a:t>
            </a:r>
            <a:r>
              <a:rPr lang="da-DK" sz="2000" dirty="0" err="1"/>
              <a:t>cin</a:t>
            </a:r>
            <a:r>
              <a:rPr lang="da-DK" sz="2000" dirty="0"/>
              <a:t> &gt;&gt; n;</a:t>
            </a:r>
          </a:p>
          <a:p>
            <a:r>
              <a:rPr lang="en-US" sz="2000" dirty="0"/>
              <a:t>	</a:t>
            </a:r>
            <a:r>
              <a:rPr lang="en-US" sz="2000" i="1" dirty="0">
                <a:solidFill>
                  <a:srgbClr val="7030A0"/>
                </a:solidFill>
              </a:rPr>
              <a:t>while</a:t>
            </a:r>
            <a:r>
              <a:rPr lang="en-US" sz="2000" dirty="0"/>
              <a:t> (n&gt;0)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sz="2000" dirty="0">
                <a:solidFill>
                  <a:srgbClr val="00B050"/>
                </a:solidFill>
              </a:rPr>
              <a:t>// Don’t put </a:t>
            </a:r>
            <a:r>
              <a:rPr lang="en-US" sz="2000" u="sng" dirty="0">
                <a:solidFill>
                  <a:srgbClr val="00B050"/>
                </a:solidFill>
              </a:rPr>
              <a:t>;</a:t>
            </a:r>
            <a:r>
              <a:rPr lang="en-US" sz="2000" dirty="0">
                <a:solidFill>
                  <a:srgbClr val="00B050"/>
                </a:solidFill>
              </a:rPr>
              <a:t> at the end</a:t>
            </a:r>
            <a:endParaRPr lang="en-US" sz="2400" dirty="0">
              <a:solidFill>
                <a:srgbClr val="00B050"/>
              </a:solidFill>
            </a:endParaRPr>
          </a:p>
          <a:p>
            <a:r>
              <a:rPr lang="en-US" sz="2000" dirty="0"/>
              <a:t>	{</a:t>
            </a:r>
          </a:p>
          <a:p>
            <a:r>
              <a:rPr lang="cs-CZ" sz="2000" dirty="0"/>
              <a:t>		</a:t>
            </a:r>
            <a:r>
              <a:rPr lang="cs-CZ" sz="2000" dirty="0" err="1"/>
              <a:t>cout</a:t>
            </a:r>
            <a:r>
              <a:rPr lang="cs-CZ" sz="2000" dirty="0"/>
              <a:t> &lt;&lt; n &lt;&lt; ", ";</a:t>
            </a:r>
          </a:p>
          <a:p>
            <a:r>
              <a:rPr lang="cs-CZ" sz="2000" dirty="0"/>
              <a:t>		--n;</a:t>
            </a:r>
            <a:r>
              <a:rPr lang="cs-CZ" sz="2000" b="1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AU" sz="2000" dirty="0">
                <a:solidFill>
                  <a:srgbClr val="00B050"/>
                </a:solidFill>
              </a:rPr>
              <a:t>// Decrement n by 1 in every loop</a:t>
            </a:r>
            <a:endParaRPr lang="cs-CZ" sz="2000" dirty="0">
              <a:solidFill>
                <a:srgbClr val="00B050"/>
              </a:solidFill>
            </a:endParaRPr>
          </a:p>
          <a:p>
            <a:r>
              <a:rPr lang="cs-CZ" sz="2000" dirty="0"/>
              <a:t>	}</a:t>
            </a:r>
          </a:p>
          <a:p>
            <a:r>
              <a:rPr lang="cs-CZ" sz="2000" dirty="0"/>
              <a:t>	</a:t>
            </a:r>
            <a:r>
              <a:rPr lang="cs-CZ" sz="2000" dirty="0" err="1"/>
              <a:t>cout</a:t>
            </a:r>
            <a:r>
              <a:rPr lang="cs-CZ" sz="2000" dirty="0"/>
              <a:t> &lt;&lt; "FIRE!\n";</a:t>
            </a:r>
          </a:p>
          <a:p>
            <a:r>
              <a:rPr lang="cs-CZ" sz="2000" dirty="0"/>
              <a:t>	return 0;</a:t>
            </a:r>
          </a:p>
          <a:p>
            <a:r>
              <a:rPr lang="cs-CZ" sz="2000" dirty="0"/>
              <a:t>}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89530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validation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CE7ED9-1688-4518-8A3F-33D22321F9F2}"/>
              </a:ext>
            </a:extLst>
          </p:cNvPr>
          <p:cNvSpPr/>
          <p:nvPr/>
        </p:nvSpPr>
        <p:spPr>
          <a:xfrm>
            <a:off x="457200" y="1371600"/>
            <a:ext cx="67730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urier New" charset="0"/>
              </a:rPr>
              <a:t>cout</a:t>
            </a:r>
            <a:r>
              <a:rPr lang="en-US" dirty="0">
                <a:latin typeface="Courier New" charset="0"/>
              </a:rPr>
              <a:t> &lt;&lt; "Enter a number less than 10: ";</a:t>
            </a:r>
          </a:p>
          <a:p>
            <a:r>
              <a:rPr lang="en-US" dirty="0" err="1">
                <a:latin typeface="Courier New" charset="0"/>
              </a:rPr>
              <a:t>cin</a:t>
            </a:r>
            <a:r>
              <a:rPr lang="en-US" dirty="0">
                <a:latin typeface="Courier New" charset="0"/>
              </a:rPr>
              <a:t> &gt;&gt; number;</a:t>
            </a:r>
          </a:p>
          <a:p>
            <a:r>
              <a:rPr lang="en-US" dirty="0">
                <a:solidFill>
                  <a:srgbClr val="7030A0"/>
                </a:solidFill>
                <a:latin typeface="Courier New" charset="0"/>
              </a:rPr>
              <a:t>while</a:t>
            </a:r>
            <a:r>
              <a:rPr lang="en-US" dirty="0">
                <a:latin typeface="Courier New" charset="0"/>
              </a:rPr>
              <a:t> (number &gt;= 10)</a:t>
            </a:r>
          </a:p>
          <a:p>
            <a:r>
              <a:rPr lang="en-US" dirty="0">
                <a:latin typeface="Courier New" charset="0"/>
              </a:rPr>
              <a:t>{</a:t>
            </a:r>
          </a:p>
          <a:p>
            <a:r>
              <a:rPr lang="en-US" dirty="0">
                <a:latin typeface="Courier New" charset="0"/>
              </a:rPr>
              <a:t>   </a:t>
            </a:r>
            <a:r>
              <a:rPr lang="en-US" dirty="0" err="1">
                <a:latin typeface="Courier New" charset="0"/>
              </a:rPr>
              <a:t>cout</a:t>
            </a:r>
            <a:r>
              <a:rPr lang="en-US" dirty="0">
                <a:latin typeface="Courier New" charset="0"/>
              </a:rPr>
              <a:t> &lt;&lt; "Invalid Entry!"</a:t>
            </a:r>
            <a:br>
              <a:rPr lang="en-US" dirty="0">
                <a:latin typeface="Courier New" charset="0"/>
              </a:rPr>
            </a:br>
            <a:r>
              <a:rPr lang="en-US" dirty="0">
                <a:latin typeface="Courier New" charset="0"/>
              </a:rPr>
              <a:t>        &lt;&lt; "Enter a number less than 10: ";</a:t>
            </a:r>
          </a:p>
          <a:p>
            <a:r>
              <a:rPr lang="en-US" dirty="0">
                <a:latin typeface="Courier New" charset="0"/>
              </a:rPr>
              <a:t>   </a:t>
            </a:r>
            <a:r>
              <a:rPr lang="en-US" dirty="0" err="1">
                <a:latin typeface="Courier New" charset="0"/>
              </a:rPr>
              <a:t>cin</a:t>
            </a:r>
            <a:r>
              <a:rPr lang="en-US" dirty="0">
                <a:latin typeface="Courier New" charset="0"/>
              </a:rPr>
              <a:t> &gt;&gt; number;</a:t>
            </a:r>
          </a:p>
          <a:p>
            <a:r>
              <a:rPr lang="en-US" dirty="0">
                <a:latin typeface="Courier New" charset="0"/>
              </a:rPr>
              <a:t>}</a:t>
            </a:r>
          </a:p>
        </p:txBody>
      </p:sp>
      <p:pic>
        <p:nvPicPr>
          <p:cNvPr id="9" name="Picture 3" descr="0504sowc copy">
            <a:extLst>
              <a:ext uri="{FF2B5EF4-FFF2-40B4-BE49-F238E27FC236}">
                <a16:creationId xmlns:a16="http://schemas.microsoft.com/office/drawing/2014/main" id="{6E42D62C-151E-4FA9-AE7B-764ACFD70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808" y="3072384"/>
            <a:ext cx="5193792" cy="3557016"/>
          </a:xfrm>
          <a:prstGeom prst="rect">
            <a:avLst/>
          </a:prstGeom>
          <a:solidFill>
            <a:srgbClr val="0000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307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Tips: When to use </a:t>
            </a:r>
            <a:r>
              <a:rPr lang="en-AU" b="1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endParaRPr lang="en-GB" b="1" i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3981083-56B1-460A-8066-8DC6BC873924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196752"/>
            <a:ext cx="8294688" cy="511256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while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 when the number of times the loop is required to run is unknown.</a:t>
            </a:r>
          </a:p>
          <a:p>
            <a:r>
              <a:rPr lang="en-AU" dirty="0">
                <a:latin typeface="Arial" charset="0"/>
                <a:ea typeface="ヒラギノ角ゴ Pro W3" charset="0"/>
                <a:cs typeface="Arial" charset="0"/>
              </a:rPr>
              <a:t>Use </a:t>
            </a:r>
            <a:r>
              <a:rPr lang="en-US" dirty="0">
                <a:solidFill>
                  <a:srgbClr val="7030A0"/>
                </a:solidFill>
                <a:latin typeface="Courier New" charset="0"/>
                <a:ea typeface="ヒラギノ角ゴ Pro W3" charset="0"/>
                <a:cs typeface="Arial" charset="0"/>
              </a:rPr>
              <a:t>while</a:t>
            </a:r>
            <a:r>
              <a:rPr lang="en-AU" dirty="0">
                <a:latin typeface="Arial" charset="0"/>
                <a:ea typeface="ヒラギノ角ゴ Pro W3" charset="0"/>
                <a:cs typeface="Arial" charset="0"/>
              </a:rPr>
              <a:t> (1) to form an infinite loop especially when using a simple program that runs for long periods of time, e.g. </a:t>
            </a:r>
            <a:r>
              <a:rPr lang="en-AU" u="sng" dirty="0">
                <a:latin typeface="Arial" charset="0"/>
                <a:ea typeface="ヒラギノ角ゴ Pro W3" charset="0"/>
                <a:cs typeface="Arial" charset="0"/>
              </a:rPr>
              <a:t>mobile phone call</a:t>
            </a:r>
            <a:r>
              <a:rPr lang="en-AU" dirty="0">
                <a:latin typeface="Arial" charset="0"/>
                <a:ea typeface="ヒラギノ角ゴ Pro W3" charset="0"/>
                <a:cs typeface="Arial" charset="0"/>
              </a:rPr>
              <a:t>:</a:t>
            </a:r>
            <a:endParaRPr lang="en-A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7030A0"/>
                </a:solidFill>
              </a:rPr>
              <a:t>while</a:t>
            </a:r>
            <a:r>
              <a:rPr lang="en-US" dirty="0"/>
              <a:t> (1)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AU" dirty="0"/>
              <a:t>   </a:t>
            </a:r>
            <a:r>
              <a:rPr lang="en-AU" dirty="0" err="1"/>
              <a:t>read_input</a:t>
            </a:r>
            <a:r>
              <a:rPr lang="en-AU" dirty="0"/>
              <a:t>();	</a:t>
            </a:r>
            <a:r>
              <a:rPr lang="en-AU" dirty="0">
                <a:solidFill>
                  <a:srgbClr val="00B050"/>
                </a:solidFill>
              </a:rPr>
              <a:t>// 1) Get network data</a:t>
            </a:r>
            <a:endParaRPr lang="cs-CZ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AU" dirty="0"/>
              <a:t>   </a:t>
            </a:r>
            <a:r>
              <a:rPr lang="en-AU" dirty="0" err="1"/>
              <a:t>process_data</a:t>
            </a:r>
            <a:r>
              <a:rPr lang="en-AU" dirty="0"/>
              <a:t>()</a:t>
            </a:r>
            <a:r>
              <a:rPr lang="cs-CZ" dirty="0"/>
              <a:t>;</a:t>
            </a:r>
            <a:r>
              <a:rPr lang="cs-CZ" b="1" dirty="0">
                <a:solidFill>
                  <a:schemeClr val="accent2">
                    <a:lumMod val="75000"/>
                  </a:schemeClr>
                </a:solidFill>
              </a:rPr>
              <a:t>	</a:t>
            </a:r>
            <a:r>
              <a:rPr lang="en-AU" dirty="0">
                <a:solidFill>
                  <a:srgbClr val="00B050"/>
                </a:solidFill>
              </a:rPr>
              <a:t>// 2) Convert into sound signal</a:t>
            </a:r>
          </a:p>
          <a:p>
            <a:pPr marL="0" indent="0">
              <a:buNone/>
            </a:pPr>
            <a:r>
              <a:rPr lang="en-AU" dirty="0">
                <a:solidFill>
                  <a:srgbClr val="00B050"/>
                </a:solidFill>
              </a:rPr>
              <a:t>   </a:t>
            </a:r>
            <a:r>
              <a:rPr lang="en-AU" dirty="0" err="1"/>
              <a:t>output_data</a:t>
            </a:r>
            <a:r>
              <a:rPr lang="en-AU" dirty="0"/>
              <a:t>();</a:t>
            </a:r>
            <a:r>
              <a:rPr lang="en-AU" dirty="0">
                <a:solidFill>
                  <a:srgbClr val="00B050"/>
                </a:solidFill>
              </a:rPr>
              <a:t>	// 3) Play signal on speaker</a:t>
            </a:r>
          </a:p>
          <a:p>
            <a:pPr marL="0" indent="0">
              <a:buNone/>
            </a:pPr>
            <a:r>
              <a:rPr lang="en-AU" dirty="0">
                <a:solidFill>
                  <a:srgbClr val="00B050"/>
                </a:solidFill>
              </a:rPr>
              <a:t>   </a:t>
            </a:r>
            <a:r>
              <a:rPr lang="en-AU" dirty="0"/>
              <a:t>if </a:t>
            </a:r>
            <a:r>
              <a:rPr lang="en-AU" dirty="0" err="1"/>
              <a:t>call_end</a:t>
            </a:r>
            <a:r>
              <a:rPr lang="en-AU" dirty="0"/>
              <a:t>()</a:t>
            </a:r>
          </a:p>
          <a:p>
            <a:pPr marL="0" indent="0">
              <a:buNone/>
            </a:pPr>
            <a:r>
              <a:rPr lang="en-AU" dirty="0">
                <a:solidFill>
                  <a:srgbClr val="00B050"/>
                </a:solidFill>
              </a:rPr>
              <a:t>      </a:t>
            </a:r>
            <a:r>
              <a:rPr lang="en-AU" dirty="0"/>
              <a:t>break;</a:t>
            </a:r>
            <a:r>
              <a:rPr lang="en-AU" dirty="0">
                <a:solidFill>
                  <a:srgbClr val="00B050"/>
                </a:solidFill>
              </a:rPr>
              <a:t>		// Break the while loop if call ends</a:t>
            </a:r>
            <a:endParaRPr lang="cs-CZ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cs-CZ" dirty="0"/>
              <a:t>}</a:t>
            </a:r>
          </a:p>
          <a:p>
            <a:pPr marL="0" indent="0">
              <a:buNone/>
            </a:pP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752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Statements and flow control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https://cplusplus.com/doc/tutorial/control/</a:t>
            </a:r>
            <a:endParaRPr lang="en-AU" sz="2400" dirty="0"/>
          </a:p>
          <a:p>
            <a:r>
              <a:rPr lang="en-AU" sz="2400" dirty="0"/>
              <a:t>[2] 	learncpp.com: 5.5 – While statements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https://www.learncpp.com/cpp-tutorial/55-while-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statements/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7348BD-1E1D-40E1-9931-A2ACB02D0A8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F61863A-0CA7-4C03-AFE0-AB9FEC2329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F7D19F-8A1A-4E75-8521-5E5E95F155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27176</TotalTime>
  <Words>409</Words>
  <Application>Microsoft Office PowerPoint</Application>
  <PresentationFormat>On-screen Show (4:3)</PresentationFormat>
  <Paragraphs>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Office Theme</vt:lpstr>
      <vt:lpstr>1_Office Theme</vt:lpstr>
      <vt:lpstr>while Iteration Statement</vt:lpstr>
      <vt:lpstr>Iteration Statement (loops)</vt:lpstr>
      <vt:lpstr>The while Loop</vt:lpstr>
      <vt:lpstr>Example</vt:lpstr>
      <vt:lpstr>Input validation</vt:lpstr>
      <vt:lpstr>Tips: When to use while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5 - while Iteration Statement</dc:title>
  <dc:creator>Ram Singh</dc:creator>
  <cp:lastModifiedBy>Upul Gunawardana</cp:lastModifiedBy>
  <cp:revision>550</cp:revision>
  <dcterms:created xsi:type="dcterms:W3CDTF">2018-02-26T21:48:17Z</dcterms:created>
  <dcterms:modified xsi:type="dcterms:W3CDTF">2022-05-19T15:02:25Z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