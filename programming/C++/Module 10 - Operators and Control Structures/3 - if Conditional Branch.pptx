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299" r:id="rId9"/>
    <p:sldId id="300" r:id="rId10"/>
    <p:sldId id="294" r:id="rId11"/>
    <p:sldId id="301" r:id="rId12"/>
    <p:sldId id="298" r:id="rId13"/>
    <p:sldId id="29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66A8878E-79F9-4106-851F-0CC59CE0609B}"/>
    <pc:docChg chg="modSld">
      <pc:chgData name="Upul Gunawardana" userId="d78f31a5-8ae7-4659-910b-ce777cc612cd" providerId="ADAL" clId="{66A8878E-79F9-4106-851F-0CC59CE0609B}" dt="2022-05-19T15:00:51.033" v="8" actId="20577"/>
      <pc:docMkLst>
        <pc:docMk/>
      </pc:docMkLst>
      <pc:sldChg chg="modSp mod">
        <pc:chgData name="Upul Gunawardana" userId="d78f31a5-8ae7-4659-910b-ce777cc612cd" providerId="ADAL" clId="{66A8878E-79F9-4106-851F-0CC59CE0609B}" dt="2022-05-19T15:00:51.033" v="8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66A8878E-79F9-4106-851F-0CC59CE0609B}" dt="2022-05-19T15:00:51.033" v="8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contro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52-if-stat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if</a:t>
            </a:r>
            <a:r>
              <a:rPr lang="en-GB" sz="4400" dirty="0"/>
              <a:t> Conditional Branch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Branches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AU" dirty="0"/>
              <a:t>Defined as a condition that causes the program to change the path of execution based on the value of an expression.</a:t>
            </a:r>
          </a:p>
          <a:p>
            <a:pPr algn="just"/>
            <a:r>
              <a:rPr lang="en-AU" dirty="0"/>
              <a:t>Forms of conditional branches:</a:t>
            </a:r>
          </a:p>
          <a:p>
            <a:pPr lvl="1" algn="just"/>
            <a:r>
              <a:rPr lang="en-AU" i="1" dirty="0">
                <a:solidFill>
                  <a:srgbClr val="7030A0"/>
                </a:solidFill>
              </a:rPr>
              <a:t>if</a:t>
            </a:r>
            <a:r>
              <a:rPr lang="en-AU" dirty="0"/>
              <a:t> statement. ←</a:t>
            </a:r>
          </a:p>
          <a:p>
            <a:pPr lvl="1" algn="just"/>
            <a:r>
              <a:rPr lang="en-AU" i="1" dirty="0">
                <a:solidFill>
                  <a:srgbClr val="7030A0"/>
                </a:solidFill>
              </a:rPr>
              <a:t>switch</a:t>
            </a:r>
            <a:r>
              <a:rPr lang="en-AU" dirty="0"/>
              <a:t> statement.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A90980-C36E-45B3-B648-CD923FF5F77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The ‘</a:t>
            </a:r>
            <a:r>
              <a:rPr lang="en-AU" i="1" dirty="0">
                <a:solidFill>
                  <a:srgbClr val="7030A0"/>
                </a:solidFill>
              </a:rPr>
              <a:t>if</a:t>
            </a:r>
            <a:r>
              <a:rPr lang="en-AU" dirty="0"/>
              <a:t>’ (a keyword) is to execute a statement or a block of statements only if a condition is satisfied.  The form is:</a:t>
            </a:r>
          </a:p>
          <a:p>
            <a:pPr lvl="1"/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(condition) statement</a:t>
            </a:r>
          </a:p>
          <a:p>
            <a:pPr lvl="1"/>
            <a:r>
              <a:rPr lang="en-AU" dirty="0"/>
              <a:t>e.g. 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(x&gt;90)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/>
              <a:t>cout</a:t>
            </a:r>
            <a:r>
              <a:rPr lang="en-AU" sz="2800" dirty="0"/>
              <a:t> &lt;&lt; “A very good score!” &lt;&lt; 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  <a:p>
            <a:pPr marL="514350" lvl="1" indent="0">
              <a:buFont typeface="Arial" panose="020B0604020202020204" pitchFamily="34" charset="0"/>
              <a:buNone/>
            </a:pP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This ‘</a:t>
            </a:r>
            <a:r>
              <a:rPr lang="en-AU" dirty="0" err="1">
                <a:solidFill>
                  <a:schemeClr val="accent6">
                    <a:lumMod val="75000"/>
                  </a:schemeClr>
                </a:solidFill>
              </a:rPr>
              <a:t>cout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statement’ will only be executed if the value in x is greater than 90</a:t>
            </a:r>
            <a:r>
              <a:rPr lang="en-AU" dirty="0">
                <a:solidFill>
                  <a:srgbClr val="FFFF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Lines of Code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B62887-9334-4074-BDC7-A47873B6DC19}"/>
              </a:ext>
            </a:extLst>
          </p:cNvPr>
          <p:cNvSpPr txBox="1">
            <a:spLocks/>
          </p:cNvSpPr>
          <p:nvPr/>
        </p:nvSpPr>
        <p:spPr>
          <a:xfrm>
            <a:off x="457200" y="1352664"/>
            <a:ext cx="8229600" cy="4596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if multiple lines of code is to be executed under an </a:t>
            </a:r>
            <a:r>
              <a:rPr lang="en-AU" i="1" dirty="0"/>
              <a:t>if</a:t>
            </a:r>
            <a:r>
              <a:rPr lang="en-AU" dirty="0"/>
              <a:t> statement, {} should be used.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Do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put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 ; </a:t>
            </a:r>
            <a:r>
              <a:rPr lang="en-AU" dirty="0"/>
              <a:t>after the </a:t>
            </a:r>
            <a:r>
              <a:rPr lang="en-AU" i="1" dirty="0"/>
              <a:t>if</a:t>
            </a:r>
            <a:r>
              <a:rPr lang="en-AU" dirty="0"/>
              <a:t> (</a:t>
            </a:r>
            <a:r>
              <a:rPr lang="en-AU" i="1" dirty="0"/>
              <a:t>condition</a:t>
            </a:r>
            <a:r>
              <a:rPr lang="en-AU" dirty="0"/>
              <a:t>) statement.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e.g. 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(x&gt;90)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/>
              <a:t>{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/>
              <a:t>	</a:t>
            </a:r>
            <a:r>
              <a:rPr lang="en-AU" sz="2800" dirty="0" err="1"/>
              <a:t>cout</a:t>
            </a:r>
            <a:r>
              <a:rPr lang="en-AU" sz="2800" dirty="0"/>
              <a:t> &lt;&lt; “Congratulation!”&lt;&lt; 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/>
              <a:t>	</a:t>
            </a:r>
            <a:r>
              <a:rPr lang="en-AU" sz="2800" dirty="0" err="1"/>
              <a:t>cout</a:t>
            </a:r>
            <a:r>
              <a:rPr lang="en-AU" sz="2800" dirty="0"/>
              <a:t> &lt;&lt; “A very good score of ”;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/>
              <a:t>	</a:t>
            </a:r>
            <a:r>
              <a:rPr lang="en-AU" sz="2800" dirty="0" err="1"/>
              <a:t>cout</a:t>
            </a:r>
            <a:r>
              <a:rPr lang="en-AU" sz="2800" dirty="0"/>
              <a:t> &lt;&lt; x &lt;&lt; “.” &lt;&lt; 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/>
              <a:t>}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Conditional Branches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E3BA5E-49EA-4FF8-8660-88902C8E7A28}"/>
              </a:ext>
            </a:extLst>
          </p:cNvPr>
          <p:cNvSpPr txBox="1">
            <a:spLocks/>
          </p:cNvSpPr>
          <p:nvPr/>
        </p:nvSpPr>
        <p:spPr>
          <a:xfrm>
            <a:off x="251520" y="1916832"/>
            <a:ext cx="8269128" cy="3096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dirty="0">
                <a:solidFill>
                  <a:srgbClr val="7030A0"/>
                </a:solidFill>
              </a:rPr>
              <a:t>else</a:t>
            </a:r>
            <a:r>
              <a:rPr lang="en-AU" dirty="0">
                <a:solidFill>
                  <a:srgbClr val="FFFF00"/>
                </a:solidFill>
              </a:rPr>
              <a:t> </a:t>
            </a:r>
            <a:r>
              <a:rPr lang="en-AU" dirty="0"/>
              <a:t>statement can be used to specify what to do if the ‘if’ condition is not met.</a:t>
            </a:r>
            <a:endParaRPr lang="en-AU" dirty="0">
              <a:solidFill>
                <a:srgbClr val="FFFF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e.g. 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(x&gt;90)	</a:t>
            </a:r>
            <a:r>
              <a:rPr lang="en-AU" dirty="0">
                <a:solidFill>
                  <a:srgbClr val="00B050"/>
                </a:solidFill>
              </a:rPr>
              <a:t>// Condition 1</a:t>
            </a:r>
            <a:endParaRPr lang="en-AU" sz="2800" dirty="0"/>
          </a:p>
          <a:p>
            <a:pPr marL="1371600" lvl="3" indent="0">
              <a:buNone/>
            </a:pPr>
            <a:r>
              <a:rPr lang="en-AU" sz="2800" dirty="0"/>
              <a:t>	</a:t>
            </a:r>
            <a:r>
              <a:rPr lang="en-AU" sz="2800" dirty="0" err="1"/>
              <a:t>cout</a:t>
            </a:r>
            <a:r>
              <a:rPr lang="en-AU" sz="2800" dirty="0"/>
              <a:t> &lt;&lt; “Congratulation!”&lt;&lt;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  <a:p>
            <a:pPr marL="1371600" lvl="3" indent="0">
              <a:buNone/>
            </a:pPr>
            <a:r>
              <a:rPr lang="en-AU" sz="2800" dirty="0">
                <a:solidFill>
                  <a:srgbClr val="7030A0"/>
                </a:solidFill>
              </a:rPr>
              <a:t>else</a:t>
            </a:r>
            <a:r>
              <a:rPr lang="en-AU" sz="2800" dirty="0"/>
              <a:t> 	</a:t>
            </a:r>
            <a:r>
              <a:rPr lang="en-AU" sz="2800" dirty="0">
                <a:solidFill>
                  <a:srgbClr val="00B050"/>
                </a:solidFill>
              </a:rPr>
              <a:t> // Condition 2</a:t>
            </a:r>
            <a:endParaRPr lang="en-AU" sz="2800" dirty="0"/>
          </a:p>
          <a:p>
            <a:pPr marL="1371600" lvl="3" indent="0">
              <a:buNone/>
            </a:pPr>
            <a:r>
              <a:rPr lang="en-AU" sz="2800" dirty="0"/>
              <a:t>	</a:t>
            </a:r>
            <a:r>
              <a:rPr lang="en-AU" sz="2800" dirty="0" err="1"/>
              <a:t>cout</a:t>
            </a:r>
            <a:r>
              <a:rPr lang="en-AU" sz="2800" dirty="0"/>
              <a:t> &lt;&lt; “You can improve your score”;</a:t>
            </a:r>
          </a:p>
        </p:txBody>
      </p: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Conditional Branches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ECF6C3-E464-4483-83E9-C9D00BC8292D}"/>
              </a:ext>
            </a:extLst>
          </p:cNvPr>
          <p:cNvSpPr txBox="1">
            <a:spLocks/>
          </p:cNvSpPr>
          <p:nvPr/>
        </p:nvSpPr>
        <p:spPr>
          <a:xfrm>
            <a:off x="264344" y="1302260"/>
            <a:ext cx="8256304" cy="471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Use </a:t>
            </a:r>
            <a:r>
              <a:rPr lang="en-AU" dirty="0">
                <a:solidFill>
                  <a:srgbClr val="7030A0"/>
                </a:solidFill>
              </a:rPr>
              <a:t>if – else if – else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AU" dirty="0"/>
              <a:t>for a range of conditional branches.</a:t>
            </a:r>
            <a:endParaRPr lang="en-AU" dirty="0">
              <a:solidFill>
                <a:srgbClr val="FFFF00"/>
              </a:solidFill>
            </a:endParaRPr>
          </a:p>
          <a:p>
            <a:pPr lvl="1"/>
            <a:r>
              <a:rPr lang="en-AU" dirty="0"/>
              <a:t>e.g. </a:t>
            </a:r>
          </a:p>
          <a:p>
            <a:pPr marL="914400" lvl="2" indent="0">
              <a:buNone/>
            </a:pPr>
            <a:r>
              <a:rPr lang="en-AU" sz="2800" dirty="0">
                <a:solidFill>
                  <a:srgbClr val="7030A0"/>
                </a:solidFill>
              </a:rPr>
              <a:t>if</a:t>
            </a:r>
            <a:r>
              <a:rPr lang="en-AU" sz="2800" dirty="0"/>
              <a:t> (x&lt;0) 	</a:t>
            </a:r>
            <a:r>
              <a:rPr lang="en-AU" sz="2800" dirty="0">
                <a:solidFill>
                  <a:srgbClr val="00B050"/>
                </a:solidFill>
              </a:rPr>
              <a:t>// Condition 1</a:t>
            </a:r>
            <a:endParaRPr lang="en-AU" sz="2800" dirty="0"/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/>
              <a:t>cout</a:t>
            </a:r>
            <a:r>
              <a:rPr lang="en-AU" sz="2800" dirty="0"/>
              <a:t> &lt;&lt; “x is negative.”&lt;&lt;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  <a:p>
            <a:pPr marL="1371600" lvl="3" indent="-474663">
              <a:buNone/>
            </a:pPr>
            <a:r>
              <a:rPr lang="en-AU" sz="2800" dirty="0">
                <a:solidFill>
                  <a:srgbClr val="7030A0"/>
                </a:solidFill>
              </a:rPr>
              <a:t>else if</a:t>
            </a:r>
            <a:r>
              <a:rPr lang="en-AU" sz="2800" dirty="0"/>
              <a:t> (x&gt;0) 	</a:t>
            </a:r>
            <a:r>
              <a:rPr lang="en-AU" sz="2800" dirty="0">
                <a:solidFill>
                  <a:srgbClr val="00B050"/>
                </a:solidFill>
              </a:rPr>
              <a:t>// Condition 2</a:t>
            </a:r>
            <a:endParaRPr lang="en-AU" sz="2800" dirty="0"/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/>
              <a:t>cout</a:t>
            </a:r>
            <a:r>
              <a:rPr lang="en-AU" sz="2800" dirty="0"/>
              <a:t> &lt;&lt; “x is positive.”&lt;&lt;</a:t>
            </a:r>
            <a:r>
              <a:rPr lang="en-AU" sz="2800" dirty="0" err="1"/>
              <a:t>endl</a:t>
            </a:r>
            <a:r>
              <a:rPr lang="en-AU" sz="2800" dirty="0"/>
              <a:t>; </a:t>
            </a:r>
          </a:p>
          <a:p>
            <a:pPr marL="1371600" lvl="3" indent="-474663">
              <a:buNone/>
            </a:pPr>
            <a:r>
              <a:rPr lang="en-AU" sz="2800" dirty="0">
                <a:solidFill>
                  <a:srgbClr val="7030A0"/>
                </a:solidFill>
              </a:rPr>
              <a:t>else</a:t>
            </a:r>
            <a:r>
              <a:rPr lang="en-AU" sz="2800" dirty="0"/>
              <a:t>		</a:t>
            </a:r>
            <a:r>
              <a:rPr lang="en-AU" sz="2800" dirty="0">
                <a:solidFill>
                  <a:srgbClr val="00B050"/>
                </a:solidFill>
              </a:rPr>
              <a:t>// Condition 3</a:t>
            </a:r>
            <a:endParaRPr lang="en-AU" sz="2800" dirty="0">
              <a:solidFill>
                <a:srgbClr val="7030A0"/>
              </a:solidFill>
            </a:endParaRPr>
          </a:p>
          <a:p>
            <a:pPr marL="1371600" lvl="3" indent="0">
              <a:buFont typeface="Arial" panose="020B0604020202020204" pitchFamily="34" charset="0"/>
              <a:buNone/>
            </a:pPr>
            <a:r>
              <a:rPr lang="en-AU" sz="2800" dirty="0" err="1"/>
              <a:t>cout</a:t>
            </a:r>
            <a:r>
              <a:rPr lang="en-AU" sz="2800" dirty="0"/>
              <a:t> &lt;&lt; “x is 0.” &lt;&lt;</a:t>
            </a:r>
            <a:r>
              <a:rPr lang="en-AU" sz="2800" dirty="0" err="1"/>
              <a:t>endl</a:t>
            </a:r>
            <a:r>
              <a:rPr lang="en-AU" sz="2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1833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Commas in </a:t>
            </a:r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06B65D-9C5D-43A0-905A-3C782D00616D}"/>
              </a:ext>
            </a:extLst>
          </p:cNvPr>
          <p:cNvSpPr txBox="1">
            <a:spLocks/>
          </p:cNvSpPr>
          <p:nvPr/>
        </p:nvSpPr>
        <p:spPr>
          <a:xfrm>
            <a:off x="273702" y="1484784"/>
            <a:ext cx="8256304" cy="373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457200">
              <a:buFont typeface="Arial" panose="020B0604020202020204" pitchFamily="34" charset="0"/>
              <a:buChar char="•"/>
            </a:pPr>
            <a:r>
              <a:rPr lang="en-AU" dirty="0"/>
              <a:t>Use of commas ,</a:t>
            </a:r>
          </a:p>
          <a:p>
            <a:pPr marL="971550" lvl="1" indent="-457200">
              <a:buFont typeface="Arial" panose="020B0604020202020204" pitchFamily="34" charset="0"/>
              <a:buChar char="•"/>
            </a:pPr>
            <a:r>
              <a:rPr lang="en-AU" dirty="0"/>
              <a:t>e.g.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a=1,b=2,c=10,d=20;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(a&lt;0) c*=10, d*=20;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else if</a:t>
            </a:r>
            <a:r>
              <a:rPr lang="en-AU" dirty="0"/>
              <a:t> (a&lt;b) c/=10, d/=20; 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else</a:t>
            </a:r>
            <a:r>
              <a:rPr lang="en-AU" dirty="0"/>
              <a:t> c=b;</a:t>
            </a:r>
          </a:p>
        </p:txBody>
      </p:sp>
    </p:spTree>
    <p:extLst>
      <p:ext uri="{BB962C8B-B14F-4D97-AF65-F5344CB8AC3E}">
        <p14:creationId xmlns:p14="http://schemas.microsoft.com/office/powerpoint/2010/main" val="341776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code is equivalent to: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04EBB1-764E-41C3-89A4-6A3655417968}"/>
              </a:ext>
            </a:extLst>
          </p:cNvPr>
          <p:cNvSpPr txBox="1">
            <a:spLocks/>
          </p:cNvSpPr>
          <p:nvPr/>
        </p:nvSpPr>
        <p:spPr>
          <a:xfrm>
            <a:off x="1115616" y="1412776"/>
            <a:ext cx="4608512" cy="514955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a=1;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b=2;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c=10;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int d=20;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if</a:t>
            </a:r>
            <a:r>
              <a:rPr lang="en-AU" dirty="0"/>
              <a:t> (a&lt;0)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{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c=c*10;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d=d*20;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}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else if </a:t>
            </a:r>
            <a:r>
              <a:rPr lang="en-AU" dirty="0"/>
              <a:t>(a&lt;b)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{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c=c/10;</a:t>
            </a:r>
            <a:br>
              <a:rPr lang="en-AU" dirty="0"/>
            </a:br>
            <a:r>
              <a:rPr lang="en-AU" dirty="0"/>
              <a:t>	d=d/20;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} 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dirty="0">
                <a:solidFill>
                  <a:srgbClr val="7030A0"/>
                </a:solidFill>
              </a:rPr>
              <a:t>else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r>
              <a:rPr lang="en-AU" dirty="0"/>
              <a:t>		c=b;</a:t>
            </a:r>
          </a:p>
          <a:p>
            <a:pPr marL="971550" lvl="1" indent="-457200">
              <a:buFont typeface="Arial" panose="020B0604020202020204" pitchFamily="34" charset="0"/>
              <a:buNone/>
            </a:pPr>
            <a:endParaRPr lang="en-AU" dirty="0"/>
          </a:p>
          <a:p>
            <a:pPr marL="971550" lvl="1" indent="-457200"/>
            <a:r>
              <a:rPr lang="en-AU" dirty="0">
                <a:solidFill>
                  <a:srgbClr val="FF0000"/>
                </a:solidFill>
              </a:rPr>
              <a:t>Too long?</a:t>
            </a:r>
          </a:p>
        </p:txBody>
      </p:sp>
    </p:spTree>
    <p:extLst>
      <p:ext uri="{BB962C8B-B14F-4D97-AF65-F5344CB8AC3E}">
        <p14:creationId xmlns:p14="http://schemas.microsoft.com/office/powerpoint/2010/main" val="275383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5.2 – If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https://www.learncpp.com/cpp-tutorial/52-if-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statements/</a:t>
            </a:r>
            <a:endParaRPr lang="en-AU" sz="2400" dirty="0"/>
          </a:p>
          <a:p>
            <a:r>
              <a:rPr lang="en-AU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9854D8-4988-4AD7-951D-C6F293EC9C7B}">
  <ds:schemaRefs>
    <ds:schemaRef ds:uri="http://schemas.microsoft.com/office/2006/metadata/properties"/>
    <ds:schemaRef ds:uri="http://schemas.openxmlformats.org/package/2006/metadata/core-properties"/>
    <ds:schemaRef ds:uri="e124fe43-fe43-4e84-9ab8-c599e4fe2b7b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E382F51-C406-49BD-B686-7CF0054274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470C12-44B5-40C5-B521-EF63191E92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26636</TotalTime>
  <Words>565</Words>
  <Application>Microsoft Office PowerPoint</Application>
  <PresentationFormat>On-screen Show 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Arial Black</vt:lpstr>
      <vt:lpstr>Calibri</vt:lpstr>
      <vt:lpstr>Chronicle Text G1</vt:lpstr>
      <vt:lpstr>Chronicle Text G1 Roman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if Conditional Branch</vt:lpstr>
      <vt:lpstr>Conditional Branches</vt:lpstr>
      <vt:lpstr>if Statement</vt:lpstr>
      <vt:lpstr>Multiple Lines of Code</vt:lpstr>
      <vt:lpstr>Two Conditional Branches</vt:lpstr>
      <vt:lpstr>Multiple Conditional Branches</vt:lpstr>
      <vt:lpstr>Commas in if Statement</vt:lpstr>
      <vt:lpstr>Previous code is equivalent to: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3 - if Conditional Branch</dc:title>
  <dc:creator>Ram Singh</dc:creator>
  <cp:lastModifiedBy>Upul Gunawardana</cp:lastModifiedBy>
  <cp:revision>523</cp:revision>
  <dcterms:created xsi:type="dcterms:W3CDTF">2018-02-26T21:48:17Z</dcterms:created>
  <dcterms:modified xsi:type="dcterms:W3CDTF">2022-05-19T15:00:56Z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