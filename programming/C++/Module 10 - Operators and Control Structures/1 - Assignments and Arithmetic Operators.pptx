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296" r:id="rId8"/>
    <p:sldId id="301" r:id="rId9"/>
    <p:sldId id="302" r:id="rId10"/>
    <p:sldId id="303" r:id="rId11"/>
    <p:sldId id="299" r:id="rId12"/>
    <p:sldId id="300" r:id="rId13"/>
    <p:sldId id="294" r:id="rId14"/>
    <p:sldId id="298" r:id="rId15"/>
    <p:sldId id="29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93" d="100"/>
          <a:sy n="93" d="100"/>
        </p:scale>
        <p:origin x="84" y="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065CC632-B7EE-4230-A042-919E6ED42023}"/>
    <pc:docChg chg="modSld">
      <pc:chgData name="Upul Gunawardana" userId="d78f31a5-8ae7-4659-910b-ce777cc612cd" providerId="ADAL" clId="{065CC632-B7EE-4230-A042-919E6ED42023}" dt="2022-05-19T14:52:47.529" v="13" actId="20577"/>
      <pc:docMkLst>
        <pc:docMk/>
      </pc:docMkLst>
      <pc:sldChg chg="modSp mod">
        <pc:chgData name="Upul Gunawardana" userId="d78f31a5-8ae7-4659-910b-ce777cc612cd" providerId="ADAL" clId="{065CC632-B7EE-4230-A042-919E6ED42023}" dt="2022-05-19T14:52:47.529" v="13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065CC632-B7EE-4230-A042-919E6ED42023}" dt="2022-05-19T14:52:47.529" v="13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5/20/2022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cpp.com/cpp-tutorial/186-basic-file-io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Assignments and </a:t>
            </a:r>
            <a:r>
              <a:rPr lang="en-GB" sz="4400"/>
              <a:t>Arithmetic Operators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Operators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DF60B4E-9E94-4F1B-BA64-728578CA2E3C}"/>
              </a:ext>
            </a:extLst>
          </p:cNvPr>
          <p:cNvSpPr txBox="1">
            <a:spLocks/>
          </p:cNvSpPr>
          <p:nvPr/>
        </p:nvSpPr>
        <p:spPr>
          <a:xfrm>
            <a:off x="246216" y="1090219"/>
            <a:ext cx="8695304" cy="550713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Assignment (=)</a:t>
            </a:r>
          </a:p>
          <a:p>
            <a:r>
              <a:rPr lang="en-AU" dirty="0"/>
              <a:t>Arithmetic operators (+, -, *, /, %)</a:t>
            </a:r>
          </a:p>
          <a:p>
            <a:r>
              <a:rPr lang="en-AU" dirty="0"/>
              <a:t>Compound assignment (+=,-=,*=,/=, %=, &gt;&gt;=,&lt;&lt;=, &amp;=, ^=, |=)</a:t>
            </a:r>
          </a:p>
          <a:p>
            <a:r>
              <a:rPr lang="en-AU" dirty="0"/>
              <a:t>Increase and decrease (++, --)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Relational and equality operators (&lt;, &gt;, &lt;=, &gt;=, ==, !=)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Logical operators (!, &amp;&amp;, ||)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Bitwise operators (&amp;, |, ^, ~, &lt;&lt;, &gt;&gt;)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Conditional operator (?)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Comma operator (,)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Bitwise operator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Explicit type casting operator</a:t>
            </a:r>
          </a:p>
          <a:p>
            <a:r>
              <a:rPr lang="en-AU" dirty="0">
                <a:solidFill>
                  <a:schemeClr val="bg1">
                    <a:lumMod val="85000"/>
                  </a:schemeClr>
                </a:solidFill>
              </a:rPr>
              <a:t>Precedence of operators</a:t>
            </a: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Assignment (=)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E7E8B25-E747-407B-AFED-2157E8C6F27E}"/>
              </a:ext>
            </a:extLst>
          </p:cNvPr>
          <p:cNvGrpSpPr/>
          <p:nvPr/>
        </p:nvGrpSpPr>
        <p:grpSpPr>
          <a:xfrm>
            <a:off x="457200" y="1556792"/>
            <a:ext cx="8229600" cy="4525963"/>
            <a:chOff x="457200" y="1600200"/>
            <a:chExt cx="8229600" cy="4525963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9BB5B57C-03B7-49BD-AA66-1190B577F019}"/>
                </a:ext>
              </a:extLst>
            </p:cNvPr>
            <p:cNvSpPr txBox="1">
              <a:spLocks/>
            </p:cNvSpPr>
            <p:nvPr/>
          </p:nvSpPr>
          <p:spPr>
            <a:xfrm>
              <a:off x="457200" y="1600200"/>
              <a:ext cx="8229600" cy="452596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AU"/>
                <a:t>Assignment operator assigns a </a:t>
              </a:r>
              <a:r>
                <a:rPr lang="en-AU">
                  <a:solidFill>
                    <a:schemeClr val="accent2">
                      <a:lumMod val="75000"/>
                    </a:schemeClr>
                  </a:solidFill>
                </a:rPr>
                <a:t>value</a:t>
              </a:r>
              <a:r>
                <a:rPr lang="en-AU"/>
                <a:t> to a </a:t>
              </a:r>
              <a:r>
                <a:rPr lang="en-AU">
                  <a:solidFill>
                    <a:schemeClr val="accent2">
                      <a:lumMod val="75000"/>
                    </a:schemeClr>
                  </a:solidFill>
                </a:rPr>
                <a:t>variable</a:t>
              </a:r>
            </a:p>
            <a:p>
              <a:pPr marL="457200" lvl="1" indent="0">
                <a:buFont typeface="Arial" panose="020B0604020202020204" pitchFamily="34" charset="0"/>
                <a:buNone/>
              </a:pPr>
              <a:r>
                <a:rPr lang="en-AU">
                  <a:solidFill>
                    <a:schemeClr val="accent2">
                      <a:lumMod val="75000"/>
                    </a:schemeClr>
                  </a:solidFill>
                </a:rPr>
                <a:t>a=5;</a:t>
              </a:r>
            </a:p>
            <a:p>
              <a:r>
                <a:rPr lang="en-AU"/>
                <a:t>Most important rule in ‘assignment’ is </a:t>
              </a:r>
              <a:r>
                <a:rPr lang="en-AU">
                  <a:solidFill>
                    <a:schemeClr val="accent2">
                      <a:lumMod val="75000"/>
                    </a:schemeClr>
                  </a:solidFill>
                </a:rPr>
                <a:t>‘right-to-left’, i.e., the operation always takes place from the right to left.  a=b; (whatever in </a:t>
              </a:r>
              <a:r>
                <a:rPr lang="en-AU" b="1" i="1">
                  <a:solidFill>
                    <a:schemeClr val="accent2">
                      <a:lumMod val="75000"/>
                    </a:schemeClr>
                  </a:solidFill>
                </a:rPr>
                <a:t>a</a:t>
              </a:r>
              <a:r>
                <a:rPr lang="en-AU">
                  <a:solidFill>
                    <a:schemeClr val="accent2">
                      <a:lumMod val="75000"/>
                    </a:schemeClr>
                  </a:solidFill>
                </a:rPr>
                <a:t> will be overwritten by the contents of </a:t>
              </a:r>
              <a:r>
                <a:rPr lang="en-AU" b="1" i="1">
                  <a:solidFill>
                    <a:schemeClr val="accent2">
                      <a:lumMod val="75000"/>
                    </a:schemeClr>
                  </a:solidFill>
                </a:rPr>
                <a:t>b</a:t>
              </a:r>
              <a:r>
                <a:rPr lang="en-AU">
                  <a:solidFill>
                    <a:schemeClr val="accent2">
                      <a:lumMod val="75000"/>
                    </a:schemeClr>
                  </a:solidFill>
                </a:rPr>
                <a:t>)</a:t>
              </a:r>
            </a:p>
            <a:p>
              <a:r>
                <a:rPr lang="en-AU">
                  <a:solidFill>
                    <a:schemeClr val="accent2">
                      <a:lumMod val="75000"/>
                    </a:schemeClr>
                  </a:solidFill>
                </a:rPr>
                <a:t>a=2+(b=5);</a:t>
              </a:r>
              <a:r>
                <a:rPr lang="en-AU">
                  <a:solidFill>
                    <a:schemeClr val="accent6">
                      <a:lumMod val="75000"/>
                    </a:schemeClr>
                  </a:solidFill>
                </a:rPr>
                <a:t>			</a:t>
              </a:r>
              <a:r>
                <a:rPr lang="en-AU">
                  <a:solidFill>
                    <a:schemeClr val="accent2">
                      <a:lumMod val="75000"/>
                    </a:schemeClr>
                  </a:solidFill>
                </a:rPr>
                <a:t>b=5; a=2+b;</a:t>
              </a:r>
            </a:p>
            <a:p>
              <a:r>
                <a:rPr lang="en-AU">
                  <a:solidFill>
                    <a:schemeClr val="accent2">
                      <a:lumMod val="75000"/>
                    </a:schemeClr>
                  </a:solidFill>
                </a:rPr>
                <a:t>a=b=c=5;</a:t>
              </a:r>
              <a:r>
                <a:rPr lang="en-AU">
                  <a:solidFill>
                    <a:schemeClr val="accent6">
                      <a:lumMod val="75000"/>
                    </a:schemeClr>
                  </a:solidFill>
                </a:rPr>
                <a:t>			</a:t>
              </a:r>
              <a:r>
                <a:rPr lang="en-AU">
                  <a:solidFill>
                    <a:schemeClr val="accent2">
                      <a:lumMod val="75000"/>
                    </a:schemeClr>
                  </a:solidFill>
                </a:rPr>
                <a:t>c=5; b=c; a=b;</a:t>
              </a:r>
            </a:p>
            <a:p>
              <a:endParaRPr lang="en-AU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1" name="Right Arrow 3">
              <a:extLst>
                <a:ext uri="{FF2B5EF4-FFF2-40B4-BE49-F238E27FC236}">
                  <a16:creationId xmlns:a16="http://schemas.microsoft.com/office/drawing/2014/main" id="{B4D11DD3-4BFE-4F5B-BF77-74ABF1C19101}"/>
                </a:ext>
              </a:extLst>
            </p:cNvPr>
            <p:cNvSpPr/>
            <p:nvPr/>
          </p:nvSpPr>
          <p:spPr>
            <a:xfrm>
              <a:off x="3168408" y="5105400"/>
              <a:ext cx="894152" cy="220285"/>
            </a:xfrm>
            <a:prstGeom prst="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13" name="Right Arrow 4">
              <a:extLst>
                <a:ext uri="{FF2B5EF4-FFF2-40B4-BE49-F238E27FC236}">
                  <a16:creationId xmlns:a16="http://schemas.microsoft.com/office/drawing/2014/main" id="{5206A857-45A4-4954-8898-9E2C9BE997C6}"/>
                </a:ext>
              </a:extLst>
            </p:cNvPr>
            <p:cNvSpPr/>
            <p:nvPr/>
          </p:nvSpPr>
          <p:spPr>
            <a:xfrm>
              <a:off x="3134225" y="5637376"/>
              <a:ext cx="894152" cy="220285"/>
            </a:xfrm>
            <a:prstGeom prst="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</p:grpSp>
    </p:spTree>
    <p:extLst>
      <p:ext uri="{BB962C8B-B14F-4D97-AF65-F5344CB8AC3E}">
        <p14:creationId xmlns:p14="http://schemas.microsoft.com/office/powerpoint/2010/main" val="66705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Assignments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F54D557A-27B6-478E-9360-4CF0C9B9D862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The </a:t>
            </a:r>
            <a:r>
              <a:rPr lang="en-US" b="1">
                <a:solidFill>
                  <a:schemeClr val="accent6">
                    <a:lumMod val="75000"/>
                  </a:schemeClr>
                </a:solidFill>
                <a:latin typeface="Courier New" charset="0"/>
                <a:ea typeface="ヒラギノ角ゴ Pro W3" charset="0"/>
                <a:cs typeface="Arial" charset="0"/>
              </a:rPr>
              <a:t>=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can be used to assign a value to multiple variables:</a:t>
            </a:r>
          </a:p>
          <a:p>
            <a:pPr lvl="1">
              <a:buFontTx/>
              <a:buNone/>
            </a:pP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	x = y = z = 5;</a:t>
            </a:r>
          </a:p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Value of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=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is the value that is assigned</a:t>
            </a:r>
          </a:p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Associates right to left:</a:t>
            </a:r>
          </a:p>
          <a:p>
            <a:pPr lvl="1">
              <a:buClr>
                <a:schemeClr val="tx1"/>
              </a:buClr>
              <a:buFontTx/>
              <a:buNone/>
            </a:pP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	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x = (y = (z = 5));</a:t>
            </a:r>
            <a:endParaRPr lang="en-US" dirty="0">
              <a:latin typeface="Courier New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838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Combined Assignment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6DFBD998-4E66-45F2-B759-24E6C28394B5}"/>
              </a:ext>
            </a:extLst>
          </p:cNvPr>
          <p:cNvSpPr txBox="1">
            <a:spLocks noChangeArrowheads="1"/>
          </p:cNvSpPr>
          <p:nvPr/>
        </p:nvSpPr>
        <p:spPr>
          <a:xfrm>
            <a:off x="457201" y="1340768"/>
            <a:ext cx="8075613" cy="37417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Look at the following statement:</a:t>
            </a:r>
            <a:br>
              <a:rPr lang="en-US" dirty="0">
                <a:latin typeface="Arial" charset="0"/>
                <a:ea typeface="ヒラギノ角ゴ Pro W3" charset="0"/>
                <a:cs typeface="Arial" charset="0"/>
              </a:rPr>
            </a:b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  <a:p>
            <a:pPr marL="0" indent="0">
              <a:buNone/>
            </a:pPr>
            <a:endParaRPr lang="en-US" sz="3600" dirty="0">
              <a:latin typeface="Arial" charset="0"/>
              <a:ea typeface="ヒラギノ角ゴ Pro W3" charset="0"/>
              <a:cs typeface="Arial" charset="0"/>
            </a:endParaRPr>
          </a:p>
          <a:p>
            <a:pPr lvl="1">
              <a:buFontTx/>
              <a:buNone/>
            </a:pPr>
            <a:r>
              <a:rPr lang="en-US" sz="3200" dirty="0">
                <a:latin typeface="Arial" charset="0"/>
                <a:ea typeface="ヒラギノ角ゴ Pro W3" charset="0"/>
                <a:cs typeface="Arial" charset="0"/>
              </a:rPr>
              <a:t>	</a:t>
            </a:r>
            <a:r>
              <a:rPr lang="en-US" sz="3200" dirty="0">
                <a:latin typeface="Courier New" charset="0"/>
                <a:ea typeface="ヒラギノ角ゴ Pro W3" charset="0"/>
                <a:cs typeface="Arial" charset="0"/>
              </a:rPr>
              <a:t>sum = sum + 1;</a:t>
            </a:r>
            <a:endParaRPr lang="en-US" sz="3200" dirty="0">
              <a:latin typeface="Arial" charset="0"/>
              <a:ea typeface="ヒラギノ角ゴ Pro W3" charset="0"/>
              <a:cs typeface="Arial" charset="0"/>
            </a:endParaRPr>
          </a:p>
          <a:p>
            <a:pPr lvl="1" algn="just">
              <a:buClr>
                <a:schemeClr val="tx1"/>
              </a:buClr>
              <a:buFontTx/>
              <a:buNone/>
            </a:pPr>
            <a:br>
              <a:rPr lang="en-US" sz="3200" dirty="0">
                <a:latin typeface="Arial" charset="0"/>
                <a:ea typeface="ヒラギノ角ゴ Pro W3" charset="0"/>
                <a:cs typeface="Arial" charset="0"/>
              </a:rPr>
            </a:br>
            <a:r>
              <a:rPr lang="en-US" sz="3200" dirty="0">
                <a:latin typeface="Courier New" charset="0"/>
                <a:ea typeface="ヒラギノ角ゴ Pro W3" charset="0"/>
                <a:cs typeface="Arial" charset="0"/>
              </a:rPr>
              <a:t>sum + 1</a:t>
            </a:r>
            <a:r>
              <a:rPr lang="en-US" sz="3200" dirty="0">
                <a:latin typeface="Arial" charset="0"/>
                <a:ea typeface="ヒラギノ角ゴ Pro W3" charset="0"/>
                <a:cs typeface="Arial" charset="0"/>
              </a:rPr>
              <a:t> adds 1 to the variable </a:t>
            </a:r>
            <a:r>
              <a:rPr lang="en-US" sz="3200" dirty="0">
                <a:latin typeface="Courier New" charset="0"/>
                <a:ea typeface="ヒラギノ角ゴ Pro W3" charset="0"/>
                <a:cs typeface="Arial" charset="0"/>
              </a:rPr>
              <a:t>sum</a:t>
            </a:r>
            <a:r>
              <a:rPr lang="en-US" sz="3200" dirty="0">
                <a:latin typeface="Arial" charset="0"/>
                <a:ea typeface="ヒラギノ角ゴ Pro W3" charset="0"/>
                <a:cs typeface="Arial" charset="0"/>
              </a:rPr>
              <a:t> and stores the result back into variable </a:t>
            </a:r>
            <a:r>
              <a:rPr lang="en-US" sz="3200" dirty="0">
                <a:latin typeface="Courier New" charset="0"/>
                <a:ea typeface="ヒラギノ角ゴ Pro W3" charset="0"/>
                <a:cs typeface="Arial" charset="0"/>
              </a:rPr>
              <a:t>sum</a:t>
            </a:r>
            <a:r>
              <a:rPr lang="en-US" sz="3200" dirty="0">
                <a:latin typeface="Arial" charset="0"/>
                <a:ea typeface="ヒラギノ角ゴ Pro W3" charset="0"/>
                <a:cs typeface="Arial" charset="0"/>
              </a:rPr>
              <a:t> using the assignment </a:t>
            </a:r>
            <a:r>
              <a:rPr lang="en-US" sz="3200" dirty="0">
                <a:latin typeface="Courier New" charset="0"/>
                <a:ea typeface="ヒラギノ角ゴ Pro W3" charset="0"/>
                <a:cs typeface="Arial" charset="0"/>
              </a:rPr>
              <a:t>=</a:t>
            </a:r>
            <a:r>
              <a:rPr lang="en-US" sz="3200" dirty="0">
                <a:latin typeface="Arial" charset="0"/>
                <a:ea typeface="ヒラギノ角ゴ Pro W3" charset="0"/>
                <a:cs typeface="Arial" charset="0"/>
              </a:rPr>
              <a:t>. 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B9E79348-CE2E-4629-88A0-8EC6FD2A99C3}"/>
              </a:ext>
            </a:extLst>
          </p:cNvPr>
          <p:cNvSpPr/>
          <p:nvPr/>
        </p:nvSpPr>
        <p:spPr>
          <a:xfrm>
            <a:off x="2915816" y="2420888"/>
            <a:ext cx="216024" cy="436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5BA3234E-3E3F-4D77-857C-5DDFC48E1A5F}"/>
              </a:ext>
            </a:extLst>
          </p:cNvPr>
          <p:cNvSpPr/>
          <p:nvPr/>
        </p:nvSpPr>
        <p:spPr>
          <a:xfrm>
            <a:off x="1576942" y="2420888"/>
            <a:ext cx="216024" cy="436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48C312-2742-4260-A225-9153FD863C67}"/>
              </a:ext>
            </a:extLst>
          </p:cNvPr>
          <p:cNvSpPr txBox="1"/>
          <p:nvPr/>
        </p:nvSpPr>
        <p:spPr>
          <a:xfrm>
            <a:off x="2494118" y="1780456"/>
            <a:ext cx="1066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Old value</a:t>
            </a:r>
          </a:p>
          <a:p>
            <a:pPr algn="ctr"/>
            <a:r>
              <a:rPr lang="en-GB" dirty="0"/>
              <a:t>of sum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F3E91B-6DD0-4D91-A5F1-D00CBAFD3520}"/>
              </a:ext>
            </a:extLst>
          </p:cNvPr>
          <p:cNvSpPr txBox="1"/>
          <p:nvPr/>
        </p:nvSpPr>
        <p:spPr>
          <a:xfrm>
            <a:off x="1101172" y="1774557"/>
            <a:ext cx="11675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New value</a:t>
            </a:r>
          </a:p>
          <a:p>
            <a:pPr algn="ctr"/>
            <a:r>
              <a:rPr lang="en-GB" dirty="0"/>
              <a:t>of sum</a:t>
            </a:r>
          </a:p>
        </p:txBody>
      </p:sp>
    </p:spTree>
    <p:extLst>
      <p:ext uri="{BB962C8B-B14F-4D97-AF65-F5344CB8AC3E}">
        <p14:creationId xmlns:p14="http://schemas.microsoft.com/office/powerpoint/2010/main" val="2034452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Assignments &amp; Arithmetic Operators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82930DA6-7EAF-48DE-88F5-4E16F9AB87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54"/>
          <a:stretch/>
        </p:blipFill>
        <p:spPr bwMode="auto">
          <a:xfrm>
            <a:off x="914400" y="2087218"/>
            <a:ext cx="7543800" cy="2160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6382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sz="3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Arithmetic Operators</a:t>
            </a:r>
            <a:br>
              <a:rPr lang="en-AU" sz="3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sz="36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(+, - , *, /, %)</a:t>
            </a:r>
            <a:endParaRPr lang="en-GB" sz="36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0411B14-D9E1-41D9-8034-E44A4EBEBA78}"/>
              </a:ext>
            </a:extLst>
          </p:cNvPr>
          <p:cNvGrpSpPr/>
          <p:nvPr/>
        </p:nvGrpSpPr>
        <p:grpSpPr>
          <a:xfrm>
            <a:off x="457200" y="1293727"/>
            <a:ext cx="8229600" cy="4799569"/>
            <a:chOff x="457200" y="1068318"/>
            <a:chExt cx="8229600" cy="4799569"/>
          </a:xfrm>
        </p:grpSpPr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B7C65A13-6250-4B48-AEF8-854A4D8CED81}"/>
                </a:ext>
              </a:extLst>
            </p:cNvPr>
            <p:cNvSpPr txBox="1">
              <a:spLocks/>
            </p:cNvSpPr>
            <p:nvPr/>
          </p:nvSpPr>
          <p:spPr>
            <a:xfrm>
              <a:off x="457200" y="1068318"/>
              <a:ext cx="8229600" cy="252103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AU" dirty="0"/>
                <a:t>% is the modulo operation (</a:t>
              </a:r>
              <a:r>
                <a:rPr lang="en-AU" dirty="0">
                  <a:solidFill>
                    <a:schemeClr val="accent2">
                      <a:lumMod val="75000"/>
                    </a:schemeClr>
                  </a:solidFill>
                </a:rPr>
                <a:t>not a percentage calculation</a:t>
              </a:r>
              <a:r>
                <a:rPr lang="en-AU" dirty="0"/>
                <a:t>) – it calculates the remainder of the division between the two values:</a:t>
              </a:r>
            </a:p>
            <a:p>
              <a:endParaRPr lang="en-AU" dirty="0"/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AU" dirty="0"/>
                <a:t>	a=11 % 3;  				a = 2;</a:t>
              </a:r>
            </a:p>
            <a:p>
              <a:endParaRPr lang="en-AU" dirty="0"/>
            </a:p>
            <a:p>
              <a:endParaRPr lang="en-AU" dirty="0"/>
            </a:p>
          </p:txBody>
        </p:sp>
        <p:sp>
          <p:nvSpPr>
            <p:cNvPr id="8" name="Right Arrow 3">
              <a:extLst>
                <a:ext uri="{FF2B5EF4-FFF2-40B4-BE49-F238E27FC236}">
                  <a16:creationId xmlns:a16="http://schemas.microsoft.com/office/drawing/2014/main" id="{93FD162C-6CB4-4B6A-9A6B-C09672D4582D}"/>
                </a:ext>
              </a:extLst>
            </p:cNvPr>
            <p:cNvSpPr/>
            <p:nvPr/>
          </p:nvSpPr>
          <p:spPr>
            <a:xfrm>
              <a:off x="3752376" y="3129347"/>
              <a:ext cx="894152" cy="220285"/>
            </a:xfrm>
            <a:prstGeom prst="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C7AD726D-6A3A-4278-9EA5-50D83DA33F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618"/>
            <a:stretch/>
          </p:blipFill>
          <p:spPr bwMode="auto">
            <a:xfrm>
              <a:off x="996104" y="4581128"/>
              <a:ext cx="7121525" cy="12867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E8076AE9-9FBF-4794-92DE-5AA77642BDB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7200" y="3925847"/>
              <a:ext cx="8229600" cy="63936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3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Algebraic Expressions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5305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Algebraic Expressions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581690B-5C05-4231-81A6-FA164655E04C}"/>
              </a:ext>
            </a:extLst>
          </p:cNvPr>
          <p:cNvGrpSpPr/>
          <p:nvPr/>
        </p:nvGrpSpPr>
        <p:grpSpPr>
          <a:xfrm>
            <a:off x="240681" y="1346447"/>
            <a:ext cx="8662637" cy="4741264"/>
            <a:chOff x="240681" y="1346447"/>
            <a:chExt cx="8662637" cy="4741264"/>
          </a:xfrm>
        </p:grpSpPr>
        <p:sp>
          <p:nvSpPr>
            <p:cNvPr id="21" name="Rectangle 3">
              <a:extLst>
                <a:ext uri="{FF2B5EF4-FFF2-40B4-BE49-F238E27FC236}">
                  <a16:creationId xmlns:a16="http://schemas.microsoft.com/office/drawing/2014/main" id="{66FD971E-3DA5-41C9-A94B-2FA17DB28E8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40681" y="1346447"/>
              <a:ext cx="8662637" cy="443366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Multiplication requires an operator:</a:t>
              </a:r>
            </a:p>
            <a:p>
              <a:pPr lvl="1">
                <a:lnSpc>
                  <a:spcPct val="90000"/>
                </a:lnSpc>
                <a:buFontTx/>
                <a:buNone/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	</a:t>
              </a:r>
              <a:r>
                <a:rPr lang="en-US" i="1" dirty="0">
                  <a:latin typeface="Times New Roman" charset="0"/>
                  <a:ea typeface="ヒラギノ角ゴ Pro W3" charset="0"/>
                  <a:cs typeface="Arial" charset="0"/>
                </a:rPr>
                <a:t>Area=</a:t>
              </a:r>
              <a:r>
                <a:rPr lang="en-US" i="1" dirty="0" err="1">
                  <a:latin typeface="Times New Roman" charset="0"/>
                  <a:ea typeface="ヒラギノ角ゴ Pro W3" charset="0"/>
                  <a:cs typeface="Arial" charset="0"/>
                </a:rPr>
                <a:t>lw</a:t>
              </a: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 is written as </a:t>
              </a:r>
              <a:r>
                <a:rPr lang="en-US" dirty="0">
                  <a:latin typeface="Courier New" charset="0"/>
                  <a:ea typeface="ヒラギノ角ゴ Pro W3" charset="0"/>
                  <a:cs typeface="Arial" charset="0"/>
                </a:rPr>
                <a:t>Area = l * w;</a:t>
              </a:r>
            </a:p>
            <a:p>
              <a:pPr>
                <a:lnSpc>
                  <a:spcPct val="90000"/>
                </a:lnSpc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There is no exponentiation operator:</a:t>
              </a:r>
            </a:p>
            <a:p>
              <a:pPr lvl="1">
                <a:lnSpc>
                  <a:spcPct val="90000"/>
                </a:lnSpc>
                <a:buClr>
                  <a:srgbClr val="3333CC"/>
                </a:buClr>
                <a:buFontTx/>
                <a:buNone/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	</a:t>
              </a:r>
              <a:r>
                <a:rPr lang="en-US" i="1" dirty="0">
                  <a:latin typeface="Times New Roman" charset="0"/>
                  <a:ea typeface="ヒラギノ角ゴ Pro W3" charset="0"/>
                  <a:cs typeface="Arial" charset="0"/>
                </a:rPr>
                <a:t>Area=s</a:t>
              </a:r>
              <a:r>
                <a:rPr lang="en-US" i="1" baseline="30000" dirty="0">
                  <a:latin typeface="Times New Roman" charset="0"/>
                  <a:ea typeface="ヒラギノ角ゴ Pro W3" charset="0"/>
                  <a:cs typeface="Arial" charset="0"/>
                </a:rPr>
                <a:t>2</a:t>
              </a: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 is written as </a:t>
              </a:r>
              <a:r>
                <a:rPr lang="en-US" dirty="0">
                  <a:latin typeface="Courier New" charset="0"/>
                  <a:ea typeface="ヒラギノ角ゴ Pro W3" charset="0"/>
                  <a:cs typeface="Arial" charset="0"/>
                </a:rPr>
                <a:t>Area = pow(s, 2);</a:t>
              </a:r>
            </a:p>
            <a:p>
              <a:pPr>
                <a:lnSpc>
                  <a:spcPct val="90000"/>
                </a:lnSpc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Parentheses may be needed to maintain order of operations:</a:t>
              </a:r>
            </a:p>
            <a:p>
              <a:pPr lvl="1">
                <a:lnSpc>
                  <a:spcPct val="90000"/>
                </a:lnSpc>
                <a:buClr>
                  <a:schemeClr val="tx1"/>
                </a:buClr>
                <a:buFontTx/>
                <a:buNone/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					is written as</a:t>
              </a:r>
            </a:p>
            <a:p>
              <a:pPr lvl="1">
                <a:lnSpc>
                  <a:spcPct val="90000"/>
                </a:lnSpc>
                <a:buClr>
                  <a:schemeClr val="tx1"/>
                </a:buClr>
                <a:buFontTx/>
                <a:buNone/>
              </a:pPr>
              <a:r>
                <a:rPr lang="en-US" dirty="0">
                  <a:latin typeface="Arial" charset="0"/>
                  <a:ea typeface="ヒラギノ角ゴ Pro W3" charset="0"/>
                  <a:cs typeface="Arial" charset="0"/>
                </a:rPr>
                <a:t>					</a:t>
              </a:r>
              <a:r>
                <a:rPr lang="en-US" dirty="0">
                  <a:latin typeface="Courier New" charset="0"/>
                  <a:ea typeface="ヒラギノ角ゴ Pro W3" charset="0"/>
                  <a:cs typeface="Arial" charset="0"/>
                </a:rPr>
                <a:t>m = (y2-y1) /(x2-x1);</a:t>
              </a:r>
            </a:p>
            <a:p>
              <a:pPr lvl="1">
                <a:lnSpc>
                  <a:spcPct val="90000"/>
                </a:lnSpc>
                <a:buClr>
                  <a:schemeClr val="tx1"/>
                </a:buClr>
                <a:buFontTx/>
                <a:buNone/>
              </a:pPr>
              <a:r>
                <a:rPr lang="en-US" dirty="0">
                  <a:latin typeface="Courier New" charset="0"/>
                  <a:ea typeface="ヒラギノ角ゴ Pro W3" charset="0"/>
                  <a:cs typeface="Arial" charset="0"/>
                </a:rPr>
                <a:t>					</a:t>
              </a:r>
              <a:r>
                <a:rPr lang="en-US" b="1" dirty="0">
                  <a:solidFill>
                    <a:srgbClr val="FF0000"/>
                  </a:solidFill>
                  <a:latin typeface="Arial" panose="020B0604020202020204" pitchFamily="34" charset="0"/>
                  <a:ea typeface="ヒラギノ角ゴ Pro W3" charset="0"/>
                  <a:cs typeface="Arial" panose="020B0604020202020204" pitchFamily="34" charset="0"/>
                </a:rPr>
                <a:t>NOT</a:t>
              </a:r>
            </a:p>
            <a:p>
              <a:pPr lvl="1">
                <a:lnSpc>
                  <a:spcPct val="90000"/>
                </a:lnSpc>
                <a:buClr>
                  <a:schemeClr val="tx1"/>
                </a:buClr>
                <a:buFontTx/>
                <a:buNone/>
              </a:pPr>
              <a:r>
                <a:rPr lang="en-US" dirty="0">
                  <a:latin typeface="Courier New" charset="0"/>
                  <a:ea typeface="ヒラギノ角ゴ Pro W3" charset="0"/>
                  <a:cs typeface="Arial" charset="0"/>
                </a:rPr>
                <a:t>					m = y2-y1/x2-x1;</a:t>
              </a:r>
              <a:endParaRPr lang="en-US" dirty="0">
                <a:latin typeface="Arial" charset="0"/>
                <a:ea typeface="ヒラギノ角ゴ Pro W3" charset="0"/>
                <a:cs typeface="Arial" charset="0"/>
              </a:endParaRPr>
            </a:p>
          </p:txBody>
        </p:sp>
        <p:graphicFrame>
          <p:nvGraphicFramePr>
            <p:cNvPr id="22" name="Object 4">
              <a:extLst>
                <a:ext uri="{FF2B5EF4-FFF2-40B4-BE49-F238E27FC236}">
                  <a16:creationId xmlns:a16="http://schemas.microsoft.com/office/drawing/2014/main" id="{54856559-A314-46A2-ABEF-58474D8864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9714677"/>
                </p:ext>
              </p:extLst>
            </p:nvPr>
          </p:nvGraphicFramePr>
          <p:xfrm>
            <a:off x="1043608" y="4239617"/>
            <a:ext cx="1885950" cy="917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647640" imgH="355320" progId="Equation.3">
                    <p:embed/>
                  </p:oleObj>
                </mc:Choice>
                <mc:Fallback>
                  <p:oleObj name="Equation" r:id="rId3" imgW="647640" imgH="355320" progId="Equation.3">
                    <p:embed/>
                    <p:pic>
                      <p:nvPicPr>
                        <p:cNvPr id="22" name="Object 4">
                          <a:extLst>
                            <a:ext uri="{FF2B5EF4-FFF2-40B4-BE49-F238E27FC236}">
                              <a16:creationId xmlns:a16="http://schemas.microsoft.com/office/drawing/2014/main" id="{54856559-A314-46A2-ABEF-58474D8864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3608" y="4239617"/>
                          <a:ext cx="1885950" cy="917575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4">
              <a:extLst>
                <a:ext uri="{FF2B5EF4-FFF2-40B4-BE49-F238E27FC236}">
                  <a16:creationId xmlns:a16="http://schemas.microsoft.com/office/drawing/2014/main" id="{34D17E0C-18E9-432E-9E7C-C790C31E1A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2985364"/>
                </p:ext>
              </p:extLst>
            </p:nvPr>
          </p:nvGraphicFramePr>
          <p:xfrm>
            <a:off x="1045644" y="5170136"/>
            <a:ext cx="2514600" cy="9175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863280" imgH="355320" progId="Equation.3">
                    <p:embed/>
                  </p:oleObj>
                </mc:Choice>
                <mc:Fallback>
                  <p:oleObj name="Equation" r:id="rId5" imgW="863280" imgH="355320" progId="Equation.3">
                    <p:embed/>
                    <p:pic>
                      <p:nvPicPr>
                        <p:cNvPr id="8" name="Object 4">
                          <a:extLst>
                            <a:ext uri="{FF2B5EF4-FFF2-40B4-BE49-F238E27FC236}">
                              <a16:creationId xmlns:a16="http://schemas.microsoft.com/office/drawing/2014/main" id="{34D17E0C-18E9-432E-9E7C-C790C31E1AD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45644" y="5170136"/>
                          <a:ext cx="2514600" cy="917575"/>
                        </a:xfrm>
                        <a:prstGeom prst="rect">
                          <a:avLst/>
                        </a:prstGeom>
                        <a:solidFill>
                          <a:srgbClr val="FF00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EA993E9F-DDF3-47BE-A33A-6B4544B15A51}"/>
                </a:ext>
              </a:extLst>
            </p:cNvPr>
            <p:cNvSpPr/>
            <p:nvPr/>
          </p:nvSpPr>
          <p:spPr>
            <a:xfrm>
              <a:off x="2929558" y="4574484"/>
              <a:ext cx="994370" cy="222668"/>
            </a:xfrm>
            <a:prstGeom prst="righ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CD03A40D-9FF5-4A3D-814D-0CFAC87563DE}"/>
                </a:ext>
              </a:extLst>
            </p:cNvPr>
            <p:cNvSpPr/>
            <p:nvPr/>
          </p:nvSpPr>
          <p:spPr>
            <a:xfrm>
              <a:off x="3573119" y="5445224"/>
              <a:ext cx="350809" cy="222668"/>
            </a:xfrm>
            <a:prstGeom prst="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93071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Compound Assignment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AA4E4FD-1159-4B35-8097-A6AA89ACED78}"/>
              </a:ext>
            </a:extLst>
          </p:cNvPr>
          <p:cNvGrpSpPr/>
          <p:nvPr/>
        </p:nvGrpSpPr>
        <p:grpSpPr>
          <a:xfrm>
            <a:off x="309438" y="1222536"/>
            <a:ext cx="8377362" cy="4798752"/>
            <a:chOff x="309438" y="1100732"/>
            <a:chExt cx="8377362" cy="4798752"/>
          </a:xfrm>
        </p:grpSpPr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A239EB88-6115-4CC7-B8C7-15431089DF04}"/>
                </a:ext>
              </a:extLst>
            </p:cNvPr>
            <p:cNvSpPr txBox="1">
              <a:spLocks/>
            </p:cNvSpPr>
            <p:nvPr/>
          </p:nvSpPr>
          <p:spPr>
            <a:xfrm>
              <a:off x="457200" y="1100732"/>
              <a:ext cx="8229600" cy="370021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AU" dirty="0"/>
                <a:t>	a += 5; 				a = a + 5;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dirty="0"/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AU" dirty="0"/>
                <a:t>	a -= 5; 				a = a - 5;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dirty="0"/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AU" dirty="0"/>
                <a:t>	a /= b; 				a = a / b;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dirty="0"/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AU" dirty="0"/>
                <a:t>	a *= b+1; 			a = a * (b+1);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dirty="0"/>
            </a:p>
          </p:txBody>
        </p:sp>
        <p:sp>
          <p:nvSpPr>
            <p:cNvPr id="8" name="Left-Right Arrow 4">
              <a:extLst>
                <a:ext uri="{FF2B5EF4-FFF2-40B4-BE49-F238E27FC236}">
                  <a16:creationId xmlns:a16="http://schemas.microsoft.com/office/drawing/2014/main" id="{E529FCD9-8F02-487F-83DC-3FB5C9946FEA}"/>
                </a:ext>
              </a:extLst>
            </p:cNvPr>
            <p:cNvSpPr/>
            <p:nvPr/>
          </p:nvSpPr>
          <p:spPr>
            <a:xfrm>
              <a:off x="3498855" y="1178323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" name="Left-Right Arrow 5">
              <a:extLst>
                <a:ext uri="{FF2B5EF4-FFF2-40B4-BE49-F238E27FC236}">
                  <a16:creationId xmlns:a16="http://schemas.microsoft.com/office/drawing/2014/main" id="{84C65E4F-7968-4CD2-B528-E15B7E4CC9A9}"/>
                </a:ext>
              </a:extLst>
            </p:cNvPr>
            <p:cNvSpPr/>
            <p:nvPr/>
          </p:nvSpPr>
          <p:spPr>
            <a:xfrm>
              <a:off x="3464844" y="2173841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" name="Left-Right Arrow 6">
              <a:extLst>
                <a:ext uri="{FF2B5EF4-FFF2-40B4-BE49-F238E27FC236}">
                  <a16:creationId xmlns:a16="http://schemas.microsoft.com/office/drawing/2014/main" id="{EB636C1D-5DE7-42D6-94A7-10D8B1BF72CE}"/>
                </a:ext>
              </a:extLst>
            </p:cNvPr>
            <p:cNvSpPr/>
            <p:nvPr/>
          </p:nvSpPr>
          <p:spPr>
            <a:xfrm>
              <a:off x="3447752" y="3236393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" name="Left-Right Arrow 7">
              <a:extLst>
                <a:ext uri="{FF2B5EF4-FFF2-40B4-BE49-F238E27FC236}">
                  <a16:creationId xmlns:a16="http://schemas.microsoft.com/office/drawing/2014/main" id="{C662A046-99D7-45CE-B107-B45A572922A3}"/>
                </a:ext>
              </a:extLst>
            </p:cNvPr>
            <p:cNvSpPr/>
            <p:nvPr/>
          </p:nvSpPr>
          <p:spPr>
            <a:xfrm>
              <a:off x="3401902" y="4145256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F8BAC58B-8FB9-4BA5-ACF9-86C2EBD98FDA}"/>
                </a:ext>
              </a:extLst>
            </p:cNvPr>
            <p:cNvSpPr txBox="1">
              <a:spLocks/>
            </p:cNvSpPr>
            <p:nvPr/>
          </p:nvSpPr>
          <p:spPr>
            <a:xfrm>
              <a:off x="309438" y="4736898"/>
              <a:ext cx="8229600" cy="63936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3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AU" dirty="0"/>
                <a:t>Increase and decrease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2B7972-BD0A-41C6-B7C4-9DE4E6E468AB}"/>
                </a:ext>
              </a:extLst>
            </p:cNvPr>
            <p:cNvSpPr txBox="1"/>
            <p:nvPr/>
          </p:nvSpPr>
          <p:spPr>
            <a:xfrm>
              <a:off x="3900576" y="5335584"/>
              <a:ext cx="1154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a += 1;</a:t>
              </a:r>
              <a:endParaRPr lang="en-AU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5" name="Left-Right Arrow 10">
              <a:extLst>
                <a:ext uri="{FF2B5EF4-FFF2-40B4-BE49-F238E27FC236}">
                  <a16:creationId xmlns:a16="http://schemas.microsoft.com/office/drawing/2014/main" id="{3AD80A96-A1EC-4795-A50F-8A4362D4786F}"/>
                </a:ext>
              </a:extLst>
            </p:cNvPr>
            <p:cNvSpPr/>
            <p:nvPr/>
          </p:nvSpPr>
          <p:spPr>
            <a:xfrm>
              <a:off x="2757103" y="5470065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6299179-3027-4EA4-B6B0-0C860097F324}"/>
                </a:ext>
              </a:extLst>
            </p:cNvPr>
            <p:cNvSpPr txBox="1"/>
            <p:nvPr/>
          </p:nvSpPr>
          <p:spPr>
            <a:xfrm>
              <a:off x="942882" y="5345446"/>
              <a:ext cx="8915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a ++;</a:t>
              </a:r>
              <a:endParaRPr lang="en-AU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F8B01A7-2663-49F4-B373-235CE7B71023}"/>
                </a:ext>
              </a:extLst>
            </p:cNvPr>
            <p:cNvSpPr txBox="1"/>
            <p:nvPr/>
          </p:nvSpPr>
          <p:spPr>
            <a:xfrm>
              <a:off x="7033483" y="5376264"/>
              <a:ext cx="14891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a = a + 1;</a:t>
              </a:r>
              <a:endParaRPr lang="en-AU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8" name="Left-Right Arrow 13">
              <a:extLst>
                <a:ext uri="{FF2B5EF4-FFF2-40B4-BE49-F238E27FC236}">
                  <a16:creationId xmlns:a16="http://schemas.microsoft.com/office/drawing/2014/main" id="{D4C4D124-FA06-4D3C-A920-9F199B17A5E0}"/>
                </a:ext>
              </a:extLst>
            </p:cNvPr>
            <p:cNvSpPr/>
            <p:nvPr/>
          </p:nvSpPr>
          <p:spPr>
            <a:xfrm>
              <a:off x="5734505" y="5470065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918334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Compound Assignment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10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1BC5B02-F60D-4202-953B-2A17BE4EF905}"/>
              </a:ext>
            </a:extLst>
          </p:cNvPr>
          <p:cNvGrpSpPr/>
          <p:nvPr/>
        </p:nvGrpSpPr>
        <p:grpSpPr>
          <a:xfrm>
            <a:off x="686248" y="1008395"/>
            <a:ext cx="7734984" cy="5332027"/>
            <a:chOff x="686248" y="1008395"/>
            <a:chExt cx="7734984" cy="533202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B6BB7C7-D4CC-41AC-9D20-816377E0587C}"/>
                </a:ext>
              </a:extLst>
            </p:cNvPr>
            <p:cNvSpPr txBox="1"/>
            <p:nvPr/>
          </p:nvSpPr>
          <p:spPr>
            <a:xfrm>
              <a:off x="686248" y="1008395"/>
              <a:ext cx="73336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400" dirty="0"/>
                <a:t>Increase and decrease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69F9D7C-4011-4738-908D-DEBF3C912FBC}"/>
                </a:ext>
              </a:extLst>
            </p:cNvPr>
            <p:cNvSpPr txBox="1"/>
            <p:nvPr/>
          </p:nvSpPr>
          <p:spPr>
            <a:xfrm>
              <a:off x="3767424" y="1619917"/>
              <a:ext cx="1154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a += 1;</a:t>
              </a:r>
              <a:endParaRPr lang="en-AU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0" name="Left-Right Arrow 15">
              <a:extLst>
                <a:ext uri="{FF2B5EF4-FFF2-40B4-BE49-F238E27FC236}">
                  <a16:creationId xmlns:a16="http://schemas.microsoft.com/office/drawing/2014/main" id="{5B510F43-0A74-46AE-BFE8-42C14FEF2F53}"/>
                </a:ext>
              </a:extLst>
            </p:cNvPr>
            <p:cNvSpPr/>
            <p:nvPr/>
          </p:nvSpPr>
          <p:spPr>
            <a:xfrm>
              <a:off x="2623951" y="1754398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EEB079C-89B4-44BA-B105-A16A7512F041}"/>
                </a:ext>
              </a:extLst>
            </p:cNvPr>
            <p:cNvSpPr txBox="1"/>
            <p:nvPr/>
          </p:nvSpPr>
          <p:spPr>
            <a:xfrm>
              <a:off x="809730" y="1629779"/>
              <a:ext cx="8915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a ++;</a:t>
              </a:r>
              <a:endParaRPr lang="en-AU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1003039-4C23-4FE4-8431-B2A698BFA4C0}"/>
                </a:ext>
              </a:extLst>
            </p:cNvPr>
            <p:cNvSpPr txBox="1"/>
            <p:nvPr/>
          </p:nvSpPr>
          <p:spPr>
            <a:xfrm>
              <a:off x="6900331" y="1660597"/>
              <a:ext cx="14891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a = a + 1;</a:t>
              </a:r>
              <a:endParaRPr lang="en-AU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3" name="Left-Right Arrow 18">
              <a:extLst>
                <a:ext uri="{FF2B5EF4-FFF2-40B4-BE49-F238E27FC236}">
                  <a16:creationId xmlns:a16="http://schemas.microsoft.com/office/drawing/2014/main" id="{BA0E1457-7078-440E-983C-2474E03A5C25}"/>
                </a:ext>
              </a:extLst>
            </p:cNvPr>
            <p:cNvSpPr/>
            <p:nvPr/>
          </p:nvSpPr>
          <p:spPr>
            <a:xfrm>
              <a:off x="5601353" y="1754398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4653665-3D5B-44BB-956C-743FFBF1FDAC}"/>
                </a:ext>
              </a:extLst>
            </p:cNvPr>
            <p:cNvSpPr txBox="1"/>
            <p:nvPr/>
          </p:nvSpPr>
          <p:spPr>
            <a:xfrm>
              <a:off x="841521" y="2395878"/>
              <a:ext cx="8915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++a ;</a:t>
              </a:r>
              <a:endParaRPr lang="en-AU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A0A0829-B41A-46FE-BB14-D801BBE207DE}"/>
                </a:ext>
              </a:extLst>
            </p:cNvPr>
            <p:cNvSpPr txBox="1"/>
            <p:nvPr/>
          </p:nvSpPr>
          <p:spPr>
            <a:xfrm>
              <a:off x="6932122" y="2426696"/>
              <a:ext cx="148911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a = a + 1;</a:t>
              </a:r>
              <a:endParaRPr lang="en-AU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6" name="Left-Right Arrow 23">
              <a:extLst>
                <a:ext uri="{FF2B5EF4-FFF2-40B4-BE49-F238E27FC236}">
                  <a16:creationId xmlns:a16="http://schemas.microsoft.com/office/drawing/2014/main" id="{9E34555E-9581-4E62-9ECB-0D0CB38B9E26}"/>
                </a:ext>
              </a:extLst>
            </p:cNvPr>
            <p:cNvSpPr/>
            <p:nvPr/>
          </p:nvSpPr>
          <p:spPr>
            <a:xfrm>
              <a:off x="2604704" y="2520497"/>
              <a:ext cx="3831882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C03BB2A-F6A4-4FFC-A18C-6BF158E034CF}"/>
                </a:ext>
              </a:extLst>
            </p:cNvPr>
            <p:cNvSpPr txBox="1"/>
            <p:nvPr/>
          </p:nvSpPr>
          <p:spPr>
            <a:xfrm>
              <a:off x="3919824" y="3400724"/>
              <a:ext cx="1165127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c=a*b;</a:t>
              </a:r>
            </a:p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a=a++;</a:t>
              </a:r>
              <a:endParaRPr lang="en-AU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8" name="Left-Right Arrow 28">
              <a:extLst>
                <a:ext uri="{FF2B5EF4-FFF2-40B4-BE49-F238E27FC236}">
                  <a16:creationId xmlns:a16="http://schemas.microsoft.com/office/drawing/2014/main" id="{AF56445C-C01E-4491-B133-01BC8C303F62}"/>
                </a:ext>
              </a:extLst>
            </p:cNvPr>
            <p:cNvSpPr/>
            <p:nvPr/>
          </p:nvSpPr>
          <p:spPr>
            <a:xfrm>
              <a:off x="2776351" y="3535205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0DC3C37-B87F-4C8C-AB7C-39DFEB64AB2A}"/>
                </a:ext>
              </a:extLst>
            </p:cNvPr>
            <p:cNvSpPr txBox="1"/>
            <p:nvPr/>
          </p:nvSpPr>
          <p:spPr>
            <a:xfrm>
              <a:off x="686248" y="3400493"/>
              <a:ext cx="20000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c=a ++*b;</a:t>
              </a:r>
              <a:endParaRPr lang="en-AU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EC59829-4740-44E9-A6BD-494D7BB746CA}"/>
                </a:ext>
              </a:extLst>
            </p:cNvPr>
            <p:cNvSpPr txBox="1"/>
            <p:nvPr/>
          </p:nvSpPr>
          <p:spPr>
            <a:xfrm>
              <a:off x="4009902" y="4761627"/>
              <a:ext cx="1161245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a=a++;</a:t>
              </a:r>
            </a:p>
            <a:p>
              <a:pPr lvl="0"/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c=a*b;</a:t>
              </a:r>
            </a:p>
          </p:txBody>
        </p:sp>
        <p:sp>
          <p:nvSpPr>
            <p:cNvPr id="21" name="Left-Right Arrow 33">
              <a:extLst>
                <a:ext uri="{FF2B5EF4-FFF2-40B4-BE49-F238E27FC236}">
                  <a16:creationId xmlns:a16="http://schemas.microsoft.com/office/drawing/2014/main" id="{C07B6099-DAD2-4D86-9CA0-4F3213E378E2}"/>
                </a:ext>
              </a:extLst>
            </p:cNvPr>
            <p:cNvSpPr/>
            <p:nvPr/>
          </p:nvSpPr>
          <p:spPr>
            <a:xfrm>
              <a:off x="2866429" y="4896108"/>
              <a:ext cx="803441" cy="388739"/>
            </a:xfrm>
            <a:prstGeom prst="leftRightArrow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5A16D80-A29F-4BF3-B832-9BA25A372F7C}"/>
                </a:ext>
              </a:extLst>
            </p:cNvPr>
            <p:cNvSpPr txBox="1"/>
            <p:nvPr/>
          </p:nvSpPr>
          <p:spPr>
            <a:xfrm>
              <a:off x="776326" y="4761396"/>
              <a:ext cx="200002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800" dirty="0">
                  <a:solidFill>
                    <a:schemeClr val="accent6">
                      <a:lumMod val="75000"/>
                    </a:schemeClr>
                  </a:solidFill>
                </a:rPr>
                <a:t>c=++a *b;</a:t>
              </a:r>
              <a:endParaRPr lang="en-AU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D9F292-4F75-4771-8DE3-00BEF448DFA7}"/>
                </a:ext>
              </a:extLst>
            </p:cNvPr>
            <p:cNvSpPr txBox="1"/>
            <p:nvPr/>
          </p:nvSpPr>
          <p:spPr>
            <a:xfrm>
              <a:off x="5674351" y="2949916"/>
              <a:ext cx="14997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/>
                <a:t>If a=2, b=5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66F2F4C-30C7-490A-957B-37B9C0381A18}"/>
                </a:ext>
              </a:extLst>
            </p:cNvPr>
            <p:cNvSpPr txBox="1"/>
            <p:nvPr/>
          </p:nvSpPr>
          <p:spPr>
            <a:xfrm>
              <a:off x="6033139" y="3535205"/>
              <a:ext cx="86243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/>
                <a:t>c=10;</a:t>
              </a:r>
            </a:p>
            <a:p>
              <a:r>
                <a:rPr lang="en-AU" sz="2400" dirty="0"/>
                <a:t>a=3;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D1A9FD8-059D-4E49-89C6-8D8A61340492}"/>
                </a:ext>
              </a:extLst>
            </p:cNvPr>
            <p:cNvSpPr txBox="1"/>
            <p:nvPr/>
          </p:nvSpPr>
          <p:spPr>
            <a:xfrm>
              <a:off x="6090089" y="4869348"/>
              <a:ext cx="123330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2400" dirty="0"/>
                <a:t>a=3;</a:t>
              </a:r>
            </a:p>
            <a:p>
              <a:r>
                <a:rPr lang="en-AU" sz="2400" dirty="0"/>
                <a:t>c=15;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00D653B-E5D9-4573-B206-B9F0A3513F22}"/>
                </a:ext>
              </a:extLst>
            </p:cNvPr>
            <p:cNvSpPr txBox="1"/>
            <p:nvPr/>
          </p:nvSpPr>
          <p:spPr>
            <a:xfrm>
              <a:off x="841521" y="5817202"/>
              <a:ext cx="335092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800" dirty="0"/>
                <a:t>Same rules apply to --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3838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 on C++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11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4" y="1412776"/>
            <a:ext cx="69532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Operators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https://cplusplus.com/doc/tutorial/operators/</a:t>
            </a:r>
            <a:r>
              <a:rPr lang="en-AU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4F17EB5-4168-4305-99D9-956F43346D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CCC491-AA7A-4808-8B1D-56269EFA30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091A3E-1571-49EC-A6AD-EFC01AE61441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26546</TotalTime>
  <Words>624</Words>
  <Application>Microsoft Office PowerPoint</Application>
  <PresentationFormat>On-screen Show (4:3)</PresentationFormat>
  <Paragraphs>96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5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Times New Roman</vt:lpstr>
      <vt:lpstr>Office Theme</vt:lpstr>
      <vt:lpstr>1_Office Theme</vt:lpstr>
      <vt:lpstr>Equation</vt:lpstr>
      <vt:lpstr>Assignments and Arithmetic Operators</vt:lpstr>
      <vt:lpstr>Operators</vt:lpstr>
      <vt:lpstr>Assignment (=)</vt:lpstr>
      <vt:lpstr>Multiple Assignments</vt:lpstr>
      <vt:lpstr>Combined Assignment</vt:lpstr>
      <vt:lpstr>Assignments &amp; Arithmetic Operators</vt:lpstr>
      <vt:lpstr>Arithmetic Operators (+, - , *, /, %)</vt:lpstr>
      <vt:lpstr>Algebraic Expressions</vt:lpstr>
      <vt:lpstr>Compound Assignment</vt:lpstr>
      <vt:lpstr>Compound Assignment</vt:lpstr>
      <vt:lpstr>More info on C++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1 - Assignments and Arithmetic Operators</dc:title>
  <dc:creator>Ram Singh</dc:creator>
  <cp:lastModifiedBy>Upul Gunawardana</cp:lastModifiedBy>
  <cp:revision>501</cp:revision>
  <dcterms:created xsi:type="dcterms:W3CDTF">2018-02-26T21:48:17Z</dcterms:created>
  <dcterms:modified xsi:type="dcterms:W3CDTF">2022-05-19T14:52:52Z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