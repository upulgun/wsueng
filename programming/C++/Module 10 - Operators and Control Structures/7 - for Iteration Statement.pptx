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296" r:id="rId8"/>
    <p:sldId id="302" r:id="rId9"/>
    <p:sldId id="299" r:id="rId10"/>
    <p:sldId id="300" r:id="rId11"/>
    <p:sldId id="301" r:id="rId12"/>
    <p:sldId id="303" r:id="rId13"/>
    <p:sldId id="29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0D783266-6DD5-49F5-B675-99BA363A41BF}"/>
    <pc:docChg chg="modSld">
      <pc:chgData name="Upul Gunawardana" userId="d78f31a5-8ae7-4659-910b-ce777cc612cd" providerId="ADAL" clId="{0D783266-6DD5-49F5-B675-99BA363A41BF}" dt="2022-05-19T15:04:14.659" v="17" actId="20577"/>
      <pc:docMkLst>
        <pc:docMk/>
      </pc:docMkLst>
      <pc:sldChg chg="modSp mod">
        <pc:chgData name="Upul Gunawardana" userId="d78f31a5-8ae7-4659-910b-ce777cc612cd" providerId="ADAL" clId="{0D783266-6DD5-49F5-B675-99BA363A41BF}" dt="2022-05-19T15:04:14.659" v="1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0D783266-6DD5-49F5-B675-99BA363A41BF}" dt="2022-05-19T15:04:14.659" v="1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control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57-for-stateme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for</a:t>
            </a:r>
            <a:br>
              <a:rPr lang="en-GB" sz="4400" i="1" dirty="0"/>
            </a:br>
            <a:r>
              <a:rPr lang="en-GB" sz="4400" dirty="0"/>
              <a:t>Iteration Statement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Statement (loops)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CBE3C3-C788-4CA0-917E-52C5600FFBD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Loops are used to repeat a statement a certain number of times when a condition is met.</a:t>
            </a:r>
          </a:p>
          <a:p>
            <a:r>
              <a:rPr lang="en-AU" dirty="0"/>
              <a:t>There are three types of loops: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while</a:t>
            </a:r>
            <a:r>
              <a:rPr lang="en-AU" dirty="0"/>
              <a:t> loop.</a:t>
            </a:r>
            <a:endParaRPr lang="en-AU" b="1" dirty="0"/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do-while</a:t>
            </a:r>
            <a:r>
              <a:rPr lang="en-AU" dirty="0"/>
              <a:t> loop.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for</a:t>
            </a:r>
            <a:r>
              <a:rPr lang="en-AU" dirty="0"/>
              <a:t> loop. </a:t>
            </a:r>
            <a:r>
              <a:rPr lang="en-AU" b="1" dirty="0"/>
              <a:t>←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3D9F2D-AD85-4B57-86C1-80960D4A9DD4}"/>
              </a:ext>
            </a:extLst>
          </p:cNvPr>
          <p:cNvSpPr txBox="1">
            <a:spLocks/>
          </p:cNvSpPr>
          <p:nvPr/>
        </p:nvSpPr>
        <p:spPr>
          <a:xfrm>
            <a:off x="323528" y="1227696"/>
            <a:ext cx="8320878" cy="49376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sz="3800" i="1" dirty="0">
                <a:solidFill>
                  <a:srgbClr val="7030A0"/>
                </a:solidFill>
              </a:rPr>
              <a:t>for</a:t>
            </a:r>
            <a:r>
              <a:rPr lang="en-AU" sz="3800" dirty="0"/>
              <a:t> loop is used when we know how many iterations (loops) are required.</a:t>
            </a:r>
          </a:p>
          <a:p>
            <a:pPr algn="just"/>
            <a:r>
              <a:rPr lang="en-AU" sz="3800" dirty="0"/>
              <a:t>Test each expression before each iteration in the </a:t>
            </a:r>
            <a:r>
              <a:rPr lang="en-AU" sz="3800" i="1" dirty="0">
                <a:solidFill>
                  <a:srgbClr val="7030A0"/>
                </a:solidFill>
              </a:rPr>
              <a:t>for</a:t>
            </a:r>
            <a:r>
              <a:rPr lang="en-AU" sz="3800" dirty="0"/>
              <a:t> loop and so, it is known as a pre-test loop similar to </a:t>
            </a:r>
            <a:r>
              <a:rPr lang="en-AU" sz="3800" i="1" dirty="0">
                <a:solidFill>
                  <a:srgbClr val="7030A0"/>
                </a:solidFill>
              </a:rPr>
              <a:t>while</a:t>
            </a:r>
            <a:r>
              <a:rPr lang="en-AU" sz="3800" dirty="0"/>
              <a:t> loop.</a:t>
            </a:r>
          </a:p>
          <a:p>
            <a:pPr lvl="1" algn="just"/>
            <a:r>
              <a:rPr lang="en-AU" sz="3800" dirty="0"/>
              <a:t>Note: </a:t>
            </a:r>
            <a:r>
              <a:rPr lang="en-AU" sz="3800" i="1" dirty="0">
                <a:solidFill>
                  <a:srgbClr val="7030A0"/>
                </a:solidFill>
              </a:rPr>
              <a:t>do-while</a:t>
            </a:r>
            <a:r>
              <a:rPr lang="en-AU" sz="3800" dirty="0"/>
              <a:t> loop is known as a post-test loop, where the statements executed at least once (one iteration) before the expression is checked.</a:t>
            </a:r>
          </a:p>
          <a:p>
            <a:pPr marL="457200" lvl="1" indent="0" algn="just">
              <a:buFont typeface="Arial"/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 Syntax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886CCA-5F85-46FE-B078-EF3910D853E3}"/>
              </a:ext>
            </a:extLst>
          </p:cNvPr>
          <p:cNvSpPr txBox="1">
            <a:spLocks/>
          </p:cNvSpPr>
          <p:nvPr/>
        </p:nvSpPr>
        <p:spPr>
          <a:xfrm>
            <a:off x="365922" y="1190765"/>
            <a:ext cx="8621370" cy="52561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The format is:</a:t>
            </a:r>
          </a:p>
          <a:p>
            <a:pPr marL="457200" lvl="1" indent="0" algn="just">
              <a:buNone/>
            </a:pPr>
            <a:r>
              <a:rPr lang="en-AU" i="1" dirty="0">
                <a:solidFill>
                  <a:srgbClr val="7030A0"/>
                </a:solidFill>
              </a:rPr>
              <a:t>for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AU" dirty="0"/>
              <a:t>(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initialisation; expression; increase or decrease</a:t>
            </a:r>
            <a:r>
              <a:rPr lang="en-AU" dirty="0"/>
              <a:t>)</a:t>
            </a:r>
          </a:p>
          <a:p>
            <a:pPr marL="457200" lvl="1" indent="0" algn="just">
              <a:buNone/>
            </a:pPr>
            <a:r>
              <a:rPr lang="en-AU" dirty="0"/>
              <a:t>{ </a:t>
            </a:r>
          </a:p>
          <a:p>
            <a:pPr marL="457200" lvl="1" indent="0" algn="just">
              <a:buNone/>
            </a:pP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	statements</a:t>
            </a:r>
          </a:p>
          <a:p>
            <a:pPr marL="457200" lvl="1" indent="0" algn="just">
              <a:buNone/>
            </a:pPr>
            <a:r>
              <a:rPr lang="en-AU" dirty="0"/>
              <a:t>}</a:t>
            </a:r>
            <a:endParaRPr lang="en-AU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Font typeface="Arial"/>
              <a:buNone/>
            </a:pPr>
            <a:r>
              <a:rPr lang="en-AU" dirty="0"/>
              <a:t>– Note: No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;</a:t>
            </a:r>
            <a:r>
              <a:rPr lang="en-AU" dirty="0"/>
              <a:t> after the )</a:t>
            </a:r>
          </a:p>
          <a:p>
            <a:pPr marL="457200" lvl="1" indent="0">
              <a:buFont typeface="Arial"/>
              <a:buNone/>
            </a:pPr>
            <a:r>
              <a:rPr lang="en-AU" dirty="0"/>
              <a:t>The mechanics:</a:t>
            </a:r>
          </a:p>
          <a:p>
            <a:pPr lvl="1"/>
            <a:r>
              <a:rPr lang="en-AU" dirty="0"/>
              <a:t>Perform initialisation</a:t>
            </a:r>
          </a:p>
          <a:p>
            <a:pPr lvl="1"/>
            <a:r>
              <a:rPr lang="en-AU" dirty="0"/>
              <a:t>Evaluate test expression  </a:t>
            </a:r>
          </a:p>
          <a:p>
            <a:pPr lvl="2"/>
            <a:r>
              <a:rPr lang="en-AU" dirty="0"/>
              <a:t>If true, execute statement</a:t>
            </a:r>
          </a:p>
          <a:p>
            <a:pPr lvl="2"/>
            <a:r>
              <a:rPr lang="en-AU" dirty="0"/>
              <a:t>If false, terminate loop execution</a:t>
            </a:r>
          </a:p>
          <a:p>
            <a:pPr lvl="1"/>
            <a:r>
              <a:rPr lang="en-AU" dirty="0"/>
              <a:t>Execute update, then re-evaluate test expression</a:t>
            </a:r>
          </a:p>
          <a:p>
            <a:pPr marL="457200" lvl="1" indent="0">
              <a:buFont typeface="Arial"/>
              <a:buNone/>
            </a:pP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60C793-64DB-49A8-BE81-E0C5EE898853}"/>
              </a:ext>
            </a:extLst>
          </p:cNvPr>
          <p:cNvGrpSpPr/>
          <p:nvPr/>
        </p:nvGrpSpPr>
        <p:grpSpPr>
          <a:xfrm>
            <a:off x="3275856" y="1698121"/>
            <a:ext cx="1905170" cy="1153857"/>
            <a:chOff x="2211018" y="3581400"/>
            <a:chExt cx="1905170" cy="1153857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F17935CA-98C2-40C6-925E-E6975EC62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6167" y="4278057"/>
              <a:ext cx="930021" cy="4572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Test</a:t>
              </a: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6BA177A-AD98-47A1-BB85-F53737A0B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018" y="3581400"/>
              <a:ext cx="1440160" cy="381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5556F316-77B0-4777-9072-3CB7101C0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7161" y="3962400"/>
              <a:ext cx="72007" cy="2853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275B77-BF2D-4E9C-8044-E9F11CA52450}"/>
              </a:ext>
            </a:extLst>
          </p:cNvPr>
          <p:cNvGrpSpPr/>
          <p:nvPr/>
        </p:nvGrpSpPr>
        <p:grpSpPr>
          <a:xfrm>
            <a:off x="4788024" y="1698116"/>
            <a:ext cx="3358927" cy="1158323"/>
            <a:chOff x="2096589" y="3547530"/>
            <a:chExt cx="2072239" cy="691388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E8CFE2DB-7F4A-4276-B1EA-746349211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892" y="3963356"/>
              <a:ext cx="783936" cy="27556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Update 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A3DD912B-0B88-4BC3-B653-C5A0EEDED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6589" y="3547530"/>
              <a:ext cx="1750816" cy="2274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304C1197-CC11-45C3-86BB-8F93543FE1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95860" y="3774942"/>
              <a:ext cx="107119" cy="1884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9733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9CAF836-3C62-4C41-AC7D-166F270C0768}"/>
              </a:ext>
            </a:extLst>
          </p:cNvPr>
          <p:cNvGrpSpPr/>
          <p:nvPr/>
        </p:nvGrpSpPr>
        <p:grpSpPr>
          <a:xfrm>
            <a:off x="353620" y="1353803"/>
            <a:ext cx="8245611" cy="5064509"/>
            <a:chOff x="353620" y="1353803"/>
            <a:chExt cx="8245611" cy="506450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F562D2-9010-4D0B-96E1-C4393417A5A9}"/>
                </a:ext>
              </a:extLst>
            </p:cNvPr>
            <p:cNvSpPr txBox="1"/>
            <p:nvPr/>
          </p:nvSpPr>
          <p:spPr>
            <a:xfrm>
              <a:off x="353620" y="2965139"/>
              <a:ext cx="16682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b="1" dirty="0"/>
                <a:t>Flowchart</a:t>
              </a:r>
            </a:p>
          </p:txBody>
        </p:sp>
        <p:pic>
          <p:nvPicPr>
            <p:cNvPr id="9" name="Picture 3" descr="0508sowc copy">
              <a:extLst>
                <a:ext uri="{FF2B5EF4-FFF2-40B4-BE49-F238E27FC236}">
                  <a16:creationId xmlns:a16="http://schemas.microsoft.com/office/drawing/2014/main" id="{9143ABF6-416F-4161-8817-807E61070B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720" y="2916958"/>
              <a:ext cx="6533474" cy="3501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C558FA34-9D50-4517-B6BD-9569CCED152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2494" y="1353803"/>
              <a:ext cx="8006737" cy="1611336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85000"/>
                </a:lnSpc>
                <a:buFont typeface="Times" charset="0"/>
                <a:buNone/>
              </a:pPr>
              <a:r>
                <a:rPr lang="en-US" sz="2400" dirty="0">
                  <a:solidFill>
                    <a:srgbClr val="7030A0"/>
                  </a:solidFill>
                  <a:latin typeface="Courier New" charset="0"/>
                  <a:ea typeface="ヒラギノ角ゴ Pro W3" charset="0"/>
                  <a:cs typeface="Arial" charset="0"/>
                </a:rPr>
                <a:t>for</a:t>
              </a: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 (int count = 1; count &lt;= 5; count++)</a:t>
              </a:r>
            </a:p>
            <a:p>
              <a:pPr>
                <a:lnSpc>
                  <a:spcPct val="85000"/>
                </a:lnSpc>
                <a:buFont typeface="Times" charset="0"/>
                <a:buNone/>
              </a:pP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{</a:t>
              </a:r>
            </a:p>
            <a:p>
              <a:pPr>
                <a:lnSpc>
                  <a:spcPct val="85000"/>
                </a:lnSpc>
                <a:buFont typeface="Times" charset="0"/>
                <a:buNone/>
              </a:pP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	</a:t>
              </a:r>
              <a:r>
                <a:rPr lang="en-US" sz="2400" dirty="0" err="1">
                  <a:latin typeface="Courier New" charset="0"/>
                  <a:ea typeface="ヒラギノ角ゴ Pro W3" charset="0"/>
                  <a:cs typeface="Arial" charset="0"/>
                </a:rPr>
                <a:t>cout</a:t>
              </a: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 &lt;&lt; "Hello" &lt;&lt; </a:t>
              </a:r>
              <a:r>
                <a:rPr lang="en-US" sz="2400" dirty="0" err="1">
                  <a:latin typeface="Courier New" charset="0"/>
                  <a:ea typeface="ヒラギノ角ゴ Pro W3" charset="0"/>
                  <a:cs typeface="Arial" charset="0"/>
                </a:rPr>
                <a:t>endl</a:t>
              </a: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;</a:t>
              </a:r>
            </a:p>
            <a:p>
              <a:pPr>
                <a:lnSpc>
                  <a:spcPct val="85000"/>
                </a:lnSpc>
                <a:buFont typeface="Times" charset="0"/>
                <a:buNone/>
              </a:pPr>
              <a:r>
                <a:rPr lang="en-US" sz="2400" dirty="0">
                  <a:latin typeface="Courier New" charset="0"/>
                  <a:ea typeface="ヒラギノ角ゴ Pro W3" charset="0"/>
                  <a:cs typeface="Arial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530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 Equivalent</a:t>
            </a:r>
            <a:endParaRPr lang="en-GB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02A537F-4513-4D86-9119-578469DD16CC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119999"/>
            <a:ext cx="7848600" cy="13800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for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(int count = 1; count &lt;= 5; count++)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"Hello" &lt;&lt;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endl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 lvl="1" indent="-742950">
              <a:lnSpc>
                <a:spcPct val="85000"/>
              </a:lnSpc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883C3-C675-416F-8F63-986FD3A2801A}"/>
              </a:ext>
            </a:extLst>
          </p:cNvPr>
          <p:cNvSpPr txBox="1"/>
          <p:nvPr/>
        </p:nvSpPr>
        <p:spPr>
          <a:xfrm>
            <a:off x="1403648" y="2941292"/>
            <a:ext cx="5883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i="1" dirty="0">
                <a:solidFill>
                  <a:srgbClr val="7030A0"/>
                </a:solidFill>
              </a:rPr>
              <a:t>for</a:t>
            </a:r>
            <a:r>
              <a:rPr lang="en-AU" sz="2800" b="1" dirty="0"/>
              <a:t> loop is like an advanced </a:t>
            </a:r>
            <a:r>
              <a:rPr lang="en-AU" sz="2800" b="1" i="1" dirty="0">
                <a:solidFill>
                  <a:srgbClr val="7030A0"/>
                </a:solidFill>
              </a:rPr>
              <a:t>while</a:t>
            </a:r>
            <a:r>
              <a:rPr lang="en-AU" sz="2800" b="1" dirty="0"/>
              <a:t> loop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56D2117-70FE-4E65-A3B9-8CF91C9A333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3886200"/>
            <a:ext cx="7428902" cy="2362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count=1;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while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(count &lt;= 5)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"Hello" &lt;&lt;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endl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count++;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>
              <a:lnSpc>
                <a:spcPct val="85000"/>
              </a:lnSpc>
              <a:buFont typeface="Times" charset="0"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3050D1-2EF2-4DFD-BE1A-E044E783EAAB}"/>
              </a:ext>
            </a:extLst>
          </p:cNvPr>
          <p:cNvCxnSpPr>
            <a:cxnSpLocks/>
          </p:cNvCxnSpPr>
          <p:nvPr/>
        </p:nvCxnSpPr>
        <p:spPr>
          <a:xfrm flipH="1" flipV="1">
            <a:off x="1331640" y="2514600"/>
            <a:ext cx="216024" cy="4823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220326-0F82-41AE-9308-0EA2F32EC175}"/>
              </a:ext>
            </a:extLst>
          </p:cNvPr>
          <p:cNvCxnSpPr>
            <a:cxnSpLocks/>
          </p:cNvCxnSpPr>
          <p:nvPr/>
        </p:nvCxnSpPr>
        <p:spPr>
          <a:xfrm flipH="1">
            <a:off x="5724128" y="3389325"/>
            <a:ext cx="216024" cy="4823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071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Variations using commas</a:t>
            </a:r>
            <a:endParaRPr lang="en-GB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13AAFB8D-4850-4C01-AFB4-422C33F9036B}"/>
              </a:ext>
            </a:extLst>
          </p:cNvPr>
          <p:cNvSpPr txBox="1">
            <a:spLocks noChangeArrowheads="1"/>
          </p:cNvSpPr>
          <p:nvPr/>
        </p:nvSpPr>
        <p:spPr>
          <a:xfrm>
            <a:off x="266700" y="1225744"/>
            <a:ext cx="8610600" cy="5255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Can also have multiple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i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</a:rPr>
              <a:t>nitialisation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and </a:t>
            </a:r>
            <a:r>
              <a:rPr lang="en-US" sz="2800" dirty="0">
                <a:solidFill>
                  <a:srgbClr val="FF6600"/>
                </a:solidFill>
              </a:rPr>
              <a:t>update</a:t>
            </a:r>
            <a:r>
              <a:rPr lang="en-US" sz="2800" i="1" dirty="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expressions. Separate the statements with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commas 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,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: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int x, y;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	for (x=1, y=1; x &lt;= 5; x++, y++)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{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  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x &lt;&lt; " plus " &lt;&lt; y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        &lt;&lt; " equals " &lt;&lt; (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x+y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)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        &lt;&lt;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endl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  }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    </a:t>
            </a: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81E720-9B80-4E97-8C4A-7311F15B9AE3}"/>
              </a:ext>
            </a:extLst>
          </p:cNvPr>
          <p:cNvGrpSpPr/>
          <p:nvPr/>
        </p:nvGrpSpPr>
        <p:grpSpPr>
          <a:xfrm>
            <a:off x="2207594" y="2395399"/>
            <a:ext cx="2652438" cy="1088097"/>
            <a:chOff x="2238375" y="2874303"/>
            <a:chExt cx="2652438" cy="1088097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FFB6B4A0-544A-49D9-AF30-94FFB76F0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470" y="2874303"/>
              <a:ext cx="195234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 err="1">
                  <a:solidFill>
                    <a:schemeClr val="accent2">
                      <a:lumMod val="75000"/>
                    </a:schemeClr>
                  </a:solidFill>
                </a:rPr>
                <a:t>Initialisations</a:t>
              </a:r>
              <a:endParaRPr 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C76CBC7E-4375-4AAF-A8A4-06B7A4313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8375" y="3657600"/>
              <a:ext cx="1460500" cy="304800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C1DA7976-7CB3-4273-A840-8E129BDB4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8685" y="3331503"/>
              <a:ext cx="175442" cy="24989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F12D92-1C56-4B9D-9213-F847209089DC}"/>
              </a:ext>
            </a:extLst>
          </p:cNvPr>
          <p:cNvGrpSpPr/>
          <p:nvPr/>
        </p:nvGrpSpPr>
        <p:grpSpPr>
          <a:xfrm>
            <a:off x="5470118" y="2468685"/>
            <a:ext cx="2822009" cy="1051349"/>
            <a:chOff x="5469395" y="2834221"/>
            <a:chExt cx="2947432" cy="962362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0A1DD57B-96AF-46B7-B836-C594D04F2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0073" y="2834221"/>
              <a:ext cx="1436754" cy="422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FF6600"/>
                  </a:solidFill>
                </a:rPr>
                <a:t>updates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D0E070AC-B497-490A-89E1-D62363BD3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9395" y="3415583"/>
              <a:ext cx="1524000" cy="381000"/>
            </a:xfrm>
            <a:prstGeom prst="rect">
              <a:avLst/>
            </a:prstGeom>
            <a:noFill/>
            <a:ln w="28575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5065267F-40AA-4758-9D48-900DC9EC3B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88444" y="3256810"/>
              <a:ext cx="150418" cy="157575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404752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of Variables</a:t>
            </a:r>
            <a:endParaRPr lang="en-GB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E4931D55-29B3-42A0-B070-E9D0ED1E779B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255064"/>
            <a:ext cx="8610600" cy="48039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You can declare variables in the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i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nitialisation</a:t>
            </a:r>
            <a:r>
              <a:rPr lang="en-US" i="1" dirty="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expression.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Variable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i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only exist in the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for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loop { … }, not outside of it.</a:t>
            </a:r>
            <a:br>
              <a:rPr lang="en-US" dirty="0">
                <a:latin typeface="Arial" charset="0"/>
                <a:ea typeface="ヒラギノ角ゴ Pro W3" charset="0"/>
                <a:cs typeface="Arial" charset="0"/>
              </a:rPr>
            </a:b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int sum = 0;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for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 (</a:t>
            </a:r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 i = 0; i &lt;= 10; i++)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			sum += i;		</a:t>
            </a:r>
            <a:r>
              <a:rPr lang="en-US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sum = sum + i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  <a:br>
              <a:rPr lang="en-US" dirty="0">
                <a:latin typeface="Courier New" charset="0"/>
                <a:ea typeface="ヒラギノ角ゴ Pro W3" charset="0"/>
                <a:cs typeface="Arial" charset="0"/>
              </a:rPr>
            </a:br>
            <a:endParaRPr lang="en-US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343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5.7 – For statements</a:t>
            </a:r>
          </a:p>
          <a:p>
            <a:r>
              <a:rPr lang="en-AU" sz="2400" dirty="0"/>
              <a:t>	 </a:t>
            </a:r>
            <a:r>
              <a:rPr lang="en-AU" sz="2400" dirty="0">
                <a:hlinkClick r:id="rId4"/>
              </a:rPr>
              <a:t>https://www.learncpp.com/cpp-tutorial/57-for-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statements/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FC3BBA-B661-4CB8-8A75-56D450FDA4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4AF3D0-CB18-4EE8-99B0-AFFBA7E49F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DD23C06-10DA-43FD-8FAF-722E77D17F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27432</TotalTime>
  <Words>482</Words>
  <Application>Microsoft Office PowerPoint</Application>
  <PresentationFormat>On-screen Show (4:3)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for Iteration Statement</vt:lpstr>
      <vt:lpstr>Iteration Statement (loops)</vt:lpstr>
      <vt:lpstr>The for Loop</vt:lpstr>
      <vt:lpstr>for Loop Syntax</vt:lpstr>
      <vt:lpstr>Example</vt:lpstr>
      <vt:lpstr>while Loop Equivalent</vt:lpstr>
      <vt:lpstr>Variations using commas</vt:lpstr>
      <vt:lpstr>Scope of Variables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7 - for Iteration Statement</dc:title>
  <dc:creator>Ram Singh</dc:creator>
  <cp:lastModifiedBy>Upul Gunawardana</cp:lastModifiedBy>
  <cp:revision>597</cp:revision>
  <dcterms:created xsi:type="dcterms:W3CDTF">2018-02-26T21:48:17Z</dcterms:created>
  <dcterms:modified xsi:type="dcterms:W3CDTF">2022-05-19T15:04:17Z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