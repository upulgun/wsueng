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sldIdLst>
    <p:sldId id="275" r:id="rId6"/>
    <p:sldId id="295" r:id="rId7"/>
    <p:sldId id="296" r:id="rId8"/>
    <p:sldId id="299" r:id="rId9"/>
    <p:sldId id="300" r:id="rId10"/>
    <p:sldId id="294" r:id="rId11"/>
    <p:sldId id="301" r:id="rId12"/>
    <p:sldId id="298" r:id="rId13"/>
    <p:sldId id="302" r:id="rId14"/>
    <p:sldId id="292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>
      <p:cViewPr varScale="1">
        <p:scale>
          <a:sx n="93" d="100"/>
          <a:sy n="93" d="100"/>
        </p:scale>
        <p:origin x="84" y="2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ul Gunawardana" userId="d78f31a5-8ae7-4659-910b-ce777cc612cd" providerId="ADAL" clId="{AD1B38E4-A547-4AB5-BA30-33338DE35072}"/>
    <pc:docChg chg="modSld">
      <pc:chgData name="Upul Gunawardana" userId="d78f31a5-8ae7-4659-910b-ce777cc612cd" providerId="ADAL" clId="{AD1B38E4-A547-4AB5-BA30-33338DE35072}" dt="2022-05-19T14:58:00.100" v="9" actId="20577"/>
      <pc:docMkLst>
        <pc:docMk/>
      </pc:docMkLst>
      <pc:sldChg chg="modSp mod">
        <pc:chgData name="Upul Gunawardana" userId="d78f31a5-8ae7-4659-910b-ce777cc612cd" providerId="ADAL" clId="{AD1B38E4-A547-4AB5-BA30-33338DE35072}" dt="2022-05-19T14:58:00.100" v="9" actId="20577"/>
        <pc:sldMkLst>
          <pc:docMk/>
          <pc:sldMk cId="120957276" sldId="275"/>
        </pc:sldMkLst>
        <pc:spChg chg="mod">
          <ac:chgData name="Upul Gunawardana" userId="d78f31a5-8ae7-4659-910b-ce777cc612cd" providerId="ADAL" clId="{AD1B38E4-A547-4AB5-BA30-33338DE35072}" dt="2022-05-19T14:58:00.100" v="9" actId="20577"/>
          <ac:spMkLst>
            <pc:docMk/>
            <pc:sldMk cId="120957276" sldId="275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19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21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55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77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36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51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5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35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5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30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927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198" y="5466306"/>
            <a:ext cx="8419605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654" y="1400037"/>
            <a:ext cx="3456878" cy="3931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8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59045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3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9" r="13866" b="10687"/>
          <a:stretch/>
        </p:blipFill>
        <p:spPr>
          <a:xfrm>
            <a:off x="0" y="0"/>
            <a:ext cx="9144000" cy="6835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9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92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tx2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56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1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616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</a:t>
            </a:r>
            <a:br>
              <a:rPr lang="en-AU" dirty="0"/>
            </a:br>
            <a:r>
              <a:rPr lang="en-AU" dirty="0"/>
              <a:t>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772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14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1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55" y="320529"/>
            <a:ext cx="3350400" cy="79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76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59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56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ts val="2625"/>
              </a:lnSpc>
              <a:defRPr sz="2625"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10" y="1871498"/>
            <a:ext cx="8154590" cy="4326102"/>
          </a:xfrm>
        </p:spPr>
        <p:txBody>
          <a:bodyPr/>
          <a:lstStyle>
            <a:lvl1pPr>
              <a:lnSpc>
                <a:spcPts val="1275"/>
              </a:lnSpc>
              <a:spcAft>
                <a:spcPts val="0"/>
              </a:spcAft>
              <a:defRPr lang="en-AU" sz="1125" b="1" i="0" kern="1200" dirty="0" smtClean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61925" indent="0">
              <a:lnSpc>
                <a:spcPts val="1275"/>
              </a:lnSpc>
              <a:spcAft>
                <a:spcPts val="638"/>
              </a:spcAft>
              <a:tabLst/>
              <a:defRPr lang="en-AU" sz="1125" b="0" i="0" kern="1200" dirty="0" smtClean="0">
                <a:solidFill>
                  <a:schemeClr val="tx2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3536E21-BEA9-0843-BB9C-C6C3FA5E478E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0125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94110" y="1867584"/>
            <a:ext cx="8154590" cy="4330017"/>
          </a:xfrm>
        </p:spPr>
        <p:txBody>
          <a:bodyPr/>
          <a:lstStyle>
            <a:lvl1pPr>
              <a:lnSpc>
                <a:spcPts val="2625"/>
              </a:lnSpc>
              <a:defRPr sz="262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>
              <a:lnSpc>
                <a:spcPts val="2625"/>
              </a:lnSpc>
              <a:spcAft>
                <a:spcPts val="450"/>
              </a:spcAft>
              <a:defRPr sz="262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lnSpc>
                <a:spcPts val="1650"/>
              </a:lnSpc>
              <a:defRPr sz="1500" b="0" i="0">
                <a:solidFill>
                  <a:schemeClr val="bg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</a:t>
            </a:r>
          </a:p>
          <a:p>
            <a:pPr lvl="1"/>
            <a:r>
              <a:rPr lang="en-AU" dirty="0"/>
              <a:t>SECOND </a:t>
            </a:r>
            <a:br>
              <a:rPr lang="en-AU" dirty="0"/>
            </a:br>
            <a:r>
              <a:rPr lang="en-AU" dirty="0"/>
              <a:t>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CF49794A-F156-8443-AFB0-D6053EF71D28}" type="datetime1">
              <a:rPr lang="en-US" smtClean="0">
                <a:solidFill>
                  <a:srgbClr val="FFFFFF"/>
                </a:solidFill>
              </a:rPr>
              <a:pPr/>
              <a:t>5/20/2022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FE7073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FFFFFF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FFFFFF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FFFFFF"/>
              </a:solidFill>
              <a:latin typeface="Gotham Narrow Bold" pitchFamily="50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406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578" y="1854200"/>
            <a:ext cx="6201022" cy="4343400"/>
          </a:xfrm>
        </p:spPr>
        <p:txBody>
          <a:bodyPr/>
          <a:lstStyle>
            <a:lvl1pPr>
              <a:lnSpc>
                <a:spcPts val="4875"/>
              </a:lnSpc>
              <a:defRPr lang="en-US" sz="4875" b="1" i="0" kern="1200" dirty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D41AC54-ACEA-E74A-A236-8CA4995D51A5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300" y="6519864"/>
            <a:ext cx="2057400" cy="201613"/>
          </a:xfrm>
        </p:spPr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205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ECA7C0A-6EA2-2945-92B3-332C9C64946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4824412" y="1871498"/>
            <a:ext cx="3824287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5521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94C0D1A5-277E-8E4E-A287-21A2C45B1049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818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95250" indent="-95250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D6734711-CBF7-0149-96E1-DB465890B98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7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0479E50-DC0F-194F-BF55-6288B1AAE44C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4" y="1871664"/>
            <a:ext cx="3824286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130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8153647" cy="4326102"/>
          </a:xfrm>
        </p:spPr>
        <p:txBody>
          <a:bodyPr/>
          <a:lstStyle>
            <a:lvl1pPr marL="0">
              <a:lnSpc>
                <a:spcPts val="1200"/>
              </a:lnSpc>
              <a:spcAft>
                <a:spcPts val="1125"/>
              </a:spcAft>
              <a:defRPr sz="135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33350" indent="-133350">
              <a:lnSpc>
                <a:spcPts val="1500"/>
              </a:lnSpc>
              <a:spcAft>
                <a:spcPts val="1125"/>
              </a:spcAft>
              <a:buFont typeface="Arial" charset="0"/>
              <a:buChar char="•"/>
              <a:tabLst/>
              <a:defRPr sz="135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3A0E362F-15F3-414F-AD19-772E0A70F7DD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953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D3BF28-C868-1E42-AD12-0669017885B5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3"/>
          </p:nvPr>
        </p:nvSpPr>
        <p:spPr>
          <a:xfrm>
            <a:off x="3733800" y="2134263"/>
            <a:ext cx="4648200" cy="38474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397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28588" indent="-128588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4A54127-2AC4-624C-90C4-6E74D9031FD0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4"/>
          </p:nvPr>
        </p:nvSpPr>
        <p:spPr>
          <a:xfrm>
            <a:off x="3714750" y="2120900"/>
            <a:ext cx="4686300" cy="3873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55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044576"/>
            <a:ext cx="3887638" cy="51657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51E290B4-B3E1-A34F-9420-070C7E24A97B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/>
          </p:nvPr>
        </p:nvSpPr>
        <p:spPr>
          <a:xfrm>
            <a:off x="4761310" y="1044576"/>
            <a:ext cx="3887390" cy="51657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257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878" y="1871498"/>
            <a:ext cx="5362821" cy="12273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F65FAE-121D-DF46-8371-2E67964D0BDF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28654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3285879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6095754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48800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89F7B0C-722D-8B45-BAF6-698B9FE8F81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12525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95301" y="3268664"/>
            <a:ext cx="2676524" cy="2979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3295651" y="1871664"/>
            <a:ext cx="2543174" cy="26622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3295651" y="4673600"/>
            <a:ext cx="2543174" cy="15748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5962651" y="1871664"/>
            <a:ext cx="2686049" cy="4376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56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4"/>
            <a:ext cx="4405159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674" y="356258"/>
            <a:ext cx="904496" cy="5174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926" y="1224148"/>
            <a:ext cx="2644734" cy="4010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15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053" y="1010537"/>
            <a:ext cx="8153647" cy="6876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053" y="1871498"/>
            <a:ext cx="8153647" cy="43084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110" y="6519864"/>
            <a:ext cx="2057400" cy="2016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52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FF468EA-D9CE-8943-9C75-830D68AC402B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4110" y="391883"/>
            <a:ext cx="3086100" cy="18256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525" b="1" i="0" kern="1200" dirty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1300" y="6519864"/>
            <a:ext cx="2057400" cy="20161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525" b="1" i="0" kern="1200" smtClean="0">
                <a:solidFill>
                  <a:schemeClr val="tx2"/>
                </a:solidFill>
                <a:latin typeface="Gotham Narrow Book" charset="0"/>
                <a:ea typeface="Gotham Narrow Book" charset="0"/>
                <a:cs typeface="Gotham Narrow Book" charset="0"/>
              </a:defRPr>
            </a:lvl1pPr>
          </a:lstStyle>
          <a:p>
            <a:r>
              <a:rPr>
                <a:solidFill>
                  <a:srgbClr val="A31E34"/>
                </a:solidFill>
              </a:rPr>
              <a:t>PAGE </a:t>
            </a:r>
            <a:fld id="{C9EE3F8F-BFD3-9842-9D76-CADACBFBDD00}" type="slidenum">
              <a:rPr>
                <a:solidFill>
                  <a:srgbClr val="A31E34"/>
                </a:solidFill>
              </a:rPr>
              <a:pPr/>
              <a:t>‹#›</a:t>
            </a:fld>
            <a:endParaRPr dirty="0">
              <a:solidFill>
                <a:srgbClr val="A31E34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7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hdr="0"/>
  <p:txStyles>
    <p:titleStyle>
      <a:lvl1pPr algn="l" defTabSz="685800" rtl="0" eaLnBrk="1" latinLnBrk="0" hangingPunct="1">
        <a:lnSpc>
          <a:spcPts val="2025"/>
        </a:lnSpc>
        <a:spcBef>
          <a:spcPct val="0"/>
        </a:spcBef>
        <a:buNone/>
        <a:defRPr sz="1875" kern="1200">
          <a:solidFill>
            <a:schemeClr val="tx2"/>
          </a:solidFill>
          <a:latin typeface="Chronicle Text G1" pitchFamily="50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650"/>
        </a:lnSpc>
        <a:spcBef>
          <a:spcPts val="0"/>
        </a:spcBef>
        <a:spcAft>
          <a:spcPts val="975"/>
        </a:spcAft>
        <a:buFont typeface="Arial"/>
        <a:buNone/>
        <a:defRPr sz="1500" kern="1200">
          <a:solidFill>
            <a:schemeClr val="accent1"/>
          </a:solidFill>
          <a:latin typeface="Chronicle Text G1" pitchFamily="50" charset="0"/>
          <a:ea typeface="+mn-ea"/>
          <a:cs typeface="+mn-cs"/>
        </a:defRPr>
      </a:lvl1pPr>
      <a:lvl2pPr marL="0" indent="0" algn="l" defTabSz="685800" rtl="0" eaLnBrk="1" latinLnBrk="0" hangingPunct="1">
        <a:lnSpc>
          <a:spcPts val="1050"/>
        </a:lnSpc>
        <a:spcBef>
          <a:spcPts val="0"/>
        </a:spcBef>
        <a:buFont typeface="Arial"/>
        <a:buNone/>
        <a:tabLst/>
        <a:defRPr sz="900" b="1" i="0" kern="1200">
          <a:solidFill>
            <a:schemeClr val="tx2"/>
          </a:solidFill>
          <a:latin typeface="Gotham Narrow Bold" pitchFamily="50" charset="0"/>
          <a:ea typeface="Gotham Narrow Bold" pitchFamily="50" charset="0"/>
          <a:cs typeface="Gotham Narrow Bold" pitchFamily="50" charset="0"/>
        </a:defRPr>
      </a:lvl2pPr>
      <a:lvl3pPr marL="8335" indent="0" algn="l" defTabSz="685800" rtl="0" eaLnBrk="1" latinLnBrk="0" hangingPunct="1">
        <a:lnSpc>
          <a:spcPts val="1050"/>
        </a:lnSpc>
        <a:spcBef>
          <a:spcPts val="0"/>
        </a:spcBef>
        <a:spcAft>
          <a:spcPts val="638"/>
        </a:spcAft>
        <a:buFont typeface="Arial"/>
        <a:buNone/>
        <a:tabLst/>
        <a:defRPr sz="900" b="0" i="0" kern="1200">
          <a:solidFill>
            <a:schemeClr val="tx1"/>
          </a:solidFill>
          <a:latin typeface="Gotham Narrow Light" charset="0"/>
          <a:ea typeface="Gotham Narrow Light" charset="0"/>
          <a:cs typeface="Gotham Narrow Light" charset="0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7" userDrawn="1">
          <p15:clr>
            <a:srgbClr val="F26B43"/>
          </p15:clr>
        </p15:guide>
        <p15:guide id="3" orient="horz" pos="4107">
          <p15:clr>
            <a:srgbClr val="F26B43"/>
          </p15:clr>
        </p15:guide>
        <p15:guide id="4" orient="horz" pos="640">
          <p15:clr>
            <a:srgbClr val="F26B43"/>
          </p15:clr>
        </p15:guide>
        <p15:guide id="5" pos="5443" userDrawn="1">
          <p15:clr>
            <a:srgbClr val="F26B43"/>
          </p15:clr>
        </p15:guide>
        <p15:guide id="6" pos="2721" userDrawn="1">
          <p15:clr>
            <a:srgbClr val="F26B43"/>
          </p15:clr>
        </p15:guide>
        <p15:guide id="7" pos="3039" userDrawn="1">
          <p15:clr>
            <a:srgbClr val="F26B43"/>
          </p15:clr>
        </p15:guide>
        <p15:guide id="8" orient="horz" pos="3904">
          <p15:clr>
            <a:srgbClr val="F26B43"/>
          </p15:clr>
        </p15:guide>
        <p15:guide id="9" orient="horz" pos="1072">
          <p15:clr>
            <a:srgbClr val="F26B43"/>
          </p15:clr>
        </p15:guide>
        <p15:guide id="10" orient="horz" pos="1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arncpp.com/cpp-tutorial/186-basic-file-io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dirty="0"/>
              <a:t>Other Common Operators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</a:t>
            </a:r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5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Operators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DF60B4E-9E94-4F1B-BA64-728578CA2E3C}"/>
              </a:ext>
            </a:extLst>
          </p:cNvPr>
          <p:cNvSpPr txBox="1">
            <a:spLocks/>
          </p:cNvSpPr>
          <p:nvPr/>
        </p:nvSpPr>
        <p:spPr>
          <a:xfrm>
            <a:off x="246216" y="1090219"/>
            <a:ext cx="8695304" cy="550713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>
                <a:solidFill>
                  <a:schemeClr val="bg1">
                    <a:lumMod val="85000"/>
                  </a:schemeClr>
                </a:solidFill>
              </a:rPr>
              <a:t>Assignment (=)</a:t>
            </a:r>
          </a:p>
          <a:p>
            <a:r>
              <a:rPr lang="en-AU" dirty="0">
                <a:solidFill>
                  <a:schemeClr val="bg1">
                    <a:lumMod val="85000"/>
                  </a:schemeClr>
                </a:solidFill>
              </a:rPr>
              <a:t>Arithmetic operators (+, -, *, /, %)</a:t>
            </a:r>
          </a:p>
          <a:p>
            <a:r>
              <a:rPr lang="en-AU" dirty="0">
                <a:solidFill>
                  <a:schemeClr val="bg1">
                    <a:lumMod val="85000"/>
                  </a:schemeClr>
                </a:solidFill>
              </a:rPr>
              <a:t>Compound assignment (+=,-=,*=,/=, %=, &gt;&gt;=,&lt;&lt;=, &amp;=, ^=, |=)</a:t>
            </a:r>
          </a:p>
          <a:p>
            <a:r>
              <a:rPr lang="en-AU" dirty="0">
                <a:solidFill>
                  <a:schemeClr val="bg1">
                    <a:lumMod val="85000"/>
                  </a:schemeClr>
                </a:solidFill>
              </a:rPr>
              <a:t>Increase and decrease (++, --)</a:t>
            </a:r>
          </a:p>
          <a:p>
            <a:r>
              <a:rPr lang="en-AU" dirty="0"/>
              <a:t>Relational and equality operators (&lt;, &gt;, &lt;=, &gt;=, ==, !=)</a:t>
            </a:r>
          </a:p>
          <a:p>
            <a:r>
              <a:rPr lang="en-AU" dirty="0"/>
              <a:t>Logical operators (!, &amp;&amp;, ||)</a:t>
            </a:r>
          </a:p>
          <a:p>
            <a:r>
              <a:rPr lang="en-AU" dirty="0"/>
              <a:t>Bitwise operators (&amp;, |, ^, ~, &lt;&lt;, &gt;&gt;)</a:t>
            </a:r>
          </a:p>
          <a:p>
            <a:r>
              <a:rPr lang="en-AU" dirty="0"/>
              <a:t>Conditional operator (?)</a:t>
            </a:r>
          </a:p>
          <a:p>
            <a:r>
              <a:rPr lang="en-AU" dirty="0"/>
              <a:t>Comma operator (,)</a:t>
            </a:r>
          </a:p>
          <a:p>
            <a:r>
              <a:rPr lang="en-AU" dirty="0"/>
              <a:t>Bitwise operator</a:t>
            </a:r>
          </a:p>
          <a:p>
            <a:r>
              <a:rPr lang="en-AU" dirty="0"/>
              <a:t>Explicit type casting operator</a:t>
            </a:r>
          </a:p>
          <a:p>
            <a:r>
              <a:rPr lang="en-AU" dirty="0"/>
              <a:t>Precedence of operators.</a:t>
            </a:r>
          </a:p>
        </p:txBody>
      </p:sp>
    </p:spTree>
    <p:extLst>
      <p:ext uri="{BB962C8B-B14F-4D97-AF65-F5344CB8AC3E}">
        <p14:creationId xmlns:p14="http://schemas.microsoft.com/office/powerpoint/2010/main" val="217346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 and Equality Operators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538143D-8567-40DA-978E-4FEE38748CCF}"/>
              </a:ext>
            </a:extLst>
          </p:cNvPr>
          <p:cNvGrpSpPr/>
          <p:nvPr/>
        </p:nvGrpSpPr>
        <p:grpSpPr>
          <a:xfrm>
            <a:off x="0" y="1321604"/>
            <a:ext cx="9144000" cy="5161349"/>
            <a:chOff x="0" y="1321604"/>
            <a:chExt cx="9144000" cy="5161349"/>
          </a:xfrm>
        </p:grpSpPr>
        <p:pic>
          <p:nvPicPr>
            <p:cNvPr id="9" name="Content Placeholder 3">
              <a:extLst>
                <a:ext uri="{FF2B5EF4-FFF2-40B4-BE49-F238E27FC236}">
                  <a16:creationId xmlns:a16="http://schemas.microsoft.com/office/drawing/2014/main" id="{A3726F62-BDFD-4F1B-BDA8-ED942BF4F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 l="476" r="476"/>
            <a:stretch>
              <a:fillRect/>
            </a:stretch>
          </p:blipFill>
          <p:spPr>
            <a:xfrm>
              <a:off x="457200" y="1704065"/>
              <a:ext cx="4752207" cy="3077146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AFAE8AB-5AE6-4FBB-8198-8750149F571F}"/>
                </a:ext>
              </a:extLst>
            </p:cNvPr>
            <p:cNvSpPr txBox="1"/>
            <p:nvPr/>
          </p:nvSpPr>
          <p:spPr>
            <a:xfrm>
              <a:off x="5329680" y="4257991"/>
              <a:ext cx="283827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800" dirty="0">
                  <a:solidFill>
                    <a:schemeClr val="accent2">
                      <a:lumMod val="75000"/>
                    </a:schemeClr>
                  </a:solidFill>
                </a:rPr>
                <a:t>e.g. a=2, b=3, c=6;</a:t>
              </a:r>
              <a:endParaRPr lang="en-AU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BC2D846-EBB3-43DA-BA3D-4EDAC401FEA5}"/>
                </a:ext>
              </a:extLst>
            </p:cNvPr>
            <p:cNvSpPr txBox="1"/>
            <p:nvPr/>
          </p:nvSpPr>
          <p:spPr>
            <a:xfrm>
              <a:off x="457200" y="1321604"/>
              <a:ext cx="85071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800" dirty="0">
                  <a:solidFill>
                    <a:schemeClr val="accent2">
                      <a:lumMod val="75000"/>
                    </a:schemeClr>
                  </a:solidFill>
                </a:rPr>
                <a:t>Used to evaluate a comparison between two expressions</a:t>
              </a:r>
              <a:endParaRPr lang="en-AU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15" name="Left Arrow 9">
              <a:extLst>
                <a:ext uri="{FF2B5EF4-FFF2-40B4-BE49-F238E27FC236}">
                  <a16:creationId xmlns:a16="http://schemas.microsoft.com/office/drawing/2014/main" id="{4C0D5497-2A4B-4F93-A77A-93B68226DD36}"/>
                </a:ext>
              </a:extLst>
            </p:cNvPr>
            <p:cNvSpPr/>
            <p:nvPr/>
          </p:nvSpPr>
          <p:spPr>
            <a:xfrm>
              <a:off x="3706195" y="1982568"/>
              <a:ext cx="2462158" cy="362823"/>
            </a:xfrm>
            <a:prstGeom prst="leftArrow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26BEBD2-7F05-4C60-95C7-6D70BD046FC9}"/>
                </a:ext>
              </a:extLst>
            </p:cNvPr>
            <p:cNvSpPr txBox="1"/>
            <p:nvPr/>
          </p:nvSpPr>
          <p:spPr>
            <a:xfrm>
              <a:off x="6168353" y="1897668"/>
              <a:ext cx="2407242" cy="954107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r>
                <a:rPr lang="en-AU" sz="2800" dirty="0"/>
                <a:t>== is not the same as =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5929D5D-DE31-4CB9-8772-D77A880524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4725144"/>
              <a:ext cx="9144000" cy="1196301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C20725D-3A0A-487C-B3E2-6C7617B1ADF0}"/>
                </a:ext>
              </a:extLst>
            </p:cNvPr>
            <p:cNvSpPr txBox="1"/>
            <p:nvPr/>
          </p:nvSpPr>
          <p:spPr>
            <a:xfrm>
              <a:off x="204850" y="6021288"/>
              <a:ext cx="6490779" cy="46166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AU" sz="2400" dirty="0"/>
                <a:t>What will this statement produce   </a:t>
              </a:r>
              <a:r>
                <a:rPr lang="en-AU" sz="2400" dirty="0">
                  <a:solidFill>
                    <a:schemeClr val="accent2">
                      <a:lumMod val="75000"/>
                    </a:schemeClr>
                  </a:solidFill>
                </a:rPr>
                <a:t>b=2==a    </a:t>
              </a:r>
              <a:r>
                <a:rPr lang="en-AU" sz="2400" dirty="0"/>
                <a:t>?????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705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Logical Operators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0A7351B-0A11-43D5-870C-B98C23F8E2BA}"/>
              </a:ext>
            </a:extLst>
          </p:cNvPr>
          <p:cNvSpPr txBox="1">
            <a:spLocks/>
          </p:cNvSpPr>
          <p:nvPr/>
        </p:nvSpPr>
        <p:spPr>
          <a:xfrm>
            <a:off x="457200" y="1196518"/>
            <a:ext cx="8445444" cy="532882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dirty="0"/>
              <a:t>	</a:t>
            </a:r>
            <a:r>
              <a:rPr lang="en-AU" b="1" dirty="0">
                <a:solidFill>
                  <a:schemeClr val="accent6">
                    <a:lumMod val="75000"/>
                  </a:schemeClr>
                </a:solidFill>
              </a:rPr>
              <a:t>!</a:t>
            </a:r>
            <a:r>
              <a:rPr lang="en-AU" dirty="0"/>
              <a:t> Is the logic</a:t>
            </a:r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AU" b="1" dirty="0">
                <a:solidFill>
                  <a:schemeClr val="accent6">
                    <a:lumMod val="75000"/>
                  </a:schemeClr>
                </a:solidFill>
              </a:rPr>
              <a:t>NOT</a:t>
            </a:r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AU" dirty="0"/>
              <a:t>operation (only has ONE operand)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dirty="0"/>
              <a:t>	</a:t>
            </a:r>
            <a:r>
              <a:rPr lang="en-AU" b="1" dirty="0">
                <a:solidFill>
                  <a:schemeClr val="accent6">
                    <a:lumMod val="75000"/>
                  </a:schemeClr>
                </a:solidFill>
              </a:rPr>
              <a:t>&amp;&amp;</a:t>
            </a:r>
            <a:r>
              <a:rPr lang="en-AU" dirty="0"/>
              <a:t> is the logic</a:t>
            </a:r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AU" b="1" dirty="0">
                <a:solidFill>
                  <a:schemeClr val="accent6">
                    <a:lumMod val="75000"/>
                  </a:schemeClr>
                </a:solidFill>
              </a:rPr>
              <a:t>AND</a:t>
            </a:r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AU" dirty="0"/>
              <a:t>operation (needs TWO operand)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dirty="0"/>
              <a:t>	</a:t>
            </a:r>
            <a:r>
              <a:rPr lang="en-AU" b="1" dirty="0">
                <a:solidFill>
                  <a:schemeClr val="accent6">
                    <a:lumMod val="75000"/>
                  </a:schemeClr>
                </a:solidFill>
              </a:rPr>
              <a:t>||</a:t>
            </a:r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AU" dirty="0"/>
              <a:t>is the logic </a:t>
            </a:r>
            <a:r>
              <a:rPr lang="en-AU" b="1" dirty="0">
                <a:solidFill>
                  <a:schemeClr val="accent6">
                    <a:lumMod val="75000"/>
                  </a:schemeClr>
                </a:solidFill>
              </a:rPr>
              <a:t>OR</a:t>
            </a:r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AU" dirty="0"/>
              <a:t>operation (Two operand)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dirty="0"/>
              <a:t>	</a:t>
            </a:r>
            <a:r>
              <a:rPr lang="en-AU" b="1" dirty="0">
                <a:solidFill>
                  <a:srgbClr val="FFFF00"/>
                </a:solidFill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dirty="0" err="1"/>
              <a:t>eg.</a:t>
            </a:r>
            <a:r>
              <a:rPr lang="en-AU" dirty="0"/>
              <a:t> a=3, b=5;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AU" dirty="0"/>
              <a:t>!(a==b) is true 				(similar to a!=b)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dirty="0"/>
              <a:t>(a&gt;3)&amp;&amp;(b&lt;7) is false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dirty="0"/>
              <a:t>(a&gt;3)||(b&lt;7) is true</a:t>
            </a:r>
          </a:p>
        </p:txBody>
      </p:sp>
    </p:spTree>
    <p:extLst>
      <p:ext uri="{BB962C8B-B14F-4D97-AF65-F5344CB8AC3E}">
        <p14:creationId xmlns:p14="http://schemas.microsoft.com/office/powerpoint/2010/main" val="1895305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Conditional Operator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1FCE07F-6291-4DD5-B8BD-E866662021B1}"/>
              </a:ext>
            </a:extLst>
          </p:cNvPr>
          <p:cNvGrpSpPr/>
          <p:nvPr/>
        </p:nvGrpSpPr>
        <p:grpSpPr>
          <a:xfrm>
            <a:off x="457200" y="914004"/>
            <a:ext cx="8597900" cy="5639196"/>
            <a:chOff x="457200" y="914004"/>
            <a:chExt cx="8597900" cy="5639196"/>
          </a:xfrm>
        </p:grpSpPr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0E0815B6-4AEC-449F-B1F9-9CB0730A1464}"/>
                </a:ext>
              </a:extLst>
            </p:cNvPr>
            <p:cNvSpPr txBox="1">
              <a:spLocks/>
            </p:cNvSpPr>
            <p:nvPr/>
          </p:nvSpPr>
          <p:spPr>
            <a:xfrm>
              <a:off x="457200" y="914004"/>
              <a:ext cx="8229600" cy="548314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AU"/>
                <a:t>Evaluates an expression returning a value if that expression is true and a different one if the expression is false. </a:t>
              </a:r>
            </a:p>
            <a:p>
              <a:r>
                <a:rPr lang="en-AU"/>
                <a:t>Its format is: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AU">
                  <a:solidFill>
                    <a:schemeClr val="accent6">
                      <a:lumMod val="75000"/>
                    </a:schemeClr>
                  </a:solidFill>
                </a:rPr>
                <a:t>condition ? result1 : result2 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AU"/>
                <a:t>True – result 1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AU"/>
                <a:t>False – result 2</a:t>
              </a:r>
              <a:endParaRPr lang="en-AU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65BC0B4-7808-49CA-BDD5-43CE7C0FE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0870" y="4838346"/>
              <a:ext cx="3363752" cy="1714854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5AF4F9A-D53C-48D6-8518-3B7F83326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29200" y="1905000"/>
              <a:ext cx="4025900" cy="4521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93071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Comma Operator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F6D716A-2DD2-431C-BF55-0E4A7B214DEB}"/>
              </a:ext>
            </a:extLst>
          </p:cNvPr>
          <p:cNvGrpSpPr/>
          <p:nvPr/>
        </p:nvGrpSpPr>
        <p:grpSpPr>
          <a:xfrm>
            <a:off x="457200" y="1568993"/>
            <a:ext cx="8229600" cy="2508079"/>
            <a:chOff x="457200" y="914004"/>
            <a:chExt cx="8229600" cy="2508079"/>
          </a:xfrm>
        </p:grpSpPr>
        <p:sp>
          <p:nvSpPr>
            <p:cNvPr id="19" name="Content Placeholder 2">
              <a:extLst>
                <a:ext uri="{FF2B5EF4-FFF2-40B4-BE49-F238E27FC236}">
                  <a16:creationId xmlns:a16="http://schemas.microsoft.com/office/drawing/2014/main" id="{CC28BDD6-DEFF-4FAE-8503-2791E924B560}"/>
                </a:ext>
              </a:extLst>
            </p:cNvPr>
            <p:cNvSpPr txBox="1">
              <a:spLocks/>
            </p:cNvSpPr>
            <p:nvPr/>
          </p:nvSpPr>
          <p:spPr>
            <a:xfrm>
              <a:off x="457200" y="914004"/>
              <a:ext cx="8229600" cy="250807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AU" dirty="0"/>
                <a:t>Used to separate two or more expressions that are included where only one expression is expected</a:t>
              </a:r>
            </a:p>
            <a:p>
              <a:r>
                <a:rPr lang="en-AU" dirty="0"/>
                <a:t>When the set of expressions has to be evaluated for a value, only the rightmost expression is considered: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AU" dirty="0"/>
                <a:t>	a = (b = 2, b+3);				b=2; a=b+3;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dirty="0"/>
            </a:p>
          </p:txBody>
        </p:sp>
        <p:sp>
          <p:nvSpPr>
            <p:cNvPr id="20" name="Left-Right Arrow 3">
              <a:extLst>
                <a:ext uri="{FF2B5EF4-FFF2-40B4-BE49-F238E27FC236}">
                  <a16:creationId xmlns:a16="http://schemas.microsoft.com/office/drawing/2014/main" id="{649057C8-2923-444A-A944-890EB8B2AC3B}"/>
                </a:ext>
              </a:extLst>
            </p:cNvPr>
            <p:cNvSpPr/>
            <p:nvPr/>
          </p:nvSpPr>
          <p:spPr>
            <a:xfrm>
              <a:off x="4207017" y="2666242"/>
              <a:ext cx="803441" cy="388739"/>
            </a:xfrm>
            <a:prstGeom prst="leftRightArrow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2918334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Bitwise Operator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56898D6-63A2-40DE-B372-19663B02CAB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932040" y="1037172"/>
            <a:ext cx="3974391" cy="2994788"/>
          </a:xfrm>
          <a:prstGeom prst="rect">
            <a:avLst/>
          </a:prstGeom>
        </p:spPr>
      </p:pic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7E8386D0-0392-439E-8968-3D2F75077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3028366"/>
              </p:ext>
            </p:extLst>
          </p:nvPr>
        </p:nvGraphicFramePr>
        <p:xfrm>
          <a:off x="4960113" y="4509120"/>
          <a:ext cx="3672408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9955">
                  <a:extLst>
                    <a:ext uri="{9D8B030D-6E8A-4147-A177-3AD203B41FA5}">
                      <a16:colId xmlns:a16="http://schemas.microsoft.com/office/drawing/2014/main" val="3027008470"/>
                    </a:ext>
                  </a:extLst>
                </a:gridCol>
                <a:gridCol w="909955">
                  <a:extLst>
                    <a:ext uri="{9D8B030D-6E8A-4147-A177-3AD203B41FA5}">
                      <a16:colId xmlns:a16="http://schemas.microsoft.com/office/drawing/2014/main" val="1066383212"/>
                    </a:ext>
                  </a:extLst>
                </a:gridCol>
                <a:gridCol w="668655">
                  <a:extLst>
                    <a:ext uri="{9D8B030D-6E8A-4147-A177-3AD203B41FA5}">
                      <a16:colId xmlns:a16="http://schemas.microsoft.com/office/drawing/2014/main" val="2173055837"/>
                    </a:ext>
                  </a:extLst>
                </a:gridCol>
                <a:gridCol w="517842">
                  <a:extLst>
                    <a:ext uri="{9D8B030D-6E8A-4147-A177-3AD203B41FA5}">
                      <a16:colId xmlns:a16="http://schemas.microsoft.com/office/drawing/2014/main" val="3647342949"/>
                    </a:ext>
                  </a:extLst>
                </a:gridCol>
                <a:gridCol w="666001">
                  <a:extLst>
                    <a:ext uri="{9D8B030D-6E8A-4147-A177-3AD203B41FA5}">
                      <a16:colId xmlns:a16="http://schemas.microsoft.com/office/drawing/2014/main" val="2663353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Input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Input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XOR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093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084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308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4459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04392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00DC9A3-4D39-4090-BCB6-2D3E2D15BE14}"/>
              </a:ext>
            </a:extLst>
          </p:cNvPr>
          <p:cNvSpPr txBox="1"/>
          <p:nvPr/>
        </p:nvSpPr>
        <p:spPr>
          <a:xfrm>
            <a:off x="4860032" y="4139788"/>
            <a:ext cx="1253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Truth 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D27E7F-DD64-4052-858A-7B4286C71E5C}"/>
              </a:ext>
            </a:extLst>
          </p:cNvPr>
          <p:cNvSpPr txBox="1"/>
          <p:nvPr/>
        </p:nvSpPr>
        <p:spPr>
          <a:xfrm>
            <a:off x="315665" y="1037172"/>
            <a:ext cx="432048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GB" sz="2400" dirty="0"/>
              <a:t>Single bit operations.</a:t>
            </a:r>
          </a:p>
          <a:p>
            <a:pPr marL="285750" indent="-285750">
              <a:buFontTx/>
              <a:buChar char="-"/>
            </a:pPr>
            <a:r>
              <a:rPr lang="en-GB" sz="2400" dirty="0"/>
              <a:t>1 bit only has binary (2) states.</a:t>
            </a:r>
          </a:p>
          <a:p>
            <a:pPr marL="742950" lvl="1" indent="-285750">
              <a:buFontTx/>
              <a:buChar char="-"/>
            </a:pPr>
            <a:r>
              <a:rPr lang="en-GB" sz="2400" dirty="0"/>
              <a:t>0 (FALSE) or 1 (TRUE).</a:t>
            </a:r>
          </a:p>
          <a:p>
            <a:pPr marL="285750" indent="-285750">
              <a:buFontTx/>
              <a:buChar char="-"/>
            </a:pPr>
            <a:r>
              <a:rPr lang="en-GB" sz="2400" dirty="0"/>
              <a:t>NOT inverts states, i.e. 1 → 0 and 0 → 1.</a:t>
            </a:r>
          </a:p>
          <a:p>
            <a:pPr marL="285750" indent="-285750">
              <a:buFontTx/>
              <a:buChar char="-"/>
            </a:pPr>
            <a:r>
              <a:rPr lang="en-GB" sz="2400" dirty="0"/>
              <a:t>Refer to the Truth Table for the possible states.</a:t>
            </a:r>
          </a:p>
          <a:p>
            <a:pPr marL="285750" indent="-285750">
              <a:buFontTx/>
              <a:buChar char="-"/>
            </a:pPr>
            <a:r>
              <a:rPr lang="en-GB" sz="2400" dirty="0"/>
              <a:t>SHL refers to shift left operation:</a:t>
            </a:r>
          </a:p>
          <a:p>
            <a:pPr marL="742950" lvl="1" indent="-285750">
              <a:buFontTx/>
              <a:buChar char="-"/>
            </a:pPr>
            <a:r>
              <a:rPr lang="en-GB" sz="2400" dirty="0"/>
              <a:t>001 → 010.</a:t>
            </a:r>
          </a:p>
          <a:p>
            <a:pPr marL="285750" indent="-285750">
              <a:buFontTx/>
              <a:buChar char="-"/>
            </a:pPr>
            <a:r>
              <a:rPr lang="en-GB" sz="2400" dirty="0"/>
              <a:t>SHR refers to shift right operation:</a:t>
            </a:r>
          </a:p>
          <a:p>
            <a:pPr marL="742950" lvl="1" indent="-285750">
              <a:buFontTx/>
              <a:buChar char="-"/>
            </a:pPr>
            <a:r>
              <a:rPr lang="en-GB" sz="2400" dirty="0"/>
              <a:t>110 → 011.</a:t>
            </a:r>
          </a:p>
        </p:txBody>
      </p:sp>
    </p:spTree>
    <p:extLst>
      <p:ext uri="{BB962C8B-B14F-4D97-AF65-F5344CB8AC3E}">
        <p14:creationId xmlns:p14="http://schemas.microsoft.com/office/powerpoint/2010/main" val="3417761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 Casting Operator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8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1E99E592-7D35-4E24-82DD-C45DF7333605}"/>
              </a:ext>
            </a:extLst>
          </p:cNvPr>
          <p:cNvGrpSpPr/>
          <p:nvPr/>
        </p:nvGrpSpPr>
        <p:grpSpPr>
          <a:xfrm>
            <a:off x="304800" y="1219200"/>
            <a:ext cx="8363976" cy="5105400"/>
            <a:chOff x="304800" y="1219200"/>
            <a:chExt cx="8363976" cy="5105400"/>
          </a:xfrm>
        </p:grpSpPr>
        <p:sp>
          <p:nvSpPr>
            <p:cNvPr id="27" name="Rectangle 3">
              <a:extLst>
                <a:ext uri="{FF2B5EF4-FFF2-40B4-BE49-F238E27FC236}">
                  <a16:creationId xmlns:a16="http://schemas.microsoft.com/office/drawing/2014/main" id="{3CA3EBE7-0F44-4544-9186-5E089F006D8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04800" y="1219200"/>
              <a:ext cx="8294688" cy="51054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Operations are performed between operands of the same type.</a:t>
              </a:r>
            </a:p>
            <a:p>
              <a:pPr>
                <a:spcBef>
                  <a:spcPct val="50000"/>
                </a:spcBef>
              </a:pP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If not of the same type, C++ will convert one to be the type of the other</a:t>
              </a:r>
            </a:p>
            <a:p>
              <a:pPr>
                <a:spcBef>
                  <a:spcPct val="50000"/>
                </a:spcBef>
              </a:pP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This can impact the results of calculations.</a:t>
              </a:r>
            </a:p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dirty="0" err="1">
                  <a:latin typeface="Arial" charset="0"/>
                  <a:ea typeface="ヒラギノ角ゴ Pro W3" charset="0"/>
                  <a:cs typeface="Arial" charset="0"/>
                </a:rPr>
                <a:t>e.g</a:t>
              </a: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:	float a=10.0;</a:t>
              </a:r>
            </a:p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		int b=4; </a:t>
              </a:r>
            </a:p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   		int c=a/b;</a:t>
              </a:r>
            </a:p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</a:pPr>
              <a:endParaRPr lang="en-US" dirty="0">
                <a:latin typeface="Arial" charset="0"/>
                <a:ea typeface="ヒラギノ角ゴ Pro W3" charset="0"/>
                <a:cs typeface="Arial" charset="0"/>
              </a:endParaRPr>
            </a:p>
          </p:txBody>
        </p:sp>
        <p:sp>
          <p:nvSpPr>
            <p:cNvPr id="4" name="Arrow: Left 3">
              <a:extLst>
                <a:ext uri="{FF2B5EF4-FFF2-40B4-BE49-F238E27FC236}">
                  <a16:creationId xmlns:a16="http://schemas.microsoft.com/office/drawing/2014/main" id="{C567D82E-B30B-485D-B997-96B303418452}"/>
                </a:ext>
              </a:extLst>
            </p:cNvPr>
            <p:cNvSpPr/>
            <p:nvPr/>
          </p:nvSpPr>
          <p:spPr>
            <a:xfrm>
              <a:off x="3275856" y="5661248"/>
              <a:ext cx="2016224" cy="288032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ED86B28-91C7-4D87-AD53-6383F6E034BA}"/>
                </a:ext>
              </a:extLst>
            </p:cNvPr>
            <p:cNvSpPr txBox="1"/>
            <p:nvPr/>
          </p:nvSpPr>
          <p:spPr>
            <a:xfrm>
              <a:off x="5436096" y="5517232"/>
              <a:ext cx="323268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u="sng" dirty="0">
                  <a:solidFill>
                    <a:srgbClr val="FF0000"/>
                  </a:solidFill>
                </a:rPr>
                <a:t>c = 2 </a:t>
              </a:r>
              <a:r>
                <a:rPr lang="en-GB" dirty="0">
                  <a:solidFill>
                    <a:srgbClr val="FF0000"/>
                  </a:solidFill>
                </a:rPr>
                <a:t>instead of c = 2.5 due to c</a:t>
              </a:r>
            </a:p>
            <a:p>
              <a:r>
                <a:rPr lang="en-GB" dirty="0">
                  <a:solidFill>
                    <a:srgbClr val="FF0000"/>
                  </a:solidFill>
                </a:rPr>
                <a:t>being an integer instead of float.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3838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Precedence of Operators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9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A44588-9A2B-48BB-94F6-E8784E1CD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1150549"/>
            <a:ext cx="6257925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074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 on C++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10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4" y="1412776"/>
            <a:ext cx="69532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Operators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https://cplusplus.com/doc/tutorial/operators/</a:t>
            </a:r>
            <a:r>
              <a:rPr lang="en-AU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1746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Western Sydney University 1">
      <a:dk1>
        <a:srgbClr val="000000"/>
      </a:dk1>
      <a:lt1>
        <a:srgbClr val="FFFFFF"/>
      </a:lt1>
      <a:dk2>
        <a:srgbClr val="A31E34"/>
      </a:dk2>
      <a:lt2>
        <a:srgbClr val="EBBCBB"/>
      </a:lt2>
      <a:accent1>
        <a:srgbClr val="FE7073"/>
      </a:accent1>
      <a:accent2>
        <a:srgbClr val="F6303D"/>
      </a:accent2>
      <a:accent3>
        <a:srgbClr val="5A2A82"/>
      </a:accent3>
      <a:accent4>
        <a:srgbClr val="027199"/>
      </a:accent4>
      <a:accent5>
        <a:srgbClr val="BA7FD1"/>
      </a:accent5>
      <a:accent6>
        <a:srgbClr val="FF7D7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DA8831222F7F429E91A5940D24EC36" ma:contentTypeVersion="9" ma:contentTypeDescription="Create a new document." ma:contentTypeScope="" ma:versionID="69a1100f0e56a8e127be49eaff528aeb">
  <xsd:schema xmlns:xsd="http://www.w3.org/2001/XMLSchema" xmlns:xs="http://www.w3.org/2001/XMLSchema" xmlns:p="http://schemas.microsoft.com/office/2006/metadata/properties" xmlns:ns2="e124fe43-fe43-4e84-9ab8-c599e4fe2b7b" targetNamespace="http://schemas.microsoft.com/office/2006/metadata/properties" ma:root="true" ma:fieldsID="2887b4d00811a70124b3fd627d73fca2" ns2:_="">
    <xsd:import namespace="e124fe43-fe43-4e84-9ab8-c599e4fe2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4fe43-fe43-4e84-9ab8-c599e4fe2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41F00FC-198B-4F48-AA75-D5169587411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77937E-C79E-4A1F-8E9A-6261053032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24fe43-fe43-4e84-9ab8-c599e4fe2b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00E0FAC-99B3-4BC2-9B94-D4BA68F4A1E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26485</TotalTime>
  <Words>544</Words>
  <Application>Microsoft Office PowerPoint</Application>
  <PresentationFormat>On-screen Show (4:3)</PresentationFormat>
  <Paragraphs>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Arial</vt:lpstr>
      <vt:lpstr>Arial Black</vt:lpstr>
      <vt:lpstr>Calibri</vt:lpstr>
      <vt:lpstr>Chronicle Text G1</vt:lpstr>
      <vt:lpstr>Chronicle Text G1 Roman</vt:lpstr>
      <vt:lpstr>Gotham Narrow</vt:lpstr>
      <vt:lpstr>Gotham Narrow Bold</vt:lpstr>
      <vt:lpstr>Gotham Narrow Book</vt:lpstr>
      <vt:lpstr>Gotham Narrow Light</vt:lpstr>
      <vt:lpstr>Office Theme</vt:lpstr>
      <vt:lpstr>1_Office Theme</vt:lpstr>
      <vt:lpstr>Other Common Operators</vt:lpstr>
      <vt:lpstr>Operators</vt:lpstr>
      <vt:lpstr>Relational and Equality Operators</vt:lpstr>
      <vt:lpstr>Logical Operators</vt:lpstr>
      <vt:lpstr>Conditional Operator</vt:lpstr>
      <vt:lpstr>Comma Operator</vt:lpstr>
      <vt:lpstr>Bitwise Operator</vt:lpstr>
      <vt:lpstr>Type Casting Operator</vt:lpstr>
      <vt:lpstr>Precedence of Operators</vt:lpstr>
      <vt:lpstr>More info on C++</vt:lpstr>
    </vt:vector>
  </TitlesOfParts>
  <Company>University of Western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2 - Other Common Operators</dc:title>
  <dc:creator>Ram Singh</dc:creator>
  <cp:lastModifiedBy>Upul Gunawardana</cp:lastModifiedBy>
  <cp:revision>504</cp:revision>
  <dcterms:created xsi:type="dcterms:W3CDTF">2018-02-26T21:48:17Z</dcterms:created>
  <dcterms:modified xsi:type="dcterms:W3CDTF">2022-05-19T14:58:03Z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0x01010010DA8831222F7F429E91A5940D24EC36</vt:lpwstr>
  </property>
</Properties>
</file>