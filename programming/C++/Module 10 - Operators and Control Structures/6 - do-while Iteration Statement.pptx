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296" r:id="rId8"/>
    <p:sldId id="299" r:id="rId9"/>
    <p:sldId id="300" r:id="rId10"/>
    <p:sldId id="301" r:id="rId11"/>
    <p:sldId id="292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 varScale="1">
        <p:scale>
          <a:sx n="93" d="100"/>
          <a:sy n="93" d="100"/>
        </p:scale>
        <p:origin x="84" y="2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F39DAD26-2813-4823-AC97-FA9186000A30}"/>
    <pc:docChg chg="modSld">
      <pc:chgData name="Upul Gunawardana" userId="d78f31a5-8ae7-4659-910b-ce777cc612cd" providerId="ADAL" clId="{F39DAD26-2813-4823-AC97-FA9186000A30}" dt="2022-05-19T15:03:11.505" v="7" actId="20577"/>
      <pc:docMkLst>
        <pc:docMk/>
      </pc:docMkLst>
      <pc:sldChg chg="modSp mod">
        <pc:chgData name="Upul Gunawardana" userId="d78f31a5-8ae7-4659-910b-ce777cc612cd" providerId="ADAL" clId="{F39DAD26-2813-4823-AC97-FA9186000A30}" dt="2022-05-19T15:03:11.505" v="7" actId="20577"/>
        <pc:sldMkLst>
          <pc:docMk/>
          <pc:sldMk cId="120957276" sldId="275"/>
        </pc:sldMkLst>
        <pc:spChg chg="mod">
          <ac:chgData name="Upul Gunawardana" userId="d78f31a5-8ae7-4659-910b-ce777cc612cd" providerId="ADAL" clId="{F39DAD26-2813-4823-AC97-FA9186000A30}" dt="2022-05-19T15:03:11.505" v="7" actId="20577"/>
          <ac:spMkLst>
            <pc:docMk/>
            <pc:sldMk cId="120957276" sldId="275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5/20/2022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plusplus.com/doc/tutorial/control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earncpp.com/cpp-tutorial/56-do-while-statement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i="1" dirty="0"/>
              <a:t>do-while</a:t>
            </a:r>
            <a:br>
              <a:rPr lang="en-GB" sz="4400" i="1" dirty="0"/>
            </a:br>
            <a:r>
              <a:rPr lang="en-GB" sz="4400" dirty="0"/>
              <a:t>Iteration Statement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</a:t>
            </a:r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Iteration Statement (loops)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0CBE3C3-C788-4CA0-917E-52C5600FFBD0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Loops are used to repeat a statement a certain number of times when a condition is met.</a:t>
            </a:r>
          </a:p>
          <a:p>
            <a:r>
              <a:rPr lang="en-AU" dirty="0"/>
              <a:t>There are three types of loops:</a:t>
            </a:r>
          </a:p>
          <a:p>
            <a:pPr lvl="1"/>
            <a:r>
              <a:rPr lang="en-AU" i="1" dirty="0">
                <a:solidFill>
                  <a:srgbClr val="7030A0"/>
                </a:solidFill>
              </a:rPr>
              <a:t>while</a:t>
            </a:r>
            <a:r>
              <a:rPr lang="en-AU" dirty="0"/>
              <a:t> loop.</a:t>
            </a:r>
            <a:endParaRPr lang="en-AU" b="1" dirty="0"/>
          </a:p>
          <a:p>
            <a:pPr lvl="1"/>
            <a:r>
              <a:rPr lang="en-AU" i="1" dirty="0">
                <a:solidFill>
                  <a:srgbClr val="7030A0"/>
                </a:solidFill>
              </a:rPr>
              <a:t>do-while</a:t>
            </a:r>
            <a:r>
              <a:rPr lang="en-AU" dirty="0"/>
              <a:t> loop. </a:t>
            </a:r>
            <a:r>
              <a:rPr lang="en-AU" b="1" dirty="0"/>
              <a:t>←</a:t>
            </a:r>
            <a:endParaRPr lang="en-AU" dirty="0"/>
          </a:p>
          <a:p>
            <a:pPr lvl="1"/>
            <a:r>
              <a:rPr lang="en-AU" i="1" dirty="0">
                <a:solidFill>
                  <a:srgbClr val="7030A0"/>
                </a:solidFill>
              </a:rPr>
              <a:t>for</a:t>
            </a:r>
            <a:r>
              <a:rPr lang="en-AU" dirty="0"/>
              <a:t> loop.</a:t>
            </a:r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do-while</a:t>
            </a:r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Loop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7BD5ADC-76D3-45DB-A63D-CBCEE75890A5}"/>
              </a:ext>
            </a:extLst>
          </p:cNvPr>
          <p:cNvGrpSpPr/>
          <p:nvPr/>
        </p:nvGrpSpPr>
        <p:grpSpPr>
          <a:xfrm>
            <a:off x="365922" y="999622"/>
            <a:ext cx="8320878" cy="5741746"/>
            <a:chOff x="365922" y="999622"/>
            <a:chExt cx="8320878" cy="5741746"/>
          </a:xfrm>
        </p:grpSpPr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883D9F2D-AD85-4B57-86C1-80960D4A9DD4}"/>
                </a:ext>
              </a:extLst>
            </p:cNvPr>
            <p:cNvSpPr txBox="1">
              <a:spLocks/>
            </p:cNvSpPr>
            <p:nvPr/>
          </p:nvSpPr>
          <p:spPr>
            <a:xfrm>
              <a:off x="365922" y="999622"/>
              <a:ext cx="8320878" cy="12820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55000" lnSpcReduction="20000"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AU" sz="3800" dirty="0"/>
                <a:t>The format is:</a:t>
              </a:r>
            </a:p>
            <a:p>
              <a:pPr marL="457200" lvl="1" indent="0">
                <a:buNone/>
              </a:pPr>
              <a:r>
                <a:rPr lang="en-AU" sz="3800" i="1" dirty="0">
                  <a:solidFill>
                    <a:srgbClr val="7030A0"/>
                  </a:solidFill>
                </a:rPr>
                <a:t>do</a:t>
              </a:r>
              <a:r>
                <a:rPr lang="en-AU" sz="3800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r>
                <a:rPr lang="en-AU" sz="3800" dirty="0"/>
                <a:t>{ </a:t>
              </a:r>
              <a:r>
                <a:rPr lang="en-AU" sz="3800" dirty="0">
                  <a:solidFill>
                    <a:schemeClr val="accent2">
                      <a:lumMod val="75000"/>
                    </a:schemeClr>
                  </a:solidFill>
                </a:rPr>
                <a:t>statements </a:t>
              </a:r>
              <a:r>
                <a:rPr lang="en-AU" sz="3800" dirty="0"/>
                <a:t>}</a:t>
              </a:r>
              <a:r>
                <a:rPr lang="en-AU" sz="3800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r>
                <a:rPr lang="en-AU" sz="3800" i="1" dirty="0">
                  <a:solidFill>
                    <a:srgbClr val="7030A0"/>
                  </a:solidFill>
                </a:rPr>
                <a:t>while</a:t>
              </a:r>
              <a:r>
                <a:rPr lang="en-AU" sz="3800" dirty="0">
                  <a:solidFill>
                    <a:schemeClr val="accent2">
                      <a:lumMod val="75000"/>
                    </a:schemeClr>
                  </a:solidFill>
                </a:rPr>
                <a:t> (expression or condition);</a:t>
              </a:r>
            </a:p>
            <a:p>
              <a:pPr marL="444500" lvl="1" indent="-444500">
                <a:buFont typeface="Arial" panose="020B0604020202020204" pitchFamily="34" charset="0"/>
                <a:buChar char="•"/>
              </a:pPr>
              <a:r>
                <a:rPr lang="en-AU" sz="3800" dirty="0"/>
                <a:t>Only difference with the </a:t>
              </a:r>
              <a:r>
                <a:rPr lang="en-AU" sz="3800" i="1" dirty="0">
                  <a:solidFill>
                    <a:srgbClr val="7030A0"/>
                  </a:solidFill>
                </a:rPr>
                <a:t>while</a:t>
              </a:r>
              <a:r>
                <a:rPr lang="en-AU" sz="3800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r>
                <a:rPr lang="en-AU" sz="3800" dirty="0"/>
                <a:t>statement</a:t>
              </a:r>
              <a:r>
                <a:rPr lang="en-AU" sz="3800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r>
                <a:rPr lang="en-AU" sz="3800" dirty="0"/>
                <a:t>is that </a:t>
              </a:r>
              <a:r>
                <a:rPr lang="en-AU" sz="3800" i="1" dirty="0">
                  <a:solidFill>
                    <a:srgbClr val="7030A0"/>
                  </a:solidFill>
                </a:rPr>
                <a:t>do-while</a:t>
              </a:r>
              <a:r>
                <a:rPr lang="en-AU" sz="3800" dirty="0"/>
                <a:t> evaluates the condition </a:t>
              </a:r>
              <a:r>
                <a:rPr lang="en-AU" sz="3800" dirty="0">
                  <a:solidFill>
                    <a:srgbClr val="FF0000"/>
                  </a:solidFill>
                </a:rPr>
                <a:t>after executing </a:t>
              </a:r>
              <a:r>
                <a:rPr lang="en-AU" sz="3800" dirty="0"/>
                <a:t>the statements.</a:t>
              </a:r>
            </a:p>
            <a:p>
              <a:pPr marL="457200" lvl="1" indent="0">
                <a:buFont typeface="Arial"/>
                <a:buNone/>
              </a:pPr>
              <a:endParaRPr lang="en-AU" sz="2400" dirty="0"/>
            </a:p>
          </p:txBody>
        </p:sp>
        <p:pic>
          <p:nvPicPr>
            <p:cNvPr id="11" name="Picture 3" descr="0506sowc copy">
              <a:extLst>
                <a:ext uri="{FF2B5EF4-FFF2-40B4-BE49-F238E27FC236}">
                  <a16:creationId xmlns:a16="http://schemas.microsoft.com/office/drawing/2014/main" id="{CDFA123D-7B70-48D9-9E56-4448B2547E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2658" y="2721333"/>
              <a:ext cx="2727665" cy="402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11" descr="0501sowc copy">
              <a:extLst>
                <a:ext uri="{FF2B5EF4-FFF2-40B4-BE49-F238E27FC236}">
                  <a16:creationId xmlns:a16="http://schemas.microsoft.com/office/drawing/2014/main" id="{568EB69E-099C-4A34-A798-8B5E0DB577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09782" y="3954661"/>
              <a:ext cx="2810448" cy="2208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B4015DA-325F-4117-816D-1D2F104D3D61}"/>
                </a:ext>
              </a:extLst>
            </p:cNvPr>
            <p:cNvSpPr txBox="1"/>
            <p:nvPr/>
          </p:nvSpPr>
          <p:spPr>
            <a:xfrm>
              <a:off x="6054330" y="3423499"/>
              <a:ext cx="22413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i="1" dirty="0">
                  <a:solidFill>
                    <a:srgbClr val="7030A0"/>
                  </a:solidFill>
                </a:rPr>
                <a:t>while</a:t>
              </a:r>
              <a:r>
                <a:rPr lang="en-AU" sz="2400" dirty="0"/>
                <a:t> Loop Logic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52DD574-D06B-4BEC-8506-50E96C9F4967}"/>
                </a:ext>
              </a:extLst>
            </p:cNvPr>
            <p:cNvSpPr txBox="1"/>
            <p:nvPr/>
          </p:nvSpPr>
          <p:spPr>
            <a:xfrm>
              <a:off x="1173074" y="2284861"/>
              <a:ext cx="26532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i="1" dirty="0">
                  <a:solidFill>
                    <a:srgbClr val="7030A0"/>
                  </a:solidFill>
                </a:rPr>
                <a:t>do-while</a:t>
              </a:r>
              <a:r>
                <a:rPr lang="en-AU" sz="2400" dirty="0"/>
                <a:t> Loop Logic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705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B16C31-2346-4203-A605-844A500792FD}"/>
              </a:ext>
            </a:extLst>
          </p:cNvPr>
          <p:cNvSpPr/>
          <p:nvPr/>
        </p:nvSpPr>
        <p:spPr>
          <a:xfrm>
            <a:off x="1187624" y="1351508"/>
            <a:ext cx="657059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srgbClr val="00B050"/>
                </a:solidFill>
              </a:rPr>
              <a:t>// Number echo</a:t>
            </a:r>
          </a:p>
          <a:p>
            <a:r>
              <a:rPr lang="en-AU" sz="2000" dirty="0"/>
              <a:t>#include &lt;</a:t>
            </a:r>
            <a:r>
              <a:rPr lang="en-AU" sz="2000" dirty="0" err="1"/>
              <a:t>iostream</a:t>
            </a:r>
            <a:r>
              <a:rPr lang="en-AU" sz="2000" dirty="0"/>
              <a:t>&gt;</a:t>
            </a:r>
          </a:p>
          <a:p>
            <a:r>
              <a:rPr lang="en-AU" sz="2000" dirty="0"/>
              <a:t>using namespace </a:t>
            </a:r>
            <a:r>
              <a:rPr lang="en-AU" sz="2000" dirty="0" err="1"/>
              <a:t>std</a:t>
            </a:r>
            <a:r>
              <a:rPr lang="en-AU" sz="2000" dirty="0"/>
              <a:t>;</a:t>
            </a:r>
          </a:p>
          <a:p>
            <a:r>
              <a:rPr lang="en-AU" sz="2000" dirty="0" err="1"/>
              <a:t>int</a:t>
            </a:r>
            <a:r>
              <a:rPr lang="en-AU" sz="2000" dirty="0"/>
              <a:t> main ()</a:t>
            </a:r>
          </a:p>
          <a:p>
            <a:r>
              <a:rPr lang="en-AU" sz="2000" dirty="0"/>
              <a:t>{</a:t>
            </a:r>
          </a:p>
          <a:p>
            <a:r>
              <a:rPr lang="en-AU" sz="2000" dirty="0"/>
              <a:t>	unsigned long n;</a:t>
            </a:r>
          </a:p>
          <a:p>
            <a:r>
              <a:rPr lang="es-ES_tradnl" sz="2000" dirty="0"/>
              <a:t>	</a:t>
            </a:r>
            <a:r>
              <a:rPr lang="es-ES_tradnl" sz="2000" dirty="0">
                <a:solidFill>
                  <a:srgbClr val="7030A0"/>
                </a:solidFill>
              </a:rPr>
              <a:t>do</a:t>
            </a:r>
            <a:r>
              <a:rPr lang="es-ES_tradnl" sz="2000" dirty="0"/>
              <a:t> {</a:t>
            </a:r>
          </a:p>
          <a:p>
            <a:r>
              <a:rPr lang="es-ES_tradnl" sz="2000" dirty="0"/>
              <a:t>		</a:t>
            </a:r>
            <a:r>
              <a:rPr lang="es-ES_tradnl" sz="2000" dirty="0" err="1"/>
              <a:t>cout</a:t>
            </a:r>
            <a:r>
              <a:rPr lang="es-ES_tradnl" sz="2000" dirty="0"/>
              <a:t> &lt;&lt; "</a:t>
            </a:r>
            <a:r>
              <a:rPr lang="es-ES_tradnl" sz="2000" dirty="0" err="1"/>
              <a:t>Enter</a:t>
            </a:r>
            <a:r>
              <a:rPr lang="es-ES_tradnl" sz="2000" dirty="0"/>
              <a:t> </a:t>
            </a:r>
            <a:r>
              <a:rPr lang="es-ES_tradnl" sz="2000" dirty="0" err="1"/>
              <a:t>number</a:t>
            </a:r>
            <a:r>
              <a:rPr lang="es-ES_tradnl" sz="2000" dirty="0"/>
              <a:t> (0 </a:t>
            </a:r>
            <a:r>
              <a:rPr lang="es-ES_tradnl" sz="2000" dirty="0" err="1"/>
              <a:t>to</a:t>
            </a:r>
            <a:r>
              <a:rPr lang="es-ES_tradnl" sz="2000" dirty="0"/>
              <a:t> </a:t>
            </a:r>
            <a:r>
              <a:rPr lang="es-ES_tradnl" sz="2000" dirty="0" err="1"/>
              <a:t>end</a:t>
            </a:r>
            <a:r>
              <a:rPr lang="es-ES_tradnl" sz="2000" dirty="0"/>
              <a:t>): ";</a:t>
            </a:r>
          </a:p>
          <a:p>
            <a:r>
              <a:rPr lang="es-ES_tradnl" sz="2000" dirty="0"/>
              <a:t>		</a:t>
            </a:r>
            <a:r>
              <a:rPr lang="es-ES_tradnl" sz="2000" dirty="0" err="1"/>
              <a:t>cin</a:t>
            </a:r>
            <a:r>
              <a:rPr lang="es-ES_tradnl" sz="2000" dirty="0"/>
              <a:t> &gt;&gt; n;</a:t>
            </a:r>
          </a:p>
          <a:p>
            <a:r>
              <a:rPr lang="en-US" sz="2000" dirty="0"/>
              <a:t>		</a:t>
            </a:r>
            <a:r>
              <a:rPr lang="en-US" sz="2000" dirty="0" err="1"/>
              <a:t>cout</a:t>
            </a:r>
            <a:r>
              <a:rPr lang="en-US" sz="2000" dirty="0"/>
              <a:t> &lt;&lt; "You entered: " &lt;&lt; n &lt;&lt; "\n";</a:t>
            </a:r>
          </a:p>
          <a:p>
            <a:r>
              <a:rPr lang="en-US" sz="2000" dirty="0"/>
              <a:t>	} </a:t>
            </a:r>
            <a:r>
              <a:rPr lang="en-US" sz="2000" dirty="0">
                <a:solidFill>
                  <a:srgbClr val="7030A0"/>
                </a:solidFill>
              </a:rPr>
              <a:t>while</a:t>
            </a:r>
            <a:r>
              <a:rPr lang="en-US" sz="2000" dirty="0"/>
              <a:t> (n != 0)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;  </a:t>
            </a:r>
            <a:r>
              <a:rPr lang="en-US" sz="2000" dirty="0">
                <a:solidFill>
                  <a:srgbClr val="FFFF00"/>
                </a:solidFill>
              </a:rPr>
              <a:t>	</a:t>
            </a:r>
            <a:r>
              <a:rPr lang="en-US" sz="2000" dirty="0">
                <a:solidFill>
                  <a:srgbClr val="00B050"/>
                </a:solidFill>
              </a:rPr>
              <a:t>// Must use ;</a:t>
            </a:r>
            <a:endParaRPr lang="en-US" sz="2400" dirty="0">
              <a:solidFill>
                <a:srgbClr val="00B050"/>
              </a:solidFill>
            </a:endParaRPr>
          </a:p>
          <a:p>
            <a:r>
              <a:rPr lang="en-US" sz="2000" dirty="0"/>
              <a:t>	</a:t>
            </a:r>
          </a:p>
          <a:p>
            <a:r>
              <a:rPr lang="en-US" sz="2000" dirty="0"/>
              <a:t>	return 0;</a:t>
            </a:r>
          </a:p>
          <a:p>
            <a:r>
              <a:rPr lang="en-US" sz="2000" dirty="0"/>
              <a:t>}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895305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Notes on </a:t>
            </a:r>
            <a:r>
              <a:rPr lang="en-AU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do-while</a:t>
            </a:r>
            <a:endParaRPr lang="en-GB" b="1" i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3B619F47-E520-4490-9626-165187F327DF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Loop always executes at least once.</a:t>
            </a:r>
          </a:p>
          <a:p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Execution continues as long as the </a:t>
            </a:r>
            <a:r>
              <a:rPr lang="en-US" i="1" dirty="0">
                <a:latin typeface="Courier New" charset="0"/>
                <a:ea typeface="ヒラギノ角ゴ Pro W3" charset="0"/>
                <a:cs typeface="Arial" charset="0"/>
              </a:rPr>
              <a:t>expression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is </a:t>
            </a: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true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and stops the repetition when the </a:t>
            </a:r>
            <a:r>
              <a:rPr lang="en-US" i="1" dirty="0">
                <a:latin typeface="Courier New" charset="0"/>
                <a:ea typeface="ヒラギノ角ゴ Pro W3" charset="0"/>
                <a:cs typeface="Arial" charset="0"/>
              </a:rPr>
              <a:t>expression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becomes </a:t>
            </a: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false.</a:t>
            </a:r>
            <a:endParaRPr lang="en-US" dirty="0">
              <a:latin typeface="Arial" charset="0"/>
              <a:ea typeface="ヒラギノ角ゴ Pro W3" charset="0"/>
              <a:cs typeface="Arial" charset="0"/>
            </a:endParaRPr>
          </a:p>
          <a:p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Useful in menu-driven programs to bring user back to menu to make another choice.</a:t>
            </a:r>
          </a:p>
        </p:txBody>
      </p:sp>
    </p:spTree>
    <p:extLst>
      <p:ext uri="{BB962C8B-B14F-4D97-AF65-F5344CB8AC3E}">
        <p14:creationId xmlns:p14="http://schemas.microsoft.com/office/powerpoint/2010/main" val="493071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Menu –driven Program</a:t>
            </a:r>
            <a:endParaRPr lang="en-GB" b="1" i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F3981083-56B1-460A-8066-8DC6BC873924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196752"/>
            <a:ext cx="8587680" cy="5400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600" dirty="0"/>
              <a:t>#include &lt;iostream&gt;</a:t>
            </a:r>
          </a:p>
          <a:p>
            <a:pPr marL="0" indent="0">
              <a:buNone/>
            </a:pPr>
            <a:endParaRPr lang="en-AU" sz="1600" dirty="0"/>
          </a:p>
          <a:p>
            <a:pPr marL="0" indent="0">
              <a:buNone/>
            </a:pPr>
            <a:r>
              <a:rPr lang="en-AU" sz="1600" dirty="0"/>
              <a:t>using namespace std;</a:t>
            </a:r>
          </a:p>
          <a:p>
            <a:pPr marL="0" indent="0">
              <a:buNone/>
            </a:pPr>
            <a:r>
              <a:rPr lang="en-AU" sz="1600" dirty="0"/>
              <a:t> </a:t>
            </a:r>
          </a:p>
          <a:p>
            <a:pPr marL="0" indent="0">
              <a:buNone/>
            </a:pPr>
            <a:r>
              <a:rPr lang="en-AU" sz="1600" dirty="0"/>
              <a:t>int main()</a:t>
            </a:r>
          </a:p>
          <a:p>
            <a:pPr marL="0" indent="0">
              <a:buNone/>
            </a:pPr>
            <a:r>
              <a:rPr lang="en-AU" sz="1600" dirty="0"/>
              <a:t>{</a:t>
            </a:r>
          </a:p>
          <a:p>
            <a:pPr marL="0" indent="0">
              <a:buNone/>
            </a:pPr>
            <a:r>
              <a:rPr lang="en-AU" sz="1600" dirty="0"/>
              <a:t>	int selection;	</a:t>
            </a:r>
            <a:r>
              <a:rPr lang="en-AU" sz="1600" dirty="0">
                <a:solidFill>
                  <a:srgbClr val="00B050"/>
                </a:solidFill>
              </a:rPr>
              <a:t>// Selection variable</a:t>
            </a:r>
          </a:p>
          <a:p>
            <a:pPr marL="0" indent="0">
              <a:buNone/>
            </a:pPr>
            <a:r>
              <a:rPr lang="en-AU" sz="1600" dirty="0"/>
              <a:t> </a:t>
            </a:r>
          </a:p>
          <a:p>
            <a:pPr marL="0" indent="0">
              <a:buNone/>
            </a:pPr>
            <a:r>
              <a:rPr lang="en-AU" sz="1600" dirty="0"/>
              <a:t>	do {</a:t>
            </a:r>
          </a:p>
          <a:p>
            <a:pPr marL="0" indent="0">
              <a:buNone/>
            </a:pPr>
            <a:r>
              <a:rPr lang="en-AU" sz="1600" dirty="0"/>
              <a:t>	   </a:t>
            </a:r>
            <a:r>
              <a:rPr lang="en-AU" sz="1600" dirty="0" err="1"/>
              <a:t>cout</a:t>
            </a:r>
            <a:r>
              <a:rPr lang="en-AU" sz="1600" dirty="0"/>
              <a:t> &lt;&lt; "Please make a selection: \n";	</a:t>
            </a:r>
            <a:r>
              <a:rPr lang="en-AU" sz="1600" dirty="0">
                <a:solidFill>
                  <a:srgbClr val="00B050"/>
                </a:solidFill>
              </a:rPr>
              <a:t>// List menu</a:t>
            </a:r>
          </a:p>
          <a:p>
            <a:pPr marL="0" indent="0">
              <a:buNone/>
            </a:pPr>
            <a:r>
              <a:rPr lang="en-AU" sz="1600" dirty="0"/>
              <a:t>	   </a:t>
            </a:r>
            <a:r>
              <a:rPr lang="en-AU" sz="1600" dirty="0" err="1"/>
              <a:t>cout</a:t>
            </a:r>
            <a:r>
              <a:rPr lang="en-AU" sz="1600" dirty="0"/>
              <a:t> &lt;&lt; "1) Addition\n";</a:t>
            </a:r>
          </a:p>
          <a:p>
            <a:pPr marL="0" indent="0">
              <a:buNone/>
            </a:pPr>
            <a:r>
              <a:rPr lang="en-AU" sz="1600" dirty="0"/>
              <a:t>	   </a:t>
            </a:r>
            <a:r>
              <a:rPr lang="en-AU" sz="1600" dirty="0" err="1"/>
              <a:t>cout</a:t>
            </a:r>
            <a:r>
              <a:rPr lang="en-AU" sz="1600" dirty="0"/>
              <a:t> &lt;&lt; "2) Subtraction\n";</a:t>
            </a:r>
          </a:p>
          <a:p>
            <a:pPr marL="0" indent="0">
              <a:buNone/>
            </a:pPr>
            <a:r>
              <a:rPr lang="en-AU" sz="1600" dirty="0"/>
              <a:t>	   </a:t>
            </a:r>
            <a:r>
              <a:rPr lang="en-AU" sz="1600" dirty="0" err="1"/>
              <a:t>cout</a:t>
            </a:r>
            <a:r>
              <a:rPr lang="en-AU" sz="1600" dirty="0"/>
              <a:t> &lt;&lt; "3) Multiplication\n";</a:t>
            </a:r>
          </a:p>
          <a:p>
            <a:pPr marL="0" indent="0">
              <a:buNone/>
            </a:pPr>
            <a:r>
              <a:rPr lang="en-AU" sz="1600" dirty="0"/>
              <a:t>	   </a:t>
            </a:r>
            <a:r>
              <a:rPr lang="en-AU" sz="1600" dirty="0" err="1"/>
              <a:t>cout</a:t>
            </a:r>
            <a:r>
              <a:rPr lang="en-AU" sz="1600" dirty="0"/>
              <a:t> &lt;&lt; "4) Division\n";</a:t>
            </a:r>
          </a:p>
          <a:p>
            <a:pPr marL="0" indent="0">
              <a:buNone/>
            </a:pPr>
            <a:r>
              <a:rPr lang="en-AU" sz="1600" dirty="0"/>
              <a:t>	   </a:t>
            </a:r>
            <a:r>
              <a:rPr lang="en-AU" sz="1600" dirty="0" err="1"/>
              <a:t>cin</a:t>
            </a:r>
            <a:r>
              <a:rPr lang="en-AU" sz="1600" dirty="0"/>
              <a:t> &gt;&gt; selection;			</a:t>
            </a:r>
            <a:r>
              <a:rPr lang="en-AU" sz="1600" dirty="0">
                <a:solidFill>
                  <a:srgbClr val="00B050"/>
                </a:solidFill>
              </a:rPr>
              <a:t>// Get user menu selection</a:t>
            </a:r>
          </a:p>
          <a:p>
            <a:pPr marL="0" indent="0">
              <a:buNone/>
            </a:pPr>
            <a:r>
              <a:rPr lang="en-AU" sz="1600" dirty="0"/>
              <a:t>	} while (selection != 1 &amp;&amp; selection != 2 &amp;&amp; selection != 3 &amp;&amp; selection != 4);</a:t>
            </a:r>
          </a:p>
          <a:p>
            <a:pPr marL="0" indent="0">
              <a:buNone/>
            </a:pPr>
            <a:r>
              <a:rPr lang="en-US" sz="1600" dirty="0">
                <a:latin typeface="Arial" charset="0"/>
                <a:ea typeface="ヒラギノ角ゴ Pro W3" charset="0"/>
                <a:cs typeface="Arial" charset="0"/>
              </a:rPr>
              <a:t>	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B050"/>
                </a:solidFill>
                <a:latin typeface="Arial" charset="0"/>
                <a:ea typeface="ヒラギノ角ゴ Pro W3" charset="0"/>
                <a:cs typeface="Arial" charset="0"/>
              </a:rPr>
              <a:t>	// Do something with the selection here</a:t>
            </a:r>
          </a:p>
          <a:p>
            <a:pPr marL="0" indent="0">
              <a:buNone/>
            </a:pPr>
            <a:endParaRPr lang="en-US" sz="1600" dirty="0">
              <a:latin typeface="Arial" charset="0"/>
              <a:ea typeface="ヒラギノ角ゴ Pro W3" charset="0"/>
              <a:cs typeface="Arial" charset="0"/>
            </a:endParaRPr>
          </a:p>
          <a:p>
            <a:pPr marL="0" indent="0">
              <a:buNone/>
            </a:pPr>
            <a:r>
              <a:rPr lang="en-US" sz="1600" dirty="0">
                <a:latin typeface="Arial" charset="0"/>
                <a:ea typeface="ヒラギノ角ゴ Pro W3" charset="0"/>
                <a:cs typeface="Arial" charset="0"/>
              </a:rPr>
              <a:t>	return 0;</a:t>
            </a:r>
          </a:p>
          <a:p>
            <a:pPr marL="0" indent="0">
              <a:buNone/>
            </a:pPr>
            <a:r>
              <a:rPr lang="en-US" sz="1600" dirty="0">
                <a:latin typeface="Arial" charset="0"/>
                <a:ea typeface="ヒラギノ角ゴ Pro W3" charset="0"/>
                <a:cs typeface="Arial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04752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Statements and flow control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https://cplusplus.com/doc/tutorial/control/</a:t>
            </a:r>
            <a:endParaRPr lang="en-AU" sz="2400" dirty="0"/>
          </a:p>
          <a:p>
            <a:r>
              <a:rPr lang="en-AU" sz="2400" dirty="0"/>
              <a:t>[2] 	learncpp.com: 5.6 – Do while statements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https://www.learncpp.com/cpp-tutorial/56-do-while-</a:t>
            </a:r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statements/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29C8638-3442-4CB7-9457-3ECADDCCDFA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2835ABB-688F-4A1B-A578-F768346C7A6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0C5C17-97CF-4FD8-B677-2DB600E677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27283</TotalTime>
  <Words>416</Words>
  <Application>Microsoft Office PowerPoint</Application>
  <PresentationFormat>On-screen Show (4:3)</PresentationFormat>
  <Paragraphs>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Arial</vt:lpstr>
      <vt:lpstr>Arial Black</vt:lpstr>
      <vt:lpstr>Calibri</vt:lpstr>
      <vt:lpstr>Chronicle Text G1</vt:lpstr>
      <vt:lpstr>Chronicle Text G1 Roman</vt:lpstr>
      <vt:lpstr>Courier New</vt:lpstr>
      <vt:lpstr>Gotham Narrow</vt:lpstr>
      <vt:lpstr>Gotham Narrow Bold</vt:lpstr>
      <vt:lpstr>Gotham Narrow Book</vt:lpstr>
      <vt:lpstr>Gotham Narrow Light</vt:lpstr>
      <vt:lpstr>Office Theme</vt:lpstr>
      <vt:lpstr>1_Office Theme</vt:lpstr>
      <vt:lpstr>do-while Iteration Statement</vt:lpstr>
      <vt:lpstr>Iteration Statement (loops)</vt:lpstr>
      <vt:lpstr>The do-while Loop</vt:lpstr>
      <vt:lpstr>Example</vt:lpstr>
      <vt:lpstr>Notes on do-while</vt:lpstr>
      <vt:lpstr>Menu –driven Program</vt:lpstr>
      <vt:lpstr>More info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6 - do-while Iteration Statement</dc:title>
  <dc:creator>Ram Singh</dc:creator>
  <cp:lastModifiedBy>Upul Gunawardana</cp:lastModifiedBy>
  <cp:revision>571</cp:revision>
  <dcterms:created xsi:type="dcterms:W3CDTF">2018-02-26T21:48:17Z</dcterms:created>
  <dcterms:modified xsi:type="dcterms:W3CDTF">2022-05-19T15:03:14Z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