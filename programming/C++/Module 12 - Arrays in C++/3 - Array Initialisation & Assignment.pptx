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1" r:id="rId9"/>
    <p:sldId id="318" r:id="rId10"/>
    <p:sldId id="319" r:id="rId11"/>
    <p:sldId id="320" r:id="rId12"/>
    <p:sldId id="322" r:id="rId13"/>
    <p:sldId id="323" r:id="rId14"/>
    <p:sldId id="29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1AE50400-417C-40C8-8147-18D3FD731BC2}"/>
    <pc:docChg chg="modSld">
      <pc:chgData name="Upul Gunawardana" userId="d78f31a5-8ae7-4659-910b-ce777cc612cd" providerId="ADAL" clId="{1AE50400-417C-40C8-8147-18D3FD731BC2}" dt="2022-05-26T14:32:05.714" v="13" actId="20577"/>
      <pc:docMkLst>
        <pc:docMk/>
      </pc:docMkLst>
      <pc:sldChg chg="modSp mod">
        <pc:chgData name="Upul Gunawardana" userId="d78f31a5-8ae7-4659-910b-ce777cc612cd" providerId="ADAL" clId="{1AE50400-417C-40C8-8147-18D3FD731BC2}" dt="2022-05-26T14:32:05.714" v="13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1AE50400-417C-40C8-8147-18D3FD731BC2}" dt="2022-05-26T14:32:05.714" v="13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Array Initialisation &amp; Assignment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EF287ED-14DC-4554-B2F2-2FF6830F4858}"/>
              </a:ext>
            </a:extLst>
          </p:cNvPr>
          <p:cNvSpPr txBox="1">
            <a:spLocks noChangeArrowheads="1"/>
          </p:cNvSpPr>
          <p:nvPr/>
        </p:nvSpPr>
        <p:spPr>
          <a:xfrm>
            <a:off x="418502" y="1445568"/>
            <a:ext cx="8001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Arrays can be </a:t>
            </a:r>
            <a:r>
              <a:rPr lang="en-AU" altLang="en-US" dirty="0"/>
              <a:t>initialised</a:t>
            </a:r>
            <a:r>
              <a:rPr lang="en-US" altLang="en-US" dirty="0"/>
              <a:t> with an </a:t>
            </a:r>
            <a:r>
              <a:rPr lang="en-AU" altLang="en-US" u="sng" dirty="0"/>
              <a:t>initialisation</a:t>
            </a:r>
            <a:r>
              <a:rPr lang="en-US" altLang="en-US" u="sng" dirty="0"/>
              <a:t> list</a:t>
            </a:r>
            <a:r>
              <a:rPr lang="en-US" altLang="en-US" dirty="0"/>
              <a:t>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2600" dirty="0">
                <a:latin typeface="Courier New" pitchFamily="49" charset="0"/>
              </a:rPr>
              <a:t>const int SIZE = 5;</a:t>
            </a:r>
            <a:br>
              <a:rPr lang="en-US" altLang="en-US" sz="2600" dirty="0">
                <a:latin typeface="Courier New" pitchFamily="49" charset="0"/>
              </a:rPr>
            </a:br>
            <a:r>
              <a:rPr lang="en-US" altLang="en-US" sz="2600" dirty="0">
                <a:latin typeface="Courier New" pitchFamily="49" charset="0"/>
              </a:rPr>
              <a:t>int tests[SIZE] = {79,82,91,77,84};</a:t>
            </a:r>
            <a:br>
              <a:rPr lang="en-US" altLang="en-US" sz="2600" dirty="0">
                <a:latin typeface="Courier New" pitchFamily="49" charset="0"/>
              </a:rPr>
            </a:br>
            <a:endParaRPr lang="en-US" altLang="en-US" sz="2600" dirty="0"/>
          </a:p>
          <a:p>
            <a:r>
              <a:rPr lang="en-US" altLang="en-US" dirty="0"/>
              <a:t>The values are stored in the array in the order in which they appear in the list.</a:t>
            </a:r>
          </a:p>
          <a:p>
            <a:r>
              <a:rPr lang="en-US" altLang="en-US" dirty="0"/>
              <a:t>The </a:t>
            </a:r>
            <a:r>
              <a:rPr lang="en-AU" altLang="en-US" dirty="0"/>
              <a:t>initialisation</a:t>
            </a:r>
            <a:r>
              <a:rPr lang="en-US" altLang="en-US" dirty="0"/>
              <a:t> list cannot exceed the array size.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102E86D-F3F2-4AD9-81A7-0C61317CE381}"/>
              </a:ext>
            </a:extLst>
          </p:cNvPr>
          <p:cNvGrpSpPr/>
          <p:nvPr/>
        </p:nvGrpSpPr>
        <p:grpSpPr>
          <a:xfrm>
            <a:off x="827584" y="1655349"/>
            <a:ext cx="4953000" cy="4497388"/>
            <a:chOff x="827584" y="1655349"/>
            <a:chExt cx="4953000" cy="4497388"/>
          </a:xfrm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EF427106-3F07-4BBD-B2A7-3EBB868703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1655349"/>
              <a:ext cx="4679950" cy="178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D26446E8-D24D-4DF2-A527-44109097E4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509" y="3490499"/>
              <a:ext cx="4918075" cy="2662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Array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7E3A94-2348-43D8-A96A-7CE00898C3F0}"/>
              </a:ext>
            </a:extLst>
          </p:cNvPr>
          <p:cNvGrpSpPr/>
          <p:nvPr/>
        </p:nvGrpSpPr>
        <p:grpSpPr>
          <a:xfrm>
            <a:off x="304800" y="1676400"/>
            <a:ext cx="8383960" cy="4648200"/>
            <a:chOff x="304800" y="1676400"/>
            <a:chExt cx="8383960" cy="46482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4067F55E-50C2-49C1-A742-E72EAEB26E1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4800" y="1676400"/>
              <a:ext cx="7924800" cy="46482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en-US" dirty="0"/>
                <a:t>If an array is </a:t>
              </a:r>
              <a:r>
                <a:rPr lang="en-AU" altLang="en-US" dirty="0"/>
                <a:t>initialised</a:t>
              </a:r>
              <a:r>
                <a:rPr lang="en-US" altLang="en-US" dirty="0"/>
                <a:t> with fewer initial values than the size declarator, the remaining elements will be set to </a:t>
              </a:r>
              <a:r>
                <a:rPr lang="en-US" altLang="en-US" dirty="0">
                  <a:latin typeface="Courier New" pitchFamily="49" charset="0"/>
                </a:rPr>
                <a:t>0:</a:t>
              </a:r>
            </a:p>
            <a:p>
              <a:pPr lvl="1">
                <a:buFontTx/>
                <a:buNone/>
              </a:pPr>
              <a:br>
                <a:rPr lang="en-US" altLang="en-US" dirty="0">
                  <a:latin typeface="Courier New" pitchFamily="49" charset="0"/>
                </a:rPr>
              </a:br>
              <a:br>
                <a:rPr lang="en-US" altLang="en-US" dirty="0">
                  <a:latin typeface="Courier New" pitchFamily="49" charset="0"/>
                </a:rPr>
              </a:br>
              <a:endParaRPr lang="en-US" altLang="en-US" dirty="0">
                <a:latin typeface="Courier New" pitchFamily="49" charset="0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CB25C19-D5B8-4403-862D-47D3B450E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0" y="3429000"/>
              <a:ext cx="8077200" cy="2095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Implicit Array Sizing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1198E0-9E7D-4B69-8E78-8D9A8F1FE8A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Can determine array size by the size of the </a:t>
            </a:r>
            <a:r>
              <a:rPr lang="en-AU" altLang="en-US" dirty="0"/>
              <a:t>initialisation</a:t>
            </a:r>
            <a:r>
              <a:rPr lang="en-US" altLang="en-US" dirty="0"/>
              <a:t> list:</a:t>
            </a:r>
          </a:p>
          <a:p>
            <a:pPr lvl="1"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int quizzes[]={12,17,15,11};</a:t>
            </a:r>
            <a:endParaRPr lang="en-US" altLang="en-US" dirty="0"/>
          </a:p>
          <a:p>
            <a:pPr lvl="1">
              <a:buFontTx/>
              <a:buNone/>
            </a:pPr>
            <a:endParaRPr lang="en-US" altLang="en-US" dirty="0"/>
          </a:p>
          <a:p>
            <a:r>
              <a:rPr lang="en-US" altLang="en-US" dirty="0"/>
              <a:t>Must use either array size declarator or </a:t>
            </a:r>
            <a:r>
              <a:rPr lang="en-AU" altLang="en-US" dirty="0"/>
              <a:t>initialisation</a:t>
            </a:r>
            <a:r>
              <a:rPr lang="en-US" altLang="en-US" dirty="0"/>
              <a:t> </a:t>
            </a:r>
            <a:r>
              <a:rPr lang="en-US" altLang="en-US"/>
              <a:t>list for array definition.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523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Initialising an Array with a String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F47AF4C-B15B-458E-8751-CE6FCEAB84D6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524000"/>
            <a:ext cx="8382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Character array can be </a:t>
            </a:r>
            <a:r>
              <a:rPr lang="en-US" altLang="en-US" dirty="0" err="1"/>
              <a:t>initialised</a:t>
            </a:r>
            <a:r>
              <a:rPr lang="en-US" altLang="en-US" dirty="0"/>
              <a:t> by enclosing string in " ":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	const int SIZE = 6;</a:t>
            </a:r>
            <a:br>
              <a:rPr lang="en-US" altLang="en-US" dirty="0">
                <a:latin typeface="Courier New" pitchFamily="49" charset="0"/>
              </a:rPr>
            </a:br>
            <a:r>
              <a:rPr lang="en-US" altLang="en-US" dirty="0">
                <a:latin typeface="Courier New" pitchFamily="49" charset="0"/>
              </a:rPr>
              <a:t>char </a:t>
            </a:r>
            <a:r>
              <a:rPr lang="en-US" altLang="en-US" dirty="0" err="1">
                <a:latin typeface="Courier New" pitchFamily="49" charset="0"/>
              </a:rPr>
              <a:t>fName</a:t>
            </a:r>
            <a:r>
              <a:rPr lang="en-US" altLang="en-US" dirty="0">
                <a:latin typeface="Courier New" pitchFamily="49" charset="0"/>
              </a:rPr>
              <a:t>[SIZE] = "Henry";</a:t>
            </a:r>
          </a:p>
          <a:p>
            <a:r>
              <a:rPr lang="en-US" altLang="en-US" dirty="0"/>
              <a:t>Must leave room for </a:t>
            </a:r>
            <a:r>
              <a:rPr lang="en-US" altLang="en-US" dirty="0">
                <a:latin typeface="Courier New" pitchFamily="49" charset="0"/>
              </a:rPr>
              <a:t>\0</a:t>
            </a:r>
            <a:r>
              <a:rPr lang="en-US" altLang="en-US" dirty="0"/>
              <a:t> at end of array</a:t>
            </a:r>
          </a:p>
          <a:p>
            <a:r>
              <a:rPr lang="en-US" altLang="en-US" dirty="0"/>
              <a:t>If </a:t>
            </a:r>
            <a:r>
              <a:rPr lang="en-US" altLang="en-US" dirty="0" err="1"/>
              <a:t>initialising</a:t>
            </a:r>
            <a:r>
              <a:rPr lang="en-US" altLang="en-US" dirty="0"/>
              <a:t> character-by-character, must add in </a:t>
            </a:r>
            <a:r>
              <a:rPr lang="en-US" altLang="en-US" dirty="0">
                <a:latin typeface="Courier New" pitchFamily="49" charset="0"/>
              </a:rPr>
              <a:t>\0</a:t>
            </a:r>
            <a:r>
              <a:rPr lang="en-US" altLang="en-US" dirty="0"/>
              <a:t> explicitly: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char </a:t>
            </a:r>
            <a:r>
              <a:rPr lang="en-US" altLang="en-US" dirty="0" err="1">
                <a:latin typeface="Courier New" pitchFamily="49" charset="0"/>
              </a:rPr>
              <a:t>fName</a:t>
            </a:r>
            <a:r>
              <a:rPr lang="en-US" altLang="en-US" dirty="0">
                <a:latin typeface="Courier New" pitchFamily="49" charset="0"/>
              </a:rPr>
              <a:t>[SIZE] = 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{ 'H', 'e', 'n', 'r', 'y', '\0'};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738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Assignment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A89C999-E799-4679-A303-B017ACC8671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736725"/>
            <a:ext cx="7999413" cy="3743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Times" pitchFamily="-16" charset="0"/>
              <a:buNone/>
            </a:pPr>
            <a:r>
              <a:rPr lang="en-US" altLang="en-US"/>
              <a:t>To copy one array to another,</a:t>
            </a:r>
          </a:p>
          <a:p>
            <a:r>
              <a:rPr lang="en-US" altLang="en-US"/>
              <a:t>Don’t try to assign one array to the other: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newTests = tests;  // Won't work</a:t>
            </a:r>
            <a:br>
              <a:rPr lang="en-US" altLang="en-US">
                <a:latin typeface="Courier New" pitchFamily="49" charset="0"/>
              </a:rPr>
            </a:br>
            <a:endParaRPr lang="en-US" altLang="en-US">
              <a:latin typeface="Courier New" pitchFamily="49" charset="0"/>
            </a:endParaRPr>
          </a:p>
          <a:p>
            <a:r>
              <a:rPr lang="en-US" altLang="en-US"/>
              <a:t>Instead, assign element-by-element: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for (i = 0; i &lt; ARRAY_SIZE; i++)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>
                <a:latin typeface="Courier New" pitchFamily="49" charset="0"/>
              </a:rPr>
              <a:t>		  newTests[i] = tests[i];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8185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7056784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 String Contents of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524AB4-28BF-4E7F-9942-530B3771984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79994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/>
              <a:t>You can display the contents of a </a:t>
            </a:r>
            <a:r>
              <a:rPr lang="en-US" altLang="en-US" i="1"/>
              <a:t>character</a:t>
            </a:r>
            <a:r>
              <a:rPr lang="en-US" altLang="en-US"/>
              <a:t> array by sending its name to cout: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 </a:t>
            </a:r>
            <a:r>
              <a:rPr lang="en-US" altLang="en-US">
                <a:latin typeface="Courier New" pitchFamily="49" charset="0"/>
              </a:rPr>
              <a:t>char fName[] = "Henry";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>
                <a:latin typeface="Courier New" pitchFamily="49" charset="0"/>
              </a:rPr>
              <a:t>cout &lt;&lt; fName &lt;&lt; endl;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/>
              <a:t>But, this ONLY works with character arrays!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84892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6912768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 Numeric Contents of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7AFA7B-8A8E-46D8-B08D-98B572F8208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79994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For other types of arrays, you must print element-by-element:</a:t>
            </a:r>
            <a:br>
              <a:rPr lang="en-US" altLang="en-US"/>
            </a:br>
            <a:endParaRPr lang="en-US" altLang="en-US"/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for (i = 0; i &lt; ARRAY_SIZE; i++)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>
                <a:latin typeface="Courier New" pitchFamily="49" charset="0"/>
              </a:rPr>
              <a:t>		  cout &lt;&lt; tests[i] &lt;&lt; endl;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2772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1BB738-DD05-40DF-8085-EDA2BCD1AE0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7AAFAB5-C3A2-4F5A-9EF1-8242D19B5D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790E85-3E90-4231-B1D4-59CA27BE76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29336</TotalTime>
  <Words>487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Array Initialisation &amp; Assignment</vt:lpstr>
      <vt:lpstr>Array Initialisation</vt:lpstr>
      <vt:lpstr>Example 1</vt:lpstr>
      <vt:lpstr>Partial Array Initialisation</vt:lpstr>
      <vt:lpstr>Implicit Array Sizing</vt:lpstr>
      <vt:lpstr>Initialising an Array with a String</vt:lpstr>
      <vt:lpstr>Array Assignment</vt:lpstr>
      <vt:lpstr>Printing String Contents of an Array</vt:lpstr>
      <vt:lpstr>Printing Numeric Contents of an Array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3 - Array Initialisation &amp; Assignment</dc:title>
  <dc:creator>Ram Singh</dc:creator>
  <cp:lastModifiedBy>Upul Gunawardana</cp:lastModifiedBy>
  <cp:revision>793</cp:revision>
  <dcterms:created xsi:type="dcterms:W3CDTF">2018-02-26T21:48:17Z</dcterms:created>
  <dcterms:modified xsi:type="dcterms:W3CDTF">2022-05-26T14:32:09Z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