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8" r:id="rId10"/>
    <p:sldId id="319" r:id="rId11"/>
    <p:sldId id="320" r:id="rId12"/>
    <p:sldId id="322" r:id="rId13"/>
    <p:sldId id="323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C4A931FA-5140-4EC4-A31A-EF644A692134}"/>
    <pc:docChg chg="modSld">
      <pc:chgData name="Upul Gunawardana" userId="d78f31a5-8ae7-4659-910b-ce777cc612cd" providerId="ADAL" clId="{C4A931FA-5140-4EC4-A31A-EF644A692134}" dt="2022-05-19T15:32:59.450" v="13" actId="20577"/>
      <pc:docMkLst>
        <pc:docMk/>
      </pc:docMkLst>
      <pc:sldChg chg="modSp mod">
        <pc:chgData name="Upul Gunawardana" userId="d78f31a5-8ae7-4659-910b-ce777cc612cd" providerId="ADAL" clId="{C4A931FA-5140-4EC4-A31A-EF644A692134}" dt="2022-05-19T15:32:59.450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C4A931FA-5140-4EC4-A31A-EF644A692134}" dt="2022-05-19T15:32:59.450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Introduction to Arrays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2D54B15-4B6B-4319-B4B7-7B7E6FBD04C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66018"/>
            <a:ext cx="8229600" cy="514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u="sng" dirty="0"/>
              <a:t>Array</a:t>
            </a:r>
            <a:r>
              <a:rPr lang="en-US" altLang="en-US" dirty="0"/>
              <a:t>: variable that can store multiple values of the same type.</a:t>
            </a:r>
          </a:p>
          <a:p>
            <a:r>
              <a:rPr lang="en-US" altLang="en-US" dirty="0"/>
              <a:t>Values are stored in adjacent memory locations.</a:t>
            </a:r>
          </a:p>
          <a:p>
            <a:r>
              <a:rPr lang="en-US" altLang="en-US" dirty="0"/>
              <a:t>Declared using </a:t>
            </a:r>
            <a:r>
              <a:rPr lang="en-US" altLang="en-US" dirty="0">
                <a:latin typeface="Courier New" pitchFamily="49" charset="0"/>
              </a:rPr>
              <a:t>[]</a:t>
            </a:r>
            <a:r>
              <a:rPr lang="en-US" altLang="en-US" dirty="0"/>
              <a:t> operator: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tests[5];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 the definition </a:t>
            </a:r>
            <a:r>
              <a:rPr lang="en-US" altLang="en-US" dirty="0">
                <a:latin typeface="Courier New" pitchFamily="49" charset="0"/>
              </a:rPr>
              <a:t>int tests[5];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 is the data type of the array elements.</a:t>
            </a:r>
            <a:endParaRPr lang="en-US" alt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tests</a:t>
            </a:r>
            <a:r>
              <a:rPr lang="en-US" altLang="en-US" dirty="0"/>
              <a:t> is the </a:t>
            </a:r>
            <a:r>
              <a:rPr lang="en-US" altLang="en-US" u="sng" dirty="0"/>
              <a:t>name</a:t>
            </a:r>
            <a:r>
              <a:rPr lang="en-US" altLang="en-US" dirty="0"/>
              <a:t> of the array.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ourier New" pitchFamily="49" charset="0"/>
              </a:rPr>
              <a:t>5,</a:t>
            </a:r>
            <a:r>
              <a:rPr lang="en-US" altLang="en-US" dirty="0"/>
              <a:t> in </a:t>
            </a:r>
            <a:r>
              <a:rPr lang="en-US" altLang="en-US" dirty="0">
                <a:latin typeface="Courier New" pitchFamily="49" charset="0"/>
              </a:rPr>
              <a:t>[5],</a:t>
            </a:r>
            <a:r>
              <a:rPr lang="en-US" altLang="en-US" dirty="0"/>
              <a:t> is the </a:t>
            </a:r>
            <a:r>
              <a:rPr lang="en-US" altLang="en-US" u="sng" dirty="0"/>
              <a:t>size declarator</a:t>
            </a:r>
            <a:r>
              <a:rPr lang="en-US" altLang="en-US" dirty="0"/>
              <a:t>.  It shows the number of elements in the array.</a:t>
            </a:r>
          </a:p>
          <a:p>
            <a:pPr lvl="1">
              <a:buFontTx/>
              <a:buNone/>
            </a:pP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Memory Layout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015956D-EDBB-4B9B-BCF7-2AF8CCEB0B7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definition:</a:t>
            </a:r>
          </a:p>
          <a:p>
            <a:pPr lvl="1">
              <a:buFontTx/>
              <a:buNone/>
            </a:pPr>
            <a:r>
              <a:rPr lang="en-US" altLang="en-US"/>
              <a:t>	 </a:t>
            </a:r>
            <a:r>
              <a:rPr lang="en-US" altLang="en-US">
                <a:latin typeface="Courier New" pitchFamily="49" charset="0"/>
              </a:rPr>
              <a:t>int tests[5];</a:t>
            </a:r>
          </a:p>
          <a:p>
            <a:pPr>
              <a:buFont typeface="Times" pitchFamily="-16" charset="0"/>
              <a:buNone/>
            </a:pPr>
            <a:r>
              <a:rPr lang="en-US" altLang="en-US">
                <a:latin typeface="Courier New" pitchFamily="49" charset="0"/>
              </a:rPr>
              <a:t>	</a:t>
            </a:r>
            <a:r>
              <a:rPr lang="en-US" altLang="en-US"/>
              <a:t>allocates the following memory:</a:t>
            </a:r>
            <a:endParaRPr lang="en-US" altLang="en-US" dirty="0">
              <a:latin typeface="Courier New" pitchFamily="49" charset="0"/>
            </a:endParaRPr>
          </a:p>
        </p:txBody>
      </p:sp>
      <p:graphicFrame>
        <p:nvGraphicFramePr>
          <p:cNvPr id="9" name="Group 41">
            <a:extLst>
              <a:ext uri="{FF2B5EF4-FFF2-40B4-BE49-F238E27FC236}">
                <a16:creationId xmlns:a16="http://schemas.microsoft.com/office/drawing/2014/main" id="{6AE982FF-8709-4C22-8CB6-759ED975D302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6200"/>
          <a:ext cx="6096000" cy="4572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18">
            <a:extLst>
              <a:ext uri="{FF2B5EF4-FFF2-40B4-BE49-F238E27FC236}">
                <a16:creationId xmlns:a16="http://schemas.microsoft.com/office/drawing/2014/main" id="{465713EF-D836-4F74-B225-8FFDBD16E4DF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4876800"/>
          <a:ext cx="6096000" cy="8382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first element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second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third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fourth element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  <a:cs typeface="Arial" charset="0"/>
                        </a:rPr>
                        <a:t>fifth element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Line 36">
            <a:extLst>
              <a:ext uri="{FF2B5EF4-FFF2-40B4-BE49-F238E27FC236}">
                <a16:creationId xmlns:a16="http://schemas.microsoft.com/office/drawing/2014/main" id="{3535785A-1012-47DD-ACD2-7CA11ED1D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2" name="Line 37">
            <a:extLst>
              <a:ext uri="{FF2B5EF4-FFF2-40B4-BE49-F238E27FC236}">
                <a16:creationId xmlns:a16="http://schemas.microsoft.com/office/drawing/2014/main" id="{27F07F34-F123-49A0-B1F7-22A7C11ED0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CC2206D5-D0BE-4B2B-B233-01DF2B3DA6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4" name="Line 39">
            <a:extLst>
              <a:ext uri="{FF2B5EF4-FFF2-40B4-BE49-F238E27FC236}">
                <a16:creationId xmlns:a16="http://schemas.microsoft.com/office/drawing/2014/main" id="{98A3DD42-468C-4FD5-AE38-21CE450EEA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5" name="Line 40">
            <a:extLst>
              <a:ext uri="{FF2B5EF4-FFF2-40B4-BE49-F238E27FC236}">
                <a16:creationId xmlns:a16="http://schemas.microsoft.com/office/drawing/2014/main" id="{61F0C772-D722-4993-BDA1-15BC2CF78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 of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337FCF3-A8D5-4B03-876B-57DBBD5AE47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71600"/>
            <a:ext cx="8534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u="sng" dirty="0"/>
              <a:t>size</a:t>
            </a:r>
            <a:r>
              <a:rPr lang="en-US" altLang="en-US" dirty="0"/>
              <a:t> of an array is: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total number of bytes allocated for it.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(number of elements) * (number of bytes for each element).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int tests[5]</a:t>
            </a:r>
            <a:r>
              <a:rPr lang="en-US" altLang="en-US" dirty="0"/>
              <a:t> is an array of 20 bytes, assuming 4 bytes for an </a:t>
            </a:r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.</a:t>
            </a:r>
            <a:endParaRPr lang="en-US" alt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itchFamily="49" charset="0"/>
              </a:rPr>
              <a:t>long double measures[10]</a:t>
            </a:r>
            <a:r>
              <a:rPr lang="en-US" altLang="en-US" dirty="0"/>
              <a:t>is an array of 80 bytes, assuming 8 bytes for a </a:t>
            </a:r>
            <a:r>
              <a:rPr lang="en-US" altLang="en-US" dirty="0">
                <a:latin typeface="Courier New" pitchFamily="49" charset="0"/>
              </a:rPr>
              <a:t>long double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 Declarators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DCFC434-3A2F-4BA2-A9EA-EF97256383D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Named constants are commonly used as size declarators.</a:t>
            </a:r>
            <a:br>
              <a:rPr lang="en-US" altLang="en-US"/>
            </a:br>
            <a:br>
              <a:rPr lang="en-US" altLang="en-US"/>
            </a:br>
            <a:r>
              <a:rPr lang="en-US" altLang="en-US">
                <a:latin typeface="Courier New" pitchFamily="49" charset="0"/>
              </a:rPr>
              <a:t>const int SIZE = 5;</a:t>
            </a:r>
            <a:br>
              <a:rPr lang="en-US" altLang="en-US"/>
            </a:br>
            <a:r>
              <a:rPr lang="en-US" altLang="en-US">
                <a:latin typeface="Courier New" pitchFamily="49" charset="0"/>
              </a:rPr>
              <a:t>int tests[SIZE];</a:t>
            </a:r>
          </a:p>
          <a:p>
            <a:r>
              <a:rPr lang="en-US" altLang="en-US"/>
              <a:t>This eases program maintenance when the size of the array needs to be changed.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Subscript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0BF695-9C97-4534-8691-EB86EE240CA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56792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Each element in an array is assigned a unique </a:t>
            </a:r>
            <a:r>
              <a:rPr lang="en-US" altLang="en-US" i="1" dirty="0"/>
              <a:t>subscript</a:t>
            </a:r>
            <a:r>
              <a:rPr lang="en-US" altLang="en-US" dirty="0"/>
              <a:t>.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Subscripts start at 0.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The last element’s subscript is </a:t>
            </a:r>
            <a:r>
              <a:rPr lang="en-US" altLang="en-US" b="1" i="1" dirty="0">
                <a:solidFill>
                  <a:srgbClr val="FF0000"/>
                </a:solidFill>
              </a:rPr>
              <a:t>n</a:t>
            </a:r>
            <a:r>
              <a:rPr lang="en-US" altLang="en-US" b="1" dirty="0">
                <a:solidFill>
                  <a:srgbClr val="FF0000"/>
                </a:solidFill>
              </a:rPr>
              <a:t>-1 where </a:t>
            </a:r>
            <a:r>
              <a:rPr lang="en-US" altLang="en-US" b="1" i="1" dirty="0">
                <a:solidFill>
                  <a:srgbClr val="FF0000"/>
                </a:solidFill>
              </a:rPr>
              <a:t>n</a:t>
            </a:r>
            <a:r>
              <a:rPr lang="en-US" altLang="en-US" b="1" dirty="0">
                <a:solidFill>
                  <a:srgbClr val="FF0000"/>
                </a:solidFill>
              </a:rPr>
              <a:t> is the number of elements in the array</a:t>
            </a:r>
            <a:r>
              <a:rPr lang="en-US" altLang="en-US" dirty="0"/>
              <a:t>.</a:t>
            </a:r>
          </a:p>
          <a:p>
            <a:endParaRPr lang="en-US" altLang="en-US" b="1" dirty="0">
              <a:solidFill>
                <a:srgbClr val="FF0000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9" name="Group 37">
            <a:extLst>
              <a:ext uri="{FF2B5EF4-FFF2-40B4-BE49-F238E27FC236}">
                <a16:creationId xmlns:a16="http://schemas.microsoft.com/office/drawing/2014/main" id="{2C0E55F4-BBB4-4AF7-9BE6-C11D16C3FA51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4633913"/>
          <a:ext cx="6096000" cy="36560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0</a:t>
                      </a:r>
                    </a:p>
                  </a:txBody>
                  <a:tcPr marT="45641" marB="4564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1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2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3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ヒラギノ角ゴ Pro W3" pitchFamily="-16" charset="-128"/>
                          <a:cs typeface="Arial" charset="0"/>
                        </a:rPr>
                        <a:t>4</a:t>
                      </a:r>
                    </a:p>
                  </a:txBody>
                  <a:tcPr marT="45641" marB="4564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38">
            <a:extLst>
              <a:ext uri="{FF2B5EF4-FFF2-40B4-BE49-F238E27FC236}">
                <a16:creationId xmlns:a16="http://schemas.microsoft.com/office/drawing/2014/main" id="{6C89F987-5619-450D-BCA7-DE3A5DDA3F44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5014913"/>
          <a:ext cx="6096000" cy="381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Box 36">
            <a:extLst>
              <a:ext uri="{FF2B5EF4-FFF2-40B4-BE49-F238E27FC236}">
                <a16:creationId xmlns:a16="http://schemas.microsoft.com/office/drawing/2014/main" id="{303971D0-7618-4FEC-ADD3-0B8B77847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267200"/>
            <a:ext cx="139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-16" charset="-128"/>
              </a:defRPr>
            </a:lvl9pPr>
          </a:lstStyle>
          <a:p>
            <a:pPr eaLnBrk="1" hangingPunct="1"/>
            <a:r>
              <a:rPr lang="en-US" altLang="en-US" sz="2000"/>
              <a:t>subscripts:</a:t>
            </a:r>
          </a:p>
        </p:txBody>
      </p:sp>
    </p:spTree>
    <p:extLst>
      <p:ext uri="{BB962C8B-B14F-4D97-AF65-F5344CB8AC3E}">
        <p14:creationId xmlns:p14="http://schemas.microsoft.com/office/powerpoint/2010/main" val="284738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Array Elements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7C62C32-9868-4765-93C5-D3CB2435B80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Array elements can be used as regular variables:  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400" dirty="0">
                <a:latin typeface="Courier New" pitchFamily="49" charset="0"/>
              </a:rPr>
              <a:t>tests[0] = 79;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</a:t>
            </a:r>
            <a:r>
              <a:rPr lang="en-US" altLang="en-US" sz="2400" dirty="0" err="1">
                <a:latin typeface="Courier New" pitchFamily="49" charset="0"/>
              </a:rPr>
              <a:t>cout</a:t>
            </a:r>
            <a:r>
              <a:rPr lang="en-US" altLang="en-US" sz="2400" dirty="0">
                <a:latin typeface="Courier New" pitchFamily="49" charset="0"/>
              </a:rPr>
              <a:t> &lt;&lt; tests[0];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</a:t>
            </a:r>
            <a:r>
              <a:rPr lang="en-US" altLang="en-US" sz="2400" dirty="0" err="1">
                <a:latin typeface="Courier New" pitchFamily="49" charset="0"/>
              </a:rPr>
              <a:t>cin</a:t>
            </a:r>
            <a:r>
              <a:rPr lang="en-US" altLang="en-US" sz="2400" dirty="0">
                <a:latin typeface="Courier New" pitchFamily="49" charset="0"/>
              </a:rPr>
              <a:t> &gt;&gt; tests[1];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itchFamily="49" charset="0"/>
              </a:rPr>
              <a:t>	tests[4] = tests[0] + tests[1];</a:t>
            </a:r>
          </a:p>
          <a:p>
            <a:r>
              <a:rPr lang="en-US" altLang="en-US" sz="2800" dirty="0"/>
              <a:t>Arrays must be accessed via individual elements: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>
                <a:latin typeface="Courier New" pitchFamily="49" charset="0"/>
              </a:rPr>
              <a:t>cout</a:t>
            </a:r>
            <a:r>
              <a:rPr lang="en-US" altLang="en-US" sz="2400" dirty="0">
                <a:latin typeface="Courier New" pitchFamily="49" charset="0"/>
              </a:rPr>
              <a:t> &lt;&lt; tests; // illegal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8185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6" name="Picture 4" descr="Pink tissue paper">
            <a:extLst>
              <a:ext uri="{FF2B5EF4-FFF2-40B4-BE49-F238E27FC236}">
                <a16:creationId xmlns:a16="http://schemas.microsoft.com/office/drawing/2014/main" id="{C76A70BE-8A40-4756-BBD1-7CB3CED98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1"/>
          <a:stretch/>
        </p:blipFill>
        <p:spPr bwMode="auto">
          <a:xfrm>
            <a:off x="827584" y="1556792"/>
            <a:ext cx="6019800" cy="412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89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983D4E-F145-4C9F-80D9-57F26D7A5471}"/>
              </a:ext>
            </a:extLst>
          </p:cNvPr>
          <p:cNvGrpSpPr/>
          <p:nvPr/>
        </p:nvGrpSpPr>
        <p:grpSpPr>
          <a:xfrm>
            <a:off x="609600" y="1706563"/>
            <a:ext cx="7086600" cy="4562475"/>
            <a:chOff x="609600" y="1706563"/>
            <a:chExt cx="7086600" cy="4562475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FF030244-5621-4802-A5E9-220E18088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327525"/>
              <a:ext cx="70866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2000"/>
                <a:t>Here are the contents of the </a:t>
              </a:r>
              <a:r>
                <a:rPr lang="en-US" altLang="en-US" sz="2000">
                  <a:latin typeface="Courier New" pitchFamily="49" charset="0"/>
                </a:rPr>
                <a:t>hours</a:t>
              </a:r>
              <a:r>
                <a:rPr lang="en-US" altLang="en-US" sz="2000"/>
                <a:t> array, with the values entered by the user in the example output:</a:t>
              </a:r>
            </a:p>
          </p:txBody>
        </p:sp>
        <p:pic>
          <p:nvPicPr>
            <p:cNvPr id="9" name="Picture 4" descr="0707sowc copy">
              <a:extLst>
                <a:ext uri="{FF2B5EF4-FFF2-40B4-BE49-F238E27FC236}">
                  <a16:creationId xmlns:a16="http://schemas.microsoft.com/office/drawing/2014/main" id="{87906E65-C204-4DD2-9384-857B16C5B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5181600"/>
              <a:ext cx="5534025" cy="1087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 descr="Pink tissue paper">
              <a:extLst>
                <a:ext uri="{FF2B5EF4-FFF2-40B4-BE49-F238E27FC236}">
                  <a16:creationId xmlns:a16="http://schemas.microsoft.com/office/drawing/2014/main" id="{2987071B-7C88-49AF-BDB8-41769E244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25" y="1706563"/>
              <a:ext cx="5654675" cy="251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772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 	learncpp.com: 6.1 – Arrays (Part 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8E5520-9DC8-4DFD-9A30-C4EDED934B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718945-9662-4EE7-80E9-DFC4DFE879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00CB8D7-4266-469B-AFB8-2E25F52DA2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29255</TotalTime>
  <Words>441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Introduction to Arrays</vt:lpstr>
      <vt:lpstr>Array</vt:lpstr>
      <vt:lpstr>Array Memory Layout</vt:lpstr>
      <vt:lpstr>Size of an Array</vt:lpstr>
      <vt:lpstr>Size Declarators</vt:lpstr>
      <vt:lpstr>Array Subscript</vt:lpstr>
      <vt:lpstr>Accessing Array Elements</vt:lpstr>
      <vt:lpstr>Example 1</vt:lpstr>
      <vt:lpstr>Example 1 (continued)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Introduction to Arrays</dc:title>
  <dc:creator>Ram Singh</dc:creator>
  <cp:lastModifiedBy>Upul Gunawardana</cp:lastModifiedBy>
  <cp:revision>765</cp:revision>
  <dcterms:created xsi:type="dcterms:W3CDTF">2018-02-26T21:48:17Z</dcterms:created>
  <dcterms:modified xsi:type="dcterms:W3CDTF">2022-05-19T15:33:01Z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