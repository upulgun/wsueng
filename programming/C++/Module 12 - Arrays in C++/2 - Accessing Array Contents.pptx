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17" r:id="rId8"/>
    <p:sldId id="311" r:id="rId9"/>
    <p:sldId id="318" r:id="rId10"/>
    <p:sldId id="319" r:id="rId11"/>
    <p:sldId id="320" r:id="rId12"/>
    <p:sldId id="322" r:id="rId13"/>
    <p:sldId id="323" r:id="rId14"/>
    <p:sldId id="324" r:id="rId15"/>
    <p:sldId id="29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93" d="100"/>
          <a:sy n="93" d="100"/>
        </p:scale>
        <p:origin x="8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47CA861D-F454-40BD-AA36-A0CC66EE7DA3}"/>
    <pc:docChg chg="modSld">
      <pc:chgData name="Upul Gunawardana" userId="d78f31a5-8ae7-4659-910b-ce777cc612cd" providerId="ADAL" clId="{47CA861D-F454-40BD-AA36-A0CC66EE7DA3}" dt="2022-05-19T15:33:48.612" v="13" actId="20577"/>
      <pc:docMkLst>
        <pc:docMk/>
      </pc:docMkLst>
      <pc:sldChg chg="modSp mod">
        <pc:chgData name="Upul Gunawardana" userId="d78f31a5-8ae7-4659-910b-ce777cc612cd" providerId="ADAL" clId="{47CA861D-F454-40BD-AA36-A0CC66EE7DA3}" dt="2022-05-19T15:33:48.612" v="13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47CA861D-F454-40BD-AA36-A0CC66EE7DA3}" dt="2022-05-19T15:33:48.612" v="13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5/20/2022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20/05/2022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5/20/2022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plusplus.com/doc/tutorial/array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63-arrays-and-loop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Accessing Array Contents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Accessing Array Contents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8069B24B-A97A-4A2B-AA86-644C058570F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46275"/>
            <a:ext cx="8153400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Can access element with a constant or literal subscript:</a:t>
            </a:r>
          </a:p>
          <a:p>
            <a:pPr lvl="1"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latin typeface="Courier New" pitchFamily="49" charset="0"/>
              </a:rPr>
              <a:t>cout &lt;&lt; tests[3] &lt;&lt; endl;</a:t>
            </a:r>
            <a:br>
              <a:rPr lang="en-US" altLang="en-US">
                <a:latin typeface="Courier New" pitchFamily="49" charset="0"/>
              </a:rPr>
            </a:br>
            <a:endParaRPr lang="en-US" altLang="en-US">
              <a:latin typeface="Courier New" pitchFamily="49" charset="0"/>
            </a:endParaRPr>
          </a:p>
          <a:p>
            <a:r>
              <a:rPr lang="en-US" altLang="en-US"/>
              <a:t>Can use integer expression as subscript: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US"/>
              <a:t>	</a:t>
            </a:r>
            <a:r>
              <a:rPr lang="en-US" altLang="en-US">
                <a:latin typeface="Courier New" pitchFamily="49" charset="0"/>
              </a:rPr>
              <a:t>int i = 5;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en-US">
                <a:latin typeface="Courier New" pitchFamily="49" charset="0"/>
              </a:rPr>
              <a:t>	cout &lt;&lt; tests[i] &lt;&lt; endl;</a:t>
            </a:r>
            <a:endParaRPr lang="en-US" alt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a Loop to Step Through an Array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4ECD2D8-AF76-4472-A721-796C824BBEDF}"/>
              </a:ext>
            </a:extLst>
          </p:cNvPr>
          <p:cNvGrpSpPr/>
          <p:nvPr/>
        </p:nvGrpSpPr>
        <p:grpSpPr>
          <a:xfrm>
            <a:off x="304800" y="1600200"/>
            <a:ext cx="8534400" cy="3671888"/>
            <a:chOff x="304800" y="1600200"/>
            <a:chExt cx="8534400" cy="3671888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1E27BF92-675E-450B-B813-77B3D60C1A8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600200"/>
              <a:ext cx="8305800" cy="14541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/>
                <a:t>Example – The following code defines an array, </a:t>
              </a:r>
              <a:r>
                <a:rPr lang="en-US" altLang="en-US">
                  <a:latin typeface="Courier New" pitchFamily="49" charset="0"/>
                </a:rPr>
                <a:t>numbers</a:t>
              </a:r>
              <a:r>
                <a:rPr lang="en-US" altLang="en-US"/>
                <a:t>, and assigns 99 to each element:</a:t>
              </a:r>
              <a:endParaRPr lang="en-US" altLang="en-US" dirty="0"/>
            </a:p>
          </p:txBody>
        </p:sp>
        <p:sp>
          <p:nvSpPr>
            <p:cNvPr id="17" name="Text Box 4">
              <a:extLst>
                <a:ext uri="{FF2B5EF4-FFF2-40B4-BE49-F238E27FC236}">
                  <a16:creationId xmlns:a16="http://schemas.microsoft.com/office/drawing/2014/main" id="{26081475-C812-43BC-83F3-D17564643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3505200"/>
              <a:ext cx="8534400" cy="1766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sz="2200">
                  <a:latin typeface="Courier New" pitchFamily="49" charset="0"/>
                </a:rPr>
                <a:t>const int ARRAY_SIZE = 5;</a:t>
              </a:r>
            </a:p>
            <a:p>
              <a:pPr eaLnBrk="1" hangingPunct="1"/>
              <a:r>
                <a:rPr lang="en-US" altLang="en-US" sz="2200">
                  <a:latin typeface="Courier New" pitchFamily="49" charset="0"/>
                </a:rPr>
                <a:t>int numbers[ARRAY_SIZE];</a:t>
              </a:r>
              <a:br>
                <a:rPr lang="en-US" altLang="en-US" sz="2200">
                  <a:latin typeface="Courier New" pitchFamily="49" charset="0"/>
                </a:rPr>
              </a:br>
              <a:endParaRPr lang="en-US" altLang="en-US" sz="2200">
                <a:latin typeface="Courier New" pitchFamily="49" charset="0"/>
              </a:endParaRPr>
            </a:p>
            <a:p>
              <a:pPr eaLnBrk="1" hangingPunct="1"/>
              <a:r>
                <a:rPr lang="en-US" altLang="en-US" sz="2200">
                  <a:latin typeface="Courier New" pitchFamily="49" charset="0"/>
                </a:rPr>
                <a:t>for (int count = 0; count &lt; ARRAY_SIZE; count++)</a:t>
              </a:r>
            </a:p>
            <a:p>
              <a:pPr eaLnBrk="1" hangingPunct="1"/>
              <a:r>
                <a:rPr lang="en-US" altLang="en-US" sz="2200">
                  <a:latin typeface="Courier New" pitchFamily="49" charset="0"/>
                </a:rPr>
                <a:t>     numbers[count] = 99;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443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Closer Look at the Loop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3" descr="0708sowc copy">
            <a:extLst>
              <a:ext uri="{FF2B5EF4-FFF2-40B4-BE49-F238E27FC236}">
                <a16:creationId xmlns:a16="http://schemas.microsoft.com/office/drawing/2014/main" id="{ADB3A65D-CA20-4E7A-BDA3-DB78C8E29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204864"/>
            <a:ext cx="7654737" cy="2794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 Initialisation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14D5063-E1D8-4D3F-B294-7AD98B19B96B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48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Global array </a:t>
            </a:r>
            <a:r>
              <a:rPr lang="en-US" altLang="en-US">
                <a:sym typeface="Wingdings" pitchFamily="2" charset="2"/>
              </a:rPr>
              <a:t> all elements initialized to </a:t>
            </a:r>
            <a:r>
              <a:rPr lang="en-US" altLang="en-US">
                <a:latin typeface="Courier New" pitchFamily="49" charset="0"/>
                <a:sym typeface="Wingdings" pitchFamily="2" charset="2"/>
              </a:rPr>
              <a:t>0</a:t>
            </a:r>
            <a:r>
              <a:rPr lang="en-US" altLang="en-US">
                <a:sym typeface="Wingdings" pitchFamily="2" charset="2"/>
              </a:rPr>
              <a:t> by default</a:t>
            </a:r>
            <a:br>
              <a:rPr lang="en-US" altLang="en-US">
                <a:sym typeface="Wingdings" pitchFamily="2" charset="2"/>
              </a:rPr>
            </a:br>
            <a:endParaRPr lang="en-US" altLang="en-US">
              <a:sym typeface="Wingdings" pitchFamily="2" charset="2"/>
            </a:endParaRPr>
          </a:p>
          <a:p>
            <a:r>
              <a:rPr lang="en-US" altLang="en-US">
                <a:sym typeface="Wingdings" pitchFamily="2" charset="2"/>
              </a:rPr>
              <a:t>Local array  all elements </a:t>
            </a:r>
            <a:r>
              <a:rPr lang="en-US" altLang="en-US" i="1">
                <a:sym typeface="Wingdings" pitchFamily="2" charset="2"/>
              </a:rPr>
              <a:t>uninitialized</a:t>
            </a:r>
            <a:r>
              <a:rPr lang="en-US" altLang="en-US">
                <a:sym typeface="Wingdings" pitchFamily="2" charset="2"/>
              </a:rPr>
              <a:t> by default</a:t>
            </a:r>
            <a:endParaRPr lang="en-US" altLang="en-US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3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Bounds Checking in C++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CC2FFB4-5A3B-48D2-92C3-04A17245E1F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46275"/>
            <a:ext cx="8229600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When you use a value as an array subscript, C++ does not check it to make sure it is a </a:t>
            </a:r>
            <a:r>
              <a:rPr lang="en-US" altLang="en-US" i="1"/>
              <a:t>valid</a:t>
            </a:r>
            <a:r>
              <a:rPr lang="en-US" altLang="en-US"/>
              <a:t> subscript.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In other words, you can use subscripts that are beyond the bounds of the array.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4738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CCB9697-6075-4C1E-A000-32BFD163DA4F}"/>
              </a:ext>
            </a:extLst>
          </p:cNvPr>
          <p:cNvGrpSpPr/>
          <p:nvPr/>
        </p:nvGrpSpPr>
        <p:grpSpPr>
          <a:xfrm>
            <a:off x="304800" y="1600200"/>
            <a:ext cx="8534400" cy="3657600"/>
            <a:chOff x="304800" y="1600200"/>
            <a:chExt cx="8534400" cy="3657600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CAACEEE6-B732-46E6-9C15-4BE68057A2D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600200"/>
              <a:ext cx="8305800" cy="15938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en-US"/>
                <a:t>The following code defines a three-element array, and then writes five values to it!</a:t>
              </a:r>
              <a:endParaRPr lang="en-US" altLang="en-US" dirty="0"/>
            </a:p>
          </p:txBody>
        </p:sp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3AF466A7-8191-4B1F-B7FF-75228BA0B9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800" y="3227388"/>
              <a:ext cx="8534400" cy="2030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81852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7056784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 (continued)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3" descr="0709sowc copy">
            <a:extLst>
              <a:ext uri="{FF2B5EF4-FFF2-40B4-BE49-F238E27FC236}">
                <a16:creationId xmlns:a16="http://schemas.microsoft.com/office/drawing/2014/main" id="{3DA07BAB-FF90-44F3-8595-CA488A69E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68438"/>
            <a:ext cx="8305800" cy="493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4892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6912768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Bounds Checking in C++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241107B-AD08-437A-9284-196C9D6F927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946275"/>
            <a:ext cx="8229600" cy="374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Be careful not to use invalid subscripts</a:t>
            </a:r>
            <a:r>
              <a:rPr lang="en-US" altLang="en-US"/>
              <a:t>.</a:t>
            </a:r>
          </a:p>
          <a:p>
            <a:r>
              <a:rPr lang="en-US" altLang="en-US" b="1">
                <a:solidFill>
                  <a:srgbClr val="3333CC"/>
                </a:solidFill>
              </a:rPr>
              <a:t>Doing so can corrupt other memory locations, crash program, or lock up computer, and cause elusive bugs</a:t>
            </a:r>
            <a:r>
              <a:rPr lang="en-US" altLang="en-US"/>
              <a:t>.</a:t>
            </a:r>
          </a:p>
          <a:p>
            <a:pPr>
              <a:buFont typeface="Times" pitchFamily="-16" charset="0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27728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93877"/>
            <a:ext cx="6912768" cy="1080120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Off-by-One Errors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4AEB75-84DE-4658-8673-DEA856340291}"/>
              </a:ext>
            </a:extLst>
          </p:cNvPr>
          <p:cNvGrpSpPr/>
          <p:nvPr/>
        </p:nvGrpSpPr>
        <p:grpSpPr>
          <a:xfrm>
            <a:off x="381000" y="1600200"/>
            <a:ext cx="8382000" cy="4356100"/>
            <a:chOff x="381000" y="1600200"/>
            <a:chExt cx="8382000" cy="4356100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5CE5EC6D-9752-4BA4-B9F7-653EA4EB68C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600200"/>
              <a:ext cx="8305800" cy="200818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altLang="en-US" b="1">
                  <a:solidFill>
                    <a:srgbClr val="3333CC"/>
                  </a:solidFill>
                </a:rPr>
                <a:t>An off-by-one error happens when you use array subscripts that are off by one</a:t>
              </a:r>
              <a:r>
                <a:rPr lang="en-US" altLang="en-US"/>
                <a:t>.</a:t>
              </a:r>
            </a:p>
            <a:p>
              <a:pPr>
                <a:lnSpc>
                  <a:spcPct val="90000"/>
                </a:lnSpc>
              </a:pPr>
              <a:r>
                <a:rPr lang="en-US" altLang="en-US"/>
                <a:t>This can happen when you start subscripts at 1 rather than 0:</a:t>
              </a:r>
              <a:endParaRPr lang="en-US" altLang="en-US" dirty="0"/>
            </a:p>
          </p:txBody>
        </p:sp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84397FBE-62B9-42C2-A1F0-F69DF8C31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" y="4038600"/>
              <a:ext cx="8382000" cy="191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ヒラギノ角ゴ Pro W3" pitchFamily="-16" charset="-128"/>
                </a:defRPr>
              </a:lvl9pPr>
            </a:lstStyle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// This code has an off-by-one error.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const </a:t>
              </a:r>
              <a:r>
                <a:rPr lang="en-US" altLang="en-US" dirty="0" err="1">
                  <a:latin typeface="Courier New" pitchFamily="49" charset="0"/>
                </a:rPr>
                <a:t>int</a:t>
              </a:r>
              <a:r>
                <a:rPr lang="en-US" altLang="en-US" dirty="0">
                  <a:latin typeface="Courier New" pitchFamily="49" charset="0"/>
                </a:rPr>
                <a:t> SIZE = 100;</a:t>
              </a:r>
            </a:p>
            <a:p>
              <a:pPr eaLnBrk="1" hangingPunct="1"/>
              <a:r>
                <a:rPr lang="en-US" altLang="en-US" dirty="0" err="1">
                  <a:latin typeface="Courier New" pitchFamily="49" charset="0"/>
                </a:rPr>
                <a:t>int</a:t>
              </a:r>
              <a:r>
                <a:rPr lang="en-US" altLang="en-US" dirty="0">
                  <a:latin typeface="Courier New" pitchFamily="49" charset="0"/>
                </a:rPr>
                <a:t> numbers[SIZE];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for (</a:t>
              </a:r>
              <a:r>
                <a:rPr lang="en-US" altLang="en-US" dirty="0" err="1">
                  <a:latin typeface="Courier New" pitchFamily="49" charset="0"/>
                </a:rPr>
                <a:t>int</a:t>
              </a:r>
              <a:r>
                <a:rPr lang="en-US" altLang="en-US" dirty="0">
                  <a:latin typeface="Courier New" pitchFamily="49" charset="0"/>
                </a:rPr>
                <a:t> count = 1; count &lt;= SIZE; count++)</a:t>
              </a:r>
            </a:p>
            <a:p>
              <a:pPr eaLnBrk="1" hangingPunct="1"/>
              <a:r>
                <a:rPr lang="en-US" altLang="en-US" dirty="0">
                  <a:latin typeface="Courier New" pitchFamily="49" charset="0"/>
                </a:rPr>
                <a:t>   numbers[count] = 0;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2200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Arrays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https://www.cplusplus.com/doc/tutorial/arrays/</a:t>
            </a:r>
            <a:endParaRPr lang="en-AU" sz="2400" dirty="0"/>
          </a:p>
          <a:p>
            <a:r>
              <a:rPr lang="en-AU" sz="2400" dirty="0"/>
              <a:t>[2] 	learncpp.com: 6.3 – Arrays and loops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https://www.learncpp.com/cpp-tutorial/63-arrays-and-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loops/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D59AAA-61D1-45AD-AAEB-14B15EF7DA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7B2E1A-3A3E-4A9D-A945-571E6F308A0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09A0053-6712-4D03-B214-1EB4B9F00D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29282</TotalTime>
  <Words>397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Accessing Array Contents</vt:lpstr>
      <vt:lpstr>Accessing Array Contents</vt:lpstr>
      <vt:lpstr>Using a Loop to Step Through an Array</vt:lpstr>
      <vt:lpstr>A Closer Look at the Loop</vt:lpstr>
      <vt:lpstr>Default Initialisation</vt:lpstr>
      <vt:lpstr>No Bounds Checking in C++</vt:lpstr>
      <vt:lpstr>Example 2</vt:lpstr>
      <vt:lpstr>Example 2 (continued)</vt:lpstr>
      <vt:lpstr>No Bounds Checking in C++</vt:lpstr>
      <vt:lpstr>Off-by-One Errors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2 - Accessing Array Contents</dc:title>
  <dc:creator>Ram Singh</dc:creator>
  <cp:lastModifiedBy>Upul Gunawardana</cp:lastModifiedBy>
  <cp:revision>778</cp:revision>
  <dcterms:created xsi:type="dcterms:W3CDTF">2018-02-26T21:48:17Z</dcterms:created>
  <dcterms:modified xsi:type="dcterms:W3CDTF">2022-05-19T15:33:51Z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