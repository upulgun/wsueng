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sldIdLst>
    <p:sldId id="275" r:id="rId6"/>
    <p:sldId id="295" r:id="rId7"/>
    <p:sldId id="306" r:id="rId8"/>
    <p:sldId id="305" r:id="rId9"/>
    <p:sldId id="309" r:id="rId10"/>
    <p:sldId id="311" r:id="rId11"/>
    <p:sldId id="308" r:id="rId12"/>
    <p:sldId id="310" r:id="rId13"/>
    <p:sldId id="312" r:id="rId14"/>
    <p:sldId id="313" r:id="rId15"/>
    <p:sldId id="29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>
      <p:cViewPr varScale="1">
        <p:scale>
          <a:sx n="86" d="100"/>
          <a:sy n="86" d="100"/>
        </p:scale>
        <p:origin x="1038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pul Gunawardana" userId="d78f31a5-8ae7-4659-910b-ce777cc612cd" providerId="ADAL" clId="{31C448BB-AF8F-4739-947E-0527DB8F0EA0}"/>
    <pc:docChg chg="modSld">
      <pc:chgData name="Upul Gunawardana" userId="d78f31a5-8ae7-4659-910b-ce777cc612cd" providerId="ADAL" clId="{31C448BB-AF8F-4739-947E-0527DB8F0EA0}" dt="2022-05-26T14:20:10.067" v="13" actId="20577"/>
      <pc:docMkLst>
        <pc:docMk/>
      </pc:docMkLst>
      <pc:sldChg chg="modSp mod">
        <pc:chgData name="Upul Gunawardana" userId="d78f31a5-8ae7-4659-910b-ce777cc612cd" providerId="ADAL" clId="{31C448BB-AF8F-4739-947E-0527DB8F0EA0}" dt="2022-05-26T14:20:10.067" v="13" actId="20577"/>
        <pc:sldMkLst>
          <pc:docMk/>
          <pc:sldMk cId="120957276" sldId="275"/>
        </pc:sldMkLst>
        <pc:spChg chg="mod">
          <ac:chgData name="Upul Gunawardana" userId="d78f31a5-8ae7-4659-910b-ce777cc612cd" providerId="ADAL" clId="{31C448BB-AF8F-4739-947E-0527DB8F0EA0}" dt="2022-05-26T14:20:10.067" v="13" actId="20577"/>
          <ac:spMkLst>
            <pc:docMk/>
            <pc:sldMk cId="120957276" sldId="275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197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2218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552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77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36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519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4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356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1595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309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9275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198" y="5466306"/>
            <a:ext cx="8419605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654" y="1400037"/>
            <a:ext cx="3456878" cy="393146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08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4159045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3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89" r="13866" b="10687"/>
          <a:stretch/>
        </p:blipFill>
        <p:spPr>
          <a:xfrm>
            <a:off x="0" y="0"/>
            <a:ext cx="9144000" cy="683569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9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592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bg1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9521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361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110" y="5466306"/>
            <a:ext cx="8155781" cy="1065126"/>
          </a:xfrm>
        </p:spPr>
        <p:txBody>
          <a:bodyPr anchor="t">
            <a:noAutofit/>
          </a:bodyPr>
          <a:lstStyle>
            <a:lvl1pPr algn="ctr">
              <a:lnSpc>
                <a:spcPts val="2625"/>
              </a:lnSpc>
              <a:defRPr sz="2625">
                <a:solidFill>
                  <a:schemeClr val="tx2"/>
                </a:solidFill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6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1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5616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</a:t>
            </a:r>
            <a:br>
              <a:rPr lang="en-AU" dirty="0"/>
            </a:br>
            <a:r>
              <a:rPr lang="en-AU" dirty="0"/>
              <a:t>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677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1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1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55" y="320529"/>
            <a:ext cx="3350400" cy="79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9765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Title Slid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0593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Title Slid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4110" y="1701800"/>
            <a:ext cx="3888581" cy="4495800"/>
          </a:xfrm>
        </p:spPr>
        <p:txBody>
          <a:bodyPr anchor="t">
            <a:noAutofit/>
          </a:bodyPr>
          <a:lstStyle>
            <a:lvl1pPr algn="l">
              <a:lnSpc>
                <a:spcPts val="4875"/>
              </a:lnSpc>
              <a:defRPr sz="487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EDIT MASTER TITLE STYLE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2256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ts val="2625"/>
              </a:lnSpc>
              <a:defRPr sz="2625"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110" y="1871498"/>
            <a:ext cx="8154590" cy="4326102"/>
          </a:xfrm>
        </p:spPr>
        <p:txBody>
          <a:bodyPr/>
          <a:lstStyle>
            <a:lvl1pPr>
              <a:lnSpc>
                <a:spcPts val="1275"/>
              </a:lnSpc>
              <a:spcAft>
                <a:spcPts val="0"/>
              </a:spcAft>
              <a:defRPr lang="en-AU" sz="1125" b="1" i="0" kern="1200" dirty="0" smtClean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61925" indent="0">
              <a:lnSpc>
                <a:spcPts val="1275"/>
              </a:lnSpc>
              <a:spcAft>
                <a:spcPts val="638"/>
              </a:spcAft>
              <a:tabLst/>
              <a:defRPr lang="en-AU" sz="1125" b="0" i="0" kern="1200" dirty="0" smtClean="0">
                <a:solidFill>
                  <a:schemeClr val="tx2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3536E21-BEA9-0843-BB9C-C6C3FA5E478E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50125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94110" y="1867584"/>
            <a:ext cx="8154590" cy="4330017"/>
          </a:xfrm>
        </p:spPr>
        <p:txBody>
          <a:bodyPr/>
          <a:lstStyle>
            <a:lvl1pPr>
              <a:lnSpc>
                <a:spcPts val="2625"/>
              </a:lnSpc>
              <a:defRPr sz="2625"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>
              <a:lnSpc>
                <a:spcPts val="2625"/>
              </a:lnSpc>
              <a:spcAft>
                <a:spcPts val="450"/>
              </a:spcAft>
              <a:defRPr sz="2625"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lnSpc>
                <a:spcPts val="1650"/>
              </a:lnSpc>
              <a:defRPr sz="1500" b="0" i="0">
                <a:solidFill>
                  <a:schemeClr val="bg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</a:t>
            </a:r>
          </a:p>
          <a:p>
            <a:pPr lvl="1"/>
            <a:r>
              <a:rPr lang="en-AU" dirty="0"/>
              <a:t>SECOND </a:t>
            </a:r>
            <a:br>
              <a:rPr lang="en-AU" dirty="0"/>
            </a:br>
            <a:r>
              <a:rPr lang="en-AU" dirty="0"/>
              <a:t>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CF49794A-F156-8443-AFB0-D6053EF71D28}" type="datetime1">
              <a:rPr lang="en-US" smtClean="0">
                <a:solidFill>
                  <a:srgbClr val="FFFFFF"/>
                </a:solidFill>
              </a:rPr>
              <a:pPr/>
              <a:t>5/27/2022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solidFill>
                  <a:schemeClr val="accent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FE7073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FFFFFF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FFFFFF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FFFFFF"/>
              </a:solidFill>
              <a:latin typeface="Gotham Narrow Bold" pitchFamily="50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505" y="388914"/>
            <a:ext cx="1205994" cy="51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406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4578" y="1854200"/>
            <a:ext cx="6201022" cy="4343400"/>
          </a:xfrm>
        </p:spPr>
        <p:txBody>
          <a:bodyPr/>
          <a:lstStyle>
            <a:lvl1pPr>
              <a:lnSpc>
                <a:spcPts val="4875"/>
              </a:lnSpc>
              <a:defRPr lang="en-US" sz="4875" b="1" i="0" kern="1200" dirty="0">
                <a:solidFill>
                  <a:schemeClr val="bg1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4D41AC54-ACEA-E74A-A236-8CA4995D51A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91300" y="6519864"/>
            <a:ext cx="2057400" cy="201613"/>
          </a:xfrm>
        </p:spPr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6205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ECA7C0A-6EA2-2945-92B3-332C9C64946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4824412" y="1871498"/>
            <a:ext cx="3824287" cy="43388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6552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94C0D1A5-277E-8E4E-A287-21A2C45B1049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3818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95250" indent="-95250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D6734711-CBF7-0149-96E1-DB465890B98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2" y="1871664"/>
            <a:ext cx="3824287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876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3824534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0479E50-DC0F-194F-BF55-6288B1AAE44C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824414" y="1871664"/>
            <a:ext cx="3824286" cy="432594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302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8153647" cy="4326102"/>
          </a:xfrm>
        </p:spPr>
        <p:txBody>
          <a:bodyPr/>
          <a:lstStyle>
            <a:lvl1pPr marL="0">
              <a:lnSpc>
                <a:spcPts val="1200"/>
              </a:lnSpc>
              <a:spcAft>
                <a:spcPts val="1125"/>
              </a:spcAft>
              <a:defRPr sz="135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33350" indent="-133350">
              <a:lnSpc>
                <a:spcPts val="1500"/>
              </a:lnSpc>
              <a:spcAft>
                <a:spcPts val="1125"/>
              </a:spcAft>
              <a:buFont typeface="Arial" charset="0"/>
              <a:buChar char="•"/>
              <a:tabLst/>
              <a:defRPr sz="135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3A0E362F-15F3-414F-AD19-772E0A70F7DD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2953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0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0" indent="0">
              <a:lnSpc>
                <a:spcPts val="1050"/>
              </a:lnSpc>
              <a:spcAft>
                <a:spcPts val="638"/>
              </a:spcAft>
              <a:buFont typeface="Arial" charset="0"/>
              <a:buNone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D3BF28-C868-1E42-AD12-0669017885B5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9" name="Table Placeholder 8"/>
          <p:cNvSpPr>
            <a:spLocks noGrp="1"/>
          </p:cNvSpPr>
          <p:nvPr>
            <p:ph type="tbl" sz="quarter" idx="13"/>
          </p:nvPr>
        </p:nvSpPr>
        <p:spPr>
          <a:xfrm>
            <a:off x="3733800" y="2134263"/>
            <a:ext cx="4648200" cy="38474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939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3580210" y="1871498"/>
            <a:ext cx="5068490" cy="4326102"/>
          </a:xfrm>
          <a:prstGeom prst="rect">
            <a:avLst/>
          </a:prstGeom>
          <a:solidFill>
            <a:srgbClr val="F0D7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871498"/>
            <a:ext cx="2914897" cy="4326102"/>
          </a:xfrm>
        </p:spPr>
        <p:txBody>
          <a:bodyPr/>
          <a:lstStyle>
            <a:lvl1pPr marL="0">
              <a:lnSpc>
                <a:spcPts val="1050"/>
              </a:lnSpc>
              <a:spcAft>
                <a:spcPts val="638"/>
              </a:spcAft>
              <a:defRPr sz="900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  <a:lvl2pPr marL="128588" indent="-128588">
              <a:lnSpc>
                <a:spcPts val="1050"/>
              </a:lnSpc>
              <a:spcAft>
                <a:spcPts val="638"/>
              </a:spcAft>
              <a:buFont typeface="Arial" charset="0"/>
              <a:buChar char="•"/>
              <a:tabLst/>
              <a:defRPr sz="900" b="0" i="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2pPr>
            <a:lvl3pPr marL="0">
              <a:lnSpc>
                <a:spcPts val="1050"/>
              </a:lnSpc>
              <a:spcAft>
                <a:spcPts val="225"/>
              </a:spcAft>
              <a:defRPr sz="900" b="0" i="0">
                <a:latin typeface="Gotham Narrow Book" charset="0"/>
                <a:ea typeface="Gotham Narrow Book" charset="0"/>
                <a:cs typeface="Gotham Narrow Book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4A54127-2AC4-624C-90C4-6E74D9031FD0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4"/>
          </p:nvPr>
        </p:nvSpPr>
        <p:spPr>
          <a:xfrm>
            <a:off x="3714750" y="2120900"/>
            <a:ext cx="4686300" cy="3873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556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bg>
      <p:bgPr>
        <a:solidFill>
          <a:srgbClr val="F0D7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054" y="1044576"/>
            <a:ext cx="3887638" cy="51657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51E290B4-B3E1-A34F-9420-070C7E24A97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R</a:t>
            </a:r>
          </a:p>
        </p:txBody>
      </p:sp>
      <p:sp>
        <p:nvSpPr>
          <p:cNvPr id="10" name="Chart Placeholder 9"/>
          <p:cNvSpPr>
            <a:spLocks noGrp="1"/>
          </p:cNvSpPr>
          <p:nvPr>
            <p:ph type="chart" sz="quarter" idx="13"/>
          </p:nvPr>
        </p:nvSpPr>
        <p:spPr>
          <a:xfrm>
            <a:off x="4761310" y="1044576"/>
            <a:ext cx="3887390" cy="51657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2257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8" y="1871498"/>
            <a:ext cx="5362821" cy="1227302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DF65FAE-121D-DF46-8371-2E67964D0BDF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28654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3285879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6095754" y="3370098"/>
            <a:ext cx="2552947" cy="2827503"/>
          </a:xfrm>
        </p:spPr>
        <p:txBody>
          <a:bodyPr/>
          <a:lstStyle>
            <a:lvl1pPr>
              <a:defRPr>
                <a:latin typeface="Chronicle Text G1" pitchFamily="50" charset="0"/>
              </a:defRPr>
            </a:lvl1pPr>
            <a:lvl2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>
              <a:defRPr b="0" i="0">
                <a:latin typeface="Gotham Narrow Light" charset="0"/>
                <a:ea typeface="Gotham Narrow Light" charset="0"/>
                <a:cs typeface="Gotham Narrow Light" charset="0"/>
              </a:defRPr>
            </a:lvl3pPr>
            <a:lvl4pPr>
              <a:defRPr>
                <a:latin typeface="Chronicle Text G1 Roman" charset="0"/>
              </a:defRPr>
            </a:lvl4pPr>
            <a:lvl5pPr>
              <a:defRPr>
                <a:latin typeface="Chronicle Text G1 Roman" charset="0"/>
              </a:defRPr>
            </a:lvl5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848800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hronicle Text G1" pitchFamily="50" charset="0"/>
              </a:defRPr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A89F7B0C-722D-8B45-BAF6-698B9FE8F812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 i="0"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 b="1" i="0">
                <a:latin typeface="Gotham Narrow" charset="0"/>
                <a:ea typeface="Gotham Narrow" charset="0"/>
                <a:cs typeface="Gotham Narrow" charset="0"/>
              </a:defRPr>
            </a:lvl1pPr>
          </a:lstStyle>
          <a:p>
            <a:r>
              <a:rPr lang="en-AU" dirty="0">
                <a:solidFill>
                  <a:srgbClr val="A31E34"/>
                </a:solidFill>
                <a:latin typeface="Gotham Narrow Bold" pitchFamily="50" charset="0"/>
              </a:rPr>
              <a:t>PAGE </a:t>
            </a:r>
            <a:fld id="{C9EE3F8F-BFD3-9842-9D76-CADACBFBDD00}" type="slidenum">
              <a:rPr lang="en-AU" smtClean="0">
                <a:solidFill>
                  <a:srgbClr val="A31E34"/>
                </a:solidFill>
                <a:latin typeface="Gotham Narrow Bold" pitchFamily="50" charset="0"/>
              </a:rPr>
              <a:pPr/>
              <a:t>‹#›</a:t>
            </a:fld>
            <a:endParaRPr lang="en-AU" dirty="0">
              <a:solidFill>
                <a:srgbClr val="A31E34"/>
              </a:solidFill>
              <a:latin typeface="Gotham Narrow Bold" pitchFamily="50" charset="0"/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95301" y="1871664"/>
            <a:ext cx="2676524" cy="12525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495301" y="3268664"/>
            <a:ext cx="2676524" cy="2979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3295651" y="1871664"/>
            <a:ext cx="2543174" cy="26622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3295651" y="4673600"/>
            <a:ext cx="2543174" cy="157480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6" name="Picture Placeholder 9"/>
          <p:cNvSpPr>
            <a:spLocks noGrp="1"/>
          </p:cNvSpPr>
          <p:nvPr>
            <p:ph type="pic" sz="quarter" idx="17"/>
          </p:nvPr>
        </p:nvSpPr>
        <p:spPr>
          <a:xfrm>
            <a:off x="5962651" y="1871664"/>
            <a:ext cx="2686049" cy="437673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956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64"/>
            <a:ext cx="4405159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7674" y="356258"/>
            <a:ext cx="904496" cy="51741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926" y="1224148"/>
            <a:ext cx="2644734" cy="40104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755" y="391883"/>
            <a:ext cx="1217897" cy="5225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803" y="1634834"/>
            <a:ext cx="2959920" cy="361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2A92F-A0B9-4717-B7E3-7EE6B8A56AEA}" type="datetimeFigureOut">
              <a:rPr lang="en-GB" smtClean="0"/>
              <a:t>27/05/2022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447CE-6AAD-4E1F-A998-EEC6877886A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154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5053" y="1010537"/>
            <a:ext cx="8153647" cy="68763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053" y="1871498"/>
            <a:ext cx="8153647" cy="43084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110" y="6519864"/>
            <a:ext cx="2057400" cy="20161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525" b="1" i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fld id="{7FF468EA-D9CE-8943-9C75-830D68AC402B}" type="datetime1">
              <a:rPr lang="en-US" smtClean="0">
                <a:solidFill>
                  <a:srgbClr val="A31E34"/>
                </a:solidFill>
              </a:rPr>
              <a:pPr/>
              <a:t>5/27/2022</a:t>
            </a:fld>
            <a:endParaRPr lang="en-US" dirty="0">
              <a:solidFill>
                <a:srgbClr val="A31E34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4110" y="391883"/>
            <a:ext cx="3086100" cy="182562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lang="en-US" sz="525" b="1" i="0" kern="1200" dirty="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1pPr>
          </a:lstStyle>
          <a:p>
            <a:r>
              <a:rPr lang="en-AU">
                <a:solidFill>
                  <a:srgbClr val="A31E34"/>
                </a:solidFill>
              </a:rPr>
              <a:t>SECTION TITLE GOTHAM NARROW BOLD 7PT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91300" y="6519864"/>
            <a:ext cx="2057400" cy="201613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US" sz="525" b="1" i="0" kern="1200" smtClean="0">
                <a:solidFill>
                  <a:schemeClr val="tx2"/>
                </a:solidFill>
                <a:latin typeface="Gotham Narrow Book" charset="0"/>
                <a:ea typeface="Gotham Narrow Book" charset="0"/>
                <a:cs typeface="Gotham Narrow Book" charset="0"/>
              </a:defRPr>
            </a:lvl1pPr>
          </a:lstStyle>
          <a:p>
            <a:r>
              <a:rPr>
                <a:solidFill>
                  <a:srgbClr val="A31E34"/>
                </a:solidFill>
              </a:rPr>
              <a:t>PAGE </a:t>
            </a:r>
            <a:fld id="{C9EE3F8F-BFD3-9842-9D76-CADACBFBDD00}" type="slidenum">
              <a:rPr>
                <a:solidFill>
                  <a:srgbClr val="A31E34"/>
                </a:solidFill>
              </a:rPr>
              <a:pPr/>
              <a:t>‹#›</a:t>
            </a:fld>
            <a:endParaRPr dirty="0">
              <a:solidFill>
                <a:srgbClr val="A31E34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803" y="391883"/>
            <a:ext cx="1217897" cy="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970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</p:sldLayoutIdLst>
  <p:hf hdr="0"/>
  <p:txStyles>
    <p:titleStyle>
      <a:lvl1pPr algn="l" defTabSz="685800" rtl="0" eaLnBrk="1" latinLnBrk="0" hangingPunct="1">
        <a:lnSpc>
          <a:spcPts val="2025"/>
        </a:lnSpc>
        <a:spcBef>
          <a:spcPct val="0"/>
        </a:spcBef>
        <a:buNone/>
        <a:defRPr sz="1875" kern="1200">
          <a:solidFill>
            <a:schemeClr val="tx2"/>
          </a:solidFill>
          <a:latin typeface="Chronicle Text G1" pitchFamily="50" charset="0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650"/>
        </a:lnSpc>
        <a:spcBef>
          <a:spcPts val="0"/>
        </a:spcBef>
        <a:spcAft>
          <a:spcPts val="975"/>
        </a:spcAft>
        <a:buFont typeface="Arial"/>
        <a:buNone/>
        <a:defRPr sz="1500" kern="1200">
          <a:solidFill>
            <a:schemeClr val="accent1"/>
          </a:solidFill>
          <a:latin typeface="Chronicle Text G1" pitchFamily="50" charset="0"/>
          <a:ea typeface="+mn-ea"/>
          <a:cs typeface="+mn-cs"/>
        </a:defRPr>
      </a:lvl1pPr>
      <a:lvl2pPr marL="0" indent="0" algn="l" defTabSz="685800" rtl="0" eaLnBrk="1" latinLnBrk="0" hangingPunct="1">
        <a:lnSpc>
          <a:spcPts val="1050"/>
        </a:lnSpc>
        <a:spcBef>
          <a:spcPts val="0"/>
        </a:spcBef>
        <a:buFont typeface="Arial"/>
        <a:buNone/>
        <a:tabLst/>
        <a:defRPr sz="900" b="1" i="0" kern="1200">
          <a:solidFill>
            <a:schemeClr val="tx2"/>
          </a:solidFill>
          <a:latin typeface="Gotham Narrow Bold" pitchFamily="50" charset="0"/>
          <a:ea typeface="Gotham Narrow Bold" pitchFamily="50" charset="0"/>
          <a:cs typeface="Gotham Narrow Bold" pitchFamily="50" charset="0"/>
        </a:defRPr>
      </a:lvl2pPr>
      <a:lvl3pPr marL="8335" indent="0" algn="l" defTabSz="685800" rtl="0" eaLnBrk="1" latinLnBrk="0" hangingPunct="1">
        <a:lnSpc>
          <a:spcPts val="1050"/>
        </a:lnSpc>
        <a:spcBef>
          <a:spcPts val="0"/>
        </a:spcBef>
        <a:spcAft>
          <a:spcPts val="638"/>
        </a:spcAft>
        <a:buFont typeface="Arial"/>
        <a:buNone/>
        <a:tabLst/>
        <a:defRPr sz="900" b="0" i="0" kern="1200">
          <a:solidFill>
            <a:schemeClr val="tx1"/>
          </a:solidFill>
          <a:latin typeface="Gotham Narrow Light" charset="0"/>
          <a:ea typeface="Gotham Narrow Light" charset="0"/>
          <a:cs typeface="Gotham Narrow Light" charset="0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/>
        <a:buNone/>
        <a:defRPr sz="1350" kern="1200">
          <a:solidFill>
            <a:schemeClr val="tx1"/>
          </a:solidFill>
          <a:latin typeface="Chronicle Text G1 Roman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8">
          <p15:clr>
            <a:srgbClr val="F26B43"/>
          </p15:clr>
        </p15:guide>
        <p15:guide id="2" pos="317" userDrawn="1">
          <p15:clr>
            <a:srgbClr val="F26B43"/>
          </p15:clr>
        </p15:guide>
        <p15:guide id="3" orient="horz" pos="4107">
          <p15:clr>
            <a:srgbClr val="F26B43"/>
          </p15:clr>
        </p15:guide>
        <p15:guide id="4" orient="horz" pos="640">
          <p15:clr>
            <a:srgbClr val="F26B43"/>
          </p15:clr>
        </p15:guide>
        <p15:guide id="5" pos="5443" userDrawn="1">
          <p15:clr>
            <a:srgbClr val="F26B43"/>
          </p15:clr>
        </p15:guide>
        <p15:guide id="6" pos="2721" userDrawn="1">
          <p15:clr>
            <a:srgbClr val="F26B43"/>
          </p15:clr>
        </p15:guide>
        <p15:guide id="7" pos="3039" userDrawn="1">
          <p15:clr>
            <a:srgbClr val="F26B43"/>
          </p15:clr>
        </p15:guide>
        <p15:guide id="8" orient="horz" pos="3904">
          <p15:clr>
            <a:srgbClr val="F26B43"/>
          </p15:clr>
        </p15:guide>
        <p15:guide id="9" orient="horz" pos="1072">
          <p15:clr>
            <a:srgbClr val="F26B43"/>
          </p15:clr>
        </p15:guide>
        <p15:guide id="10" orient="horz" pos="116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cplusplus.com/doc/tutorial/functions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learncpp.com/cpp-tutorial/function-return-valu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0847" y="1701801"/>
            <a:ext cx="7822306" cy="1367160"/>
          </a:xfrm>
        </p:spPr>
        <p:txBody>
          <a:bodyPr/>
          <a:lstStyle/>
          <a:p>
            <a:pPr algn="ctr"/>
            <a:r>
              <a:rPr lang="en-GB" sz="4400" dirty="0"/>
              <a:t>Return a Value from a Function</a:t>
            </a:r>
            <a:endParaRPr lang="en-US" sz="44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>
          <a:xfrm>
            <a:off x="1547664" y="3645024"/>
            <a:ext cx="6400800" cy="15111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 defTabSz="685800" rtl="0" eaLnBrk="1" latinLnBrk="0" hangingPunct="1">
              <a:lnSpc>
                <a:spcPts val="1650"/>
              </a:lnSpc>
              <a:spcBef>
                <a:spcPts val="0"/>
              </a:spcBef>
              <a:spcAft>
                <a:spcPts val="975"/>
              </a:spcAft>
              <a:buFont typeface="Arial"/>
              <a:buNone/>
              <a:defRPr sz="1500" kern="1200">
                <a:solidFill>
                  <a:schemeClr val="accent1"/>
                </a:solidFill>
                <a:latin typeface="Chronicle Text G1" pitchFamily="50" charset="0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buFont typeface="Arial"/>
              <a:buNone/>
              <a:tabLst/>
              <a:defRPr sz="900" b="1" i="0" kern="1200">
                <a:solidFill>
                  <a:schemeClr val="tx2"/>
                </a:solidFill>
                <a:latin typeface="Gotham Narrow Bold" pitchFamily="50" charset="0"/>
                <a:ea typeface="Gotham Narrow Bold" pitchFamily="50" charset="0"/>
                <a:cs typeface="Gotham Narrow Bold" pitchFamily="50" charset="0"/>
              </a:defRPr>
            </a:lvl2pPr>
            <a:lvl3pPr marL="8335" indent="0" algn="l" defTabSz="685800" rtl="0" eaLnBrk="1" latinLnBrk="0" hangingPunct="1">
              <a:lnSpc>
                <a:spcPts val="1050"/>
              </a:lnSpc>
              <a:spcBef>
                <a:spcPts val="0"/>
              </a:spcBef>
              <a:spcAft>
                <a:spcPts val="638"/>
              </a:spcAft>
              <a:buFont typeface="Arial"/>
              <a:buNone/>
              <a:tabLst/>
              <a:defRPr sz="900" b="0" i="0" kern="1200">
                <a:solidFill>
                  <a:schemeClr val="tx1"/>
                </a:solidFill>
                <a:latin typeface="Gotham Narrow Light" charset="0"/>
                <a:ea typeface="Gotham Narrow Light" charset="0"/>
                <a:cs typeface="Gotham Narrow Light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Chronicle Text G1 Roman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ELEC1006: </a:t>
            </a:r>
            <a:r>
              <a:rPr lang="en-AU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ENGINEERING COMPUTING</a:t>
            </a:r>
          </a:p>
          <a:p>
            <a:pPr algn="ctr"/>
            <a:endParaRPr lang="en-AU" sz="2400" b="1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AU" b="1" dirty="0">
                <a:solidFill>
                  <a:schemeClr val="accent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Statement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2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77654A30-B304-4E98-ACCE-601FE5A8BA0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4352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Used to end execution of a function.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Can be placed anywhere in a function.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Can be used to prevent abnormal termination of program (see Example 2).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In a 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void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function, where there is no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return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statement, 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the function ends at its last 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}</a:t>
            </a:r>
            <a:r>
              <a:rPr lang="en-US" sz="2800" dirty="0">
                <a:latin typeface="Arial" panose="020B0604020202020204" pitchFamily="34" charset="0"/>
                <a:ea typeface="ヒラギノ角ゴ Pro W3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ea typeface="ヒラギノ角ゴ Pro W3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462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1) Returning a Value from a Function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3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4A41172-880A-49E1-89E6-C928A6584FFE}"/>
              </a:ext>
            </a:extLst>
          </p:cNvPr>
          <p:cNvGrpSpPr/>
          <p:nvPr/>
        </p:nvGrpSpPr>
        <p:grpSpPr>
          <a:xfrm>
            <a:off x="457200" y="1808162"/>
            <a:ext cx="7845425" cy="4444611"/>
            <a:chOff x="457200" y="1808162"/>
            <a:chExt cx="7845425" cy="4444611"/>
          </a:xfrm>
        </p:grpSpPr>
        <p:sp>
          <p:nvSpPr>
            <p:cNvPr id="9" name="Rectangle 3">
              <a:extLst>
                <a:ext uri="{FF2B5EF4-FFF2-40B4-BE49-F238E27FC236}">
                  <a16:creationId xmlns:a16="http://schemas.microsoft.com/office/drawing/2014/main" id="{8A8B6A34-FC90-44AA-BB28-B449F58E522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457200" y="1808162"/>
              <a:ext cx="7845425" cy="435714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90000"/>
                </a:lnSpc>
              </a:pPr>
              <a:r>
                <a:rPr lang="en-US" sz="2800" dirty="0">
                  <a:latin typeface="Arial" charset="0"/>
                  <a:ea typeface="ヒラギノ角ゴ Pro W3" charset="0"/>
                  <a:cs typeface="Arial" charset="0"/>
                </a:rPr>
                <a:t>In a value-returning function, the </a:t>
              </a:r>
              <a:r>
                <a:rPr lang="en-US" sz="2800" dirty="0">
                  <a:latin typeface="Courier New" charset="0"/>
                  <a:ea typeface="ヒラギノ角ゴ Pro W3" charset="0"/>
                  <a:cs typeface="Arial" charset="0"/>
                </a:rPr>
                <a:t>return</a:t>
              </a:r>
              <a:r>
                <a:rPr lang="en-US" sz="2800" dirty="0">
                  <a:latin typeface="Arial" charset="0"/>
                  <a:ea typeface="ヒラギノ角ゴ Pro W3" charset="0"/>
                  <a:cs typeface="Arial" charset="0"/>
                </a:rPr>
                <a:t> statement can be used to return a value from function to the point of call. Example:</a:t>
              </a:r>
              <a:br>
                <a:rPr lang="en-US" sz="2800" dirty="0">
                  <a:latin typeface="Arial" charset="0"/>
                  <a:ea typeface="ヒラギノ角ゴ Pro W3" charset="0"/>
                  <a:cs typeface="Arial" charset="0"/>
                </a:rPr>
              </a:br>
              <a:endParaRPr lang="en-US" sz="2800" dirty="0">
                <a:latin typeface="Arial" charset="0"/>
                <a:ea typeface="ヒラギノ角ゴ Pro W3" charset="0"/>
                <a:cs typeface="Arial" charset="0"/>
              </a:endParaRPr>
            </a:p>
            <a:p>
              <a:pPr marL="0" indent="0">
                <a:lnSpc>
                  <a:spcPct val="90000"/>
                </a:lnSpc>
                <a:buNone/>
              </a:pPr>
              <a:br>
                <a:rPr lang="en-US" sz="2800" dirty="0">
                  <a:latin typeface="Arial" charset="0"/>
                  <a:ea typeface="ヒラギノ角ゴ Pro W3" charset="0"/>
                  <a:cs typeface="Arial" charset="0"/>
                </a:rPr>
              </a:br>
              <a:r>
                <a:rPr lang="en-US" sz="2800" dirty="0">
                  <a:latin typeface="Courier New" charset="0"/>
                  <a:ea typeface="ヒラギノ角ゴ Pro W3" charset="0"/>
                  <a:cs typeface="Arial" charset="0"/>
                </a:rPr>
                <a:t>int sum(int num1, int num2)</a:t>
              </a:r>
              <a:br>
                <a:rPr lang="en-US" sz="2800" dirty="0">
                  <a:latin typeface="Courier New" charset="0"/>
                  <a:ea typeface="ヒラギノ角ゴ Pro W3" charset="0"/>
                  <a:cs typeface="Arial" charset="0"/>
                </a:rPr>
              </a:br>
              <a:r>
                <a:rPr lang="en-US" sz="2800" dirty="0">
                  <a:latin typeface="Courier New" charset="0"/>
                  <a:ea typeface="ヒラギノ角ゴ Pro W3" charset="0"/>
                  <a:cs typeface="Arial" charset="0"/>
                </a:rPr>
                <a:t>{</a:t>
              </a:r>
              <a:br>
                <a:rPr lang="en-US" sz="2800" dirty="0">
                  <a:latin typeface="Courier New" charset="0"/>
                  <a:ea typeface="ヒラギノ角ゴ Pro W3" charset="0"/>
                  <a:cs typeface="Arial" charset="0"/>
                </a:rPr>
              </a:br>
              <a:r>
                <a:rPr lang="en-US" sz="2800" dirty="0">
                  <a:latin typeface="Courier New" charset="0"/>
                  <a:ea typeface="ヒラギノ角ゴ Pro W3" charset="0"/>
                  <a:cs typeface="Arial" charset="0"/>
                </a:rPr>
                <a:t>  double result;</a:t>
              </a:r>
              <a:br>
                <a:rPr lang="en-US" sz="2800" dirty="0">
                  <a:latin typeface="Courier New" charset="0"/>
                  <a:ea typeface="ヒラギノ角ゴ Pro W3" charset="0"/>
                  <a:cs typeface="Arial" charset="0"/>
                </a:rPr>
              </a:br>
              <a:r>
                <a:rPr lang="en-US" sz="2800" dirty="0">
                  <a:latin typeface="Courier New" charset="0"/>
                  <a:ea typeface="ヒラギノ角ゴ Pro W3" charset="0"/>
                  <a:cs typeface="Arial" charset="0"/>
                </a:rPr>
                <a:t>  result = num1 + num2;</a:t>
              </a:r>
              <a:br>
                <a:rPr lang="en-US" sz="2800" dirty="0">
                  <a:latin typeface="Courier New" charset="0"/>
                  <a:ea typeface="ヒラギノ角ゴ Pro W3" charset="0"/>
                  <a:cs typeface="Arial" charset="0"/>
                </a:rPr>
              </a:br>
              <a:r>
                <a:rPr lang="en-US" sz="2800" dirty="0">
                  <a:latin typeface="Courier New" charset="0"/>
                  <a:ea typeface="ヒラギノ角ゴ Pro W3" charset="0"/>
                  <a:cs typeface="Arial" charset="0"/>
                </a:rPr>
                <a:t>  return result;</a:t>
              </a:r>
              <a:br>
                <a:rPr lang="en-US" sz="2800" dirty="0">
                  <a:latin typeface="Courier New" charset="0"/>
                  <a:ea typeface="ヒラギノ角ゴ Pro W3" charset="0"/>
                  <a:cs typeface="Arial" charset="0"/>
                </a:rPr>
              </a:br>
              <a:r>
                <a:rPr lang="en-US" sz="2800" dirty="0">
                  <a:latin typeface="Courier New" charset="0"/>
                  <a:ea typeface="ヒラギノ角ゴ Pro W3" charset="0"/>
                  <a:cs typeface="Arial" charset="0"/>
                </a:rPr>
                <a:t>}</a:t>
              </a:r>
            </a:p>
            <a:p>
              <a:pPr>
                <a:lnSpc>
                  <a:spcPct val="90000"/>
                </a:lnSpc>
                <a:buFont typeface="Times" charset="0"/>
                <a:buNone/>
              </a:pPr>
              <a:endParaRPr lang="en-US" sz="2800" dirty="0">
                <a:latin typeface="Arial" charset="0"/>
                <a:ea typeface="ヒラギノ角ゴ Pro W3" charset="0"/>
                <a:cs typeface="Arial" charset="0"/>
              </a:endParaRPr>
            </a:p>
          </p:txBody>
        </p:sp>
        <p:sp>
          <p:nvSpPr>
            <p:cNvPr id="10" name="Text Box 4">
              <a:extLst>
                <a:ext uri="{FF2B5EF4-FFF2-40B4-BE49-F238E27FC236}">
                  <a16:creationId xmlns:a16="http://schemas.microsoft.com/office/drawing/2014/main" id="{838685B4-01C7-4D18-857E-CE5E6F8503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06610" y="2916868"/>
              <a:ext cx="2420938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sz="3200" dirty="0">
                  <a:solidFill>
                    <a:schemeClr val="accent2">
                      <a:lumMod val="75000"/>
                    </a:schemeClr>
                  </a:solidFill>
                </a:rPr>
                <a:t>Return Type</a:t>
              </a:r>
            </a:p>
          </p:txBody>
        </p:sp>
        <p:sp>
          <p:nvSpPr>
            <p:cNvPr id="11" name="Line 5">
              <a:extLst>
                <a:ext uri="{FF2B5EF4-FFF2-40B4-BE49-F238E27FC236}">
                  <a16:creationId xmlns:a16="http://schemas.microsoft.com/office/drawing/2014/main" id="{6A28EB89-E995-4ADE-A333-FEC22ECA72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2420" y="3342507"/>
              <a:ext cx="611267" cy="395386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  <p:sp>
          <p:nvSpPr>
            <p:cNvPr id="12" name="Text Box 6">
              <a:extLst>
                <a:ext uri="{FF2B5EF4-FFF2-40B4-BE49-F238E27FC236}">
                  <a16:creationId xmlns:a16="http://schemas.microsoft.com/office/drawing/2014/main" id="{C8A18F69-253D-49E4-93EA-4B11CF7BB9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9649" y="5673335"/>
              <a:ext cx="4419600" cy="579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3200" dirty="0">
                  <a:solidFill>
                    <a:schemeClr val="accent2">
                      <a:lumMod val="75000"/>
                    </a:schemeClr>
                  </a:solidFill>
                </a:rPr>
                <a:t>Value Being Returned</a:t>
              </a:r>
            </a:p>
          </p:txBody>
        </p:sp>
        <p:sp>
          <p:nvSpPr>
            <p:cNvPr id="13" name="Line 7">
              <a:extLst>
                <a:ext uri="{FF2B5EF4-FFF2-40B4-BE49-F238E27FC236}">
                  <a16:creationId xmlns:a16="http://schemas.microsoft.com/office/drawing/2014/main" id="{98DBF97B-1242-453B-90AD-ADCFC70F30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03848" y="5281620"/>
              <a:ext cx="545801" cy="479184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584941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2) Returning a Value from a Function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4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CDEB521-2C55-473F-B79F-C05BFB2DDB5C}"/>
              </a:ext>
            </a:extLst>
          </p:cNvPr>
          <p:cNvGrpSpPr/>
          <p:nvPr/>
        </p:nvGrpSpPr>
        <p:grpSpPr>
          <a:xfrm>
            <a:off x="876300" y="2025244"/>
            <a:ext cx="7391400" cy="3352800"/>
            <a:chOff x="304800" y="1981200"/>
            <a:chExt cx="7391400" cy="3352800"/>
          </a:xfrm>
        </p:grpSpPr>
        <p:sp>
          <p:nvSpPr>
            <p:cNvPr id="6" name="Text Box 3">
              <a:extLst>
                <a:ext uri="{FF2B5EF4-FFF2-40B4-BE49-F238E27FC236}">
                  <a16:creationId xmlns:a16="http://schemas.microsoft.com/office/drawing/2014/main" id="{08A123D0-F7E5-4BDD-AFF6-589CD23C50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1981200"/>
              <a:ext cx="6553200" cy="18002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800" dirty="0">
                  <a:latin typeface="Courier New" charset="0"/>
                </a:rPr>
                <a:t>	</a:t>
              </a:r>
              <a:r>
                <a:rPr lang="en-US" sz="2800" dirty="0" err="1">
                  <a:latin typeface="Courier New" charset="0"/>
                </a:rPr>
                <a:t>int</a:t>
              </a:r>
              <a:r>
                <a:rPr lang="en-US" sz="2800" dirty="0">
                  <a:latin typeface="Courier New" charset="0"/>
                </a:rPr>
                <a:t> sum(</a:t>
              </a:r>
              <a:r>
                <a:rPr lang="en-US" sz="2800" dirty="0" err="1">
                  <a:latin typeface="Courier New" charset="0"/>
                </a:rPr>
                <a:t>int</a:t>
              </a:r>
              <a:r>
                <a:rPr lang="en-US" sz="2800" dirty="0">
                  <a:latin typeface="Courier New" charset="0"/>
                </a:rPr>
                <a:t> num1, </a:t>
              </a:r>
              <a:r>
                <a:rPr lang="en-US" sz="2800" dirty="0" err="1">
                  <a:latin typeface="Courier New" charset="0"/>
                </a:rPr>
                <a:t>int</a:t>
              </a:r>
              <a:r>
                <a:rPr lang="en-US" sz="2800" dirty="0">
                  <a:latin typeface="Courier New" charset="0"/>
                </a:rPr>
                <a:t> num2)</a:t>
              </a:r>
              <a:br>
                <a:rPr lang="en-US" sz="2800" dirty="0">
                  <a:latin typeface="Courier New" charset="0"/>
                </a:rPr>
              </a:br>
              <a:r>
                <a:rPr lang="en-US" sz="2800" dirty="0">
                  <a:latin typeface="Courier New" charset="0"/>
                </a:rPr>
                <a:t>{</a:t>
              </a:r>
              <a:br>
                <a:rPr lang="en-US" sz="2800" dirty="0">
                  <a:latin typeface="Courier New" charset="0"/>
                </a:rPr>
              </a:br>
              <a:r>
                <a:rPr lang="en-US" sz="2800" dirty="0">
                  <a:latin typeface="Courier New" charset="0"/>
                </a:rPr>
                <a:t>   return num1 + num2;</a:t>
              </a:r>
              <a:br>
                <a:rPr lang="en-US" sz="2800" dirty="0">
                  <a:latin typeface="Courier New" charset="0"/>
                </a:rPr>
              </a:br>
              <a:r>
                <a:rPr lang="en-US" sz="2800" dirty="0">
                  <a:latin typeface="Courier New" charset="0"/>
                </a:rPr>
                <a:t>}</a:t>
              </a:r>
            </a:p>
          </p:txBody>
        </p:sp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6E3FDF14-CBBF-4B46-BFA9-B5A5D5C4F6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4267200"/>
              <a:ext cx="7391400" cy="1066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3200" dirty="0"/>
                <a:t>Functions can return the values of expressions, such as </a:t>
              </a:r>
              <a:r>
                <a:rPr lang="en-US" sz="3200" dirty="0">
                  <a:latin typeface="Courier New" charset="0"/>
                </a:rPr>
                <a:t>num1 + num2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3595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5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64CCE4D-E7F1-417B-BBD5-C11036EA8183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22" name="Picture 2">
              <a:extLst>
                <a:ext uri="{FF2B5EF4-FFF2-40B4-BE49-F238E27FC236}">
                  <a16:creationId xmlns:a16="http://schemas.microsoft.com/office/drawing/2014/main" id="{D9090974-B959-46F4-899B-DCCD565D205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684"/>
            <a:stretch/>
          </p:blipFill>
          <p:spPr bwMode="auto">
            <a:xfrm>
              <a:off x="0" y="0"/>
              <a:ext cx="6142932" cy="4575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2">
              <a:extLst>
                <a:ext uri="{FF2B5EF4-FFF2-40B4-BE49-F238E27FC236}">
                  <a16:creationId xmlns:a16="http://schemas.microsoft.com/office/drawing/2014/main" id="{C2552809-7218-480E-8A7D-0300FF8104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33707" y="4247535"/>
              <a:ext cx="6210293" cy="26104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0711" y="908720"/>
            <a:ext cx="4695095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052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6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16632"/>
            <a:ext cx="691276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1 continued …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3CFAE26-E122-4838-B42D-6DA4F7BB7E45}"/>
              </a:ext>
            </a:extLst>
          </p:cNvPr>
          <p:cNvGrpSpPr/>
          <p:nvPr/>
        </p:nvGrpSpPr>
        <p:grpSpPr>
          <a:xfrm>
            <a:off x="304800" y="1970924"/>
            <a:ext cx="8534400" cy="3868067"/>
            <a:chOff x="304800" y="2151733"/>
            <a:chExt cx="8534400" cy="3868067"/>
          </a:xfrm>
        </p:grpSpPr>
        <p:sp>
          <p:nvSpPr>
            <p:cNvPr id="9" name="Text Box 3">
              <a:extLst>
                <a:ext uri="{FF2B5EF4-FFF2-40B4-BE49-F238E27FC236}">
                  <a16:creationId xmlns:a16="http://schemas.microsoft.com/office/drawing/2014/main" id="{04E36E6C-BA0D-4935-A1FB-51AD20C2BE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4646613"/>
              <a:ext cx="8534400" cy="1373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ヒラギノ角ゴ Pro W3" charset="0"/>
                  <a:cs typeface="ヒラギノ角ゴ Pro W3" charset="0"/>
                </a:defRPr>
              </a:lvl9pPr>
            </a:lstStyle>
            <a:p>
              <a:pPr algn="just" eaLnBrk="1" hangingPunct="1">
                <a:spcBef>
                  <a:spcPct val="50000"/>
                </a:spcBef>
              </a:pPr>
              <a:r>
                <a:rPr lang="en-US" sz="2800" dirty="0"/>
                <a:t>The statement in line 17 calls the sum function, passing </a:t>
              </a:r>
              <a:r>
                <a:rPr lang="en-US" sz="2800" dirty="0">
                  <a:latin typeface="Courier New" charset="0"/>
                </a:rPr>
                <a:t>value1</a:t>
              </a:r>
              <a:r>
                <a:rPr lang="en-US" sz="2800" dirty="0"/>
                <a:t> and </a:t>
              </a:r>
              <a:r>
                <a:rPr lang="en-US" sz="2800" dirty="0">
                  <a:latin typeface="Courier New" charset="0"/>
                </a:rPr>
                <a:t>value2</a:t>
              </a:r>
              <a:r>
                <a:rPr lang="en-US" sz="2800" dirty="0"/>
                <a:t> as arguments. The return value is assigned to the </a:t>
              </a:r>
              <a:r>
                <a:rPr lang="en-US" sz="2800" dirty="0">
                  <a:latin typeface="Courier New" charset="0"/>
                </a:rPr>
                <a:t>total</a:t>
              </a:r>
              <a:r>
                <a:rPr lang="en-US" sz="2800" dirty="0"/>
                <a:t> variable.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C465E9E-ABAB-41B7-91E3-61F2087FAE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560" y="2151733"/>
              <a:ext cx="7315200" cy="24288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5926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3) Returning a Value from a Function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7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17" name="Rectangle 3">
            <a:extLst>
              <a:ext uri="{FF2B5EF4-FFF2-40B4-BE49-F238E27FC236}">
                <a16:creationId xmlns:a16="http://schemas.microsoft.com/office/drawing/2014/main" id="{E1C4B5C5-B9F1-4DD8-A3AC-A46D83CCB07C}"/>
              </a:ext>
            </a:extLst>
          </p:cNvPr>
          <p:cNvSpPr txBox="1">
            <a:spLocks noChangeArrowheads="1"/>
          </p:cNvSpPr>
          <p:nvPr/>
        </p:nvSpPr>
        <p:spPr>
          <a:xfrm>
            <a:off x="541839" y="1489075"/>
            <a:ext cx="7845425" cy="387985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The prototype and the definition must indicate the data type of return value (not 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void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).</a:t>
            </a:r>
          </a:p>
          <a:p>
            <a:pPr>
              <a:lnSpc>
                <a:spcPct val="90000"/>
              </a:lnSpc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Calling function should use return value: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assign it to a variable.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send it to </a:t>
            </a:r>
            <a:r>
              <a:rPr lang="en-US" dirty="0" err="1">
                <a:latin typeface="Courier New" charset="0"/>
                <a:ea typeface="ヒラギノ角ゴ Pro W3" charset="0"/>
                <a:cs typeface="Arial" charset="0"/>
              </a:rPr>
              <a:t>cout</a:t>
            </a:r>
            <a:r>
              <a:rPr lang="en-US" dirty="0">
                <a:latin typeface="Arial" panose="020B0604020202020204" pitchFamily="34" charset="0"/>
                <a:ea typeface="ヒラギノ角ゴ Pro W3" charset="0"/>
                <a:cs typeface="Arial" panose="020B0604020202020204" pitchFamily="34" charset="0"/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use it in an expression.</a:t>
            </a:r>
          </a:p>
          <a:p>
            <a:pPr marL="457200" lvl="1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Statements that follow the </a:t>
            </a:r>
            <a:r>
              <a:rPr lang="en-US" dirty="0">
                <a:latin typeface="Courier New" charset="0"/>
                <a:ea typeface="ヒラギノ角ゴ Pro W3" charset="0"/>
                <a:cs typeface="Arial" charset="0"/>
              </a:rPr>
              <a:t>return</a:t>
            </a:r>
            <a:r>
              <a:rPr lang="en-US" dirty="0">
                <a:latin typeface="Arial" charset="0"/>
                <a:ea typeface="ヒラギノ角ゴ Pro W3" charset="0"/>
                <a:cs typeface="Arial" charset="0"/>
              </a:rPr>
              <a:t> statement will not be executed. See Example 2.</a:t>
            </a:r>
          </a:p>
          <a:p>
            <a:pPr lvl="1">
              <a:lnSpc>
                <a:spcPct val="90000"/>
              </a:lnSpc>
            </a:pP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662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8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00761F5-2F88-491B-93C6-7F96F8C5DDFA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18" name="Picture 2">
              <a:extLst>
                <a:ext uri="{FF2B5EF4-FFF2-40B4-BE49-F238E27FC236}">
                  <a16:creationId xmlns:a16="http://schemas.microsoft.com/office/drawing/2014/main" id="{EBA38528-155C-43C8-99BA-29BD9D4CCE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35" t="9636"/>
            <a:stretch/>
          </p:blipFill>
          <p:spPr bwMode="auto">
            <a:xfrm>
              <a:off x="0" y="0"/>
              <a:ext cx="7026490" cy="3817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">
              <a:extLst>
                <a:ext uri="{FF2B5EF4-FFF2-40B4-BE49-F238E27FC236}">
                  <a16:creationId xmlns:a16="http://schemas.microsoft.com/office/drawing/2014/main" id="{B0F91D67-C0C5-4136-8A6A-283218957F4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94"/>
            <a:stretch/>
          </p:blipFill>
          <p:spPr bwMode="auto">
            <a:xfrm>
              <a:off x="2973249" y="3039903"/>
              <a:ext cx="6170751" cy="38180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FFA0B2AA-285F-44A9-A497-79367C05E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0711" y="908720"/>
            <a:ext cx="4695095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2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116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Returning a Boolean Value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9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8DD6AED5-76C0-41FE-A2EC-0201A2EC9D37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charset="0"/>
                <a:ea typeface="ヒラギノ角ゴ Pro W3" charset="0"/>
                <a:cs typeface="Arial" charset="0"/>
              </a:rPr>
              <a:t>Function can return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true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or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false</a:t>
            </a:r>
            <a:endParaRPr lang="en-US">
              <a:latin typeface="Arial" charset="0"/>
              <a:ea typeface="ヒラギノ角ゴ Pro W3" charset="0"/>
              <a:cs typeface="Arial" charset="0"/>
            </a:endParaRPr>
          </a:p>
          <a:p>
            <a:r>
              <a:rPr lang="en-US">
                <a:latin typeface="Arial" charset="0"/>
                <a:ea typeface="ヒラギノ角ゴ Pro W3" charset="0"/>
                <a:cs typeface="Arial" charset="0"/>
              </a:rPr>
              <a:t>Declare return type in function prototype and heading as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bool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</a:t>
            </a:r>
          </a:p>
          <a:p>
            <a:r>
              <a:rPr lang="en-US">
                <a:latin typeface="Arial" charset="0"/>
                <a:ea typeface="ヒラギノ角ゴ Pro W3" charset="0"/>
                <a:cs typeface="Arial" charset="0"/>
              </a:rPr>
              <a:t>Function body must contain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return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statement(s) that return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true</a:t>
            </a:r>
            <a:r>
              <a:rPr lang="en-US">
                <a:latin typeface="Arial" charset="0"/>
                <a:ea typeface="ヒラギノ角ゴ Pro W3" charset="0"/>
                <a:cs typeface="Arial" charset="0"/>
              </a:rPr>
              <a:t> or </a:t>
            </a:r>
            <a:r>
              <a:rPr lang="en-US">
                <a:latin typeface="Courier New" charset="0"/>
                <a:ea typeface="ヒラギノ角ゴ Pro W3" charset="0"/>
                <a:cs typeface="Arial" charset="0"/>
              </a:rPr>
              <a:t>false</a:t>
            </a:r>
            <a:endParaRPr lang="en-US">
              <a:latin typeface="Arial" charset="0"/>
              <a:ea typeface="ヒラギノ角ゴ Pro W3" charset="0"/>
              <a:cs typeface="Arial" charset="0"/>
            </a:endParaRPr>
          </a:p>
          <a:p>
            <a:r>
              <a:rPr lang="en-US">
                <a:latin typeface="Arial" charset="0"/>
                <a:ea typeface="ヒラギノ角ゴ Pro W3" charset="0"/>
                <a:cs typeface="Arial" charset="0"/>
              </a:rPr>
              <a:t>Calling function can use return value in a relational expression</a:t>
            </a:r>
            <a:endParaRPr lang="en-US" dirty="0">
              <a:latin typeface="Arial" charset="0"/>
              <a:ea typeface="ヒラギノ角ゴ Pro W3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085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2080" y="1700808"/>
            <a:ext cx="3456384" cy="1412776"/>
          </a:xfrm>
        </p:spPr>
        <p:txBody>
          <a:bodyPr>
            <a:noAutofit/>
          </a:bodyPr>
          <a:lstStyle/>
          <a:p>
            <a:r>
              <a:rPr lang="en-AU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 3</a:t>
            </a:r>
            <a:endParaRPr lang="en-GB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10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D263B93-1588-40CB-9BA8-1C3D70B7E8E9}"/>
              </a:ext>
            </a:extLst>
          </p:cNvPr>
          <p:cNvGrpSpPr/>
          <p:nvPr/>
        </p:nvGrpSpPr>
        <p:grpSpPr>
          <a:xfrm>
            <a:off x="0" y="1"/>
            <a:ext cx="9144000" cy="6857999"/>
            <a:chOff x="0" y="1"/>
            <a:chExt cx="9144000" cy="6857999"/>
          </a:xfrm>
        </p:grpSpPr>
        <p:pic>
          <p:nvPicPr>
            <p:cNvPr id="8" name="Picture 4" descr="Pink tissue paper">
              <a:extLst>
                <a:ext uri="{FF2B5EF4-FFF2-40B4-BE49-F238E27FC236}">
                  <a16:creationId xmlns:a16="http://schemas.microsoft.com/office/drawing/2014/main" id="{23CE4CF1-28E2-46D5-99C1-9972E1AEEFE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1" t="8010"/>
            <a:stretch/>
          </p:blipFill>
          <p:spPr bwMode="auto">
            <a:xfrm>
              <a:off x="0" y="1"/>
              <a:ext cx="5642292" cy="42667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" name="Group 5">
              <a:extLst>
                <a:ext uri="{FF2B5EF4-FFF2-40B4-BE49-F238E27FC236}">
                  <a16:creationId xmlns:a16="http://schemas.microsoft.com/office/drawing/2014/main" id="{D5433310-6902-4B11-9E97-5AB66BA3DE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14601" y="3019082"/>
              <a:ext cx="5629399" cy="3838918"/>
              <a:chOff x="252" y="912"/>
              <a:chExt cx="5256" cy="2910"/>
            </a:xfrm>
          </p:grpSpPr>
          <p:pic>
            <p:nvPicPr>
              <p:cNvPr id="10" name="Picture 3" descr="Pink tissue paper">
                <a:extLst>
                  <a:ext uri="{FF2B5EF4-FFF2-40B4-BE49-F238E27FC236}">
                    <a16:creationId xmlns:a16="http://schemas.microsoft.com/office/drawing/2014/main" id="{C094EC2F-7C1E-4329-839A-C713F7CBD2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 bwMode="auto">
              <a:xfrm>
                <a:off x="252" y="912"/>
                <a:ext cx="5256" cy="2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" name="Picture 4" descr="Pink tissue paper">
                <a:extLst>
                  <a:ext uri="{FF2B5EF4-FFF2-40B4-BE49-F238E27FC236}">
                    <a16:creationId xmlns:a16="http://schemas.microsoft.com/office/drawing/2014/main" id="{410E4810-50B3-4308-8E34-EF18D42BB8C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2" y="3288"/>
                <a:ext cx="4770" cy="5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1985864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20EB-E874-4690-8D86-2DF0D7401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120488" cy="1412776"/>
          </a:xfrm>
        </p:spPr>
        <p:txBody>
          <a:bodyPr>
            <a:no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More info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40AE4-6330-480A-B62C-C45871FA6FAE}"/>
              </a:ext>
            </a:extLst>
          </p:cNvPr>
          <p:cNvSpPr txBox="1"/>
          <p:nvPr/>
        </p:nvSpPr>
        <p:spPr>
          <a:xfrm>
            <a:off x="6428690" y="6395311"/>
            <a:ext cx="199081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700" dirty="0">
                <a:solidFill>
                  <a:srgbClr val="9D2235"/>
                </a:solidFill>
                <a:latin typeface="Gotham Narrow Bold"/>
                <a:cs typeface="Gotham Narrow Bold"/>
              </a:rPr>
              <a:t>PAGE </a:t>
            </a:r>
            <a:fld id="{0E6898BB-4188-B84E-BD90-47834BDDD16F}" type="slidenum">
              <a:rPr lang="en-US" sz="700" smtClean="0">
                <a:solidFill>
                  <a:srgbClr val="9D2235"/>
                </a:solidFill>
                <a:latin typeface="Gotham Narrow Bold"/>
                <a:cs typeface="Gotham Narrow Bold"/>
              </a:rPr>
              <a:t>11</a:t>
            </a:fld>
            <a:endParaRPr lang="en-US" sz="700" dirty="0">
              <a:solidFill>
                <a:srgbClr val="9D2235"/>
              </a:solidFill>
              <a:latin typeface="Gotham Narrow Bold"/>
              <a:cs typeface="Gotham Narrow Bold"/>
            </a:endParaRPr>
          </a:p>
        </p:txBody>
      </p:sp>
      <p:pic>
        <p:nvPicPr>
          <p:cNvPr id="7" name="Content Placeholder 6" descr="Text&#10;&#10;Description automatically generated">
            <a:extLst>
              <a:ext uri="{FF2B5EF4-FFF2-40B4-BE49-F238E27FC236}">
                <a16:creationId xmlns:a16="http://schemas.microsoft.com/office/drawing/2014/main" id="{F513D46B-113E-4705-8F69-598CC0C386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4288" y="439688"/>
            <a:ext cx="1356360" cy="53340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FD5DA-DD52-48BC-91FD-5DFD6258AA33}"/>
              </a:ext>
            </a:extLst>
          </p:cNvPr>
          <p:cNvSpPr txBox="1"/>
          <p:nvPr/>
        </p:nvSpPr>
        <p:spPr>
          <a:xfrm>
            <a:off x="467545" y="1412776"/>
            <a:ext cx="820891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[1]	</a:t>
            </a:r>
            <a:r>
              <a:rPr lang="en-AU" sz="2400" dirty="0"/>
              <a:t>cplusplus.com: Functions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3"/>
              </a:rPr>
              <a:t>https://cplusplus.com/doc/tutorial/functions/</a:t>
            </a:r>
            <a:endParaRPr lang="en-AU" sz="2400" dirty="0"/>
          </a:p>
          <a:p>
            <a:r>
              <a:rPr lang="en-AU" sz="2400" dirty="0"/>
              <a:t>[2] 	learncpp.com: 2.2 – Function return values</a:t>
            </a:r>
          </a:p>
          <a:p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https://www.learncpp.com/cpp-tutorial/function-return-</a:t>
            </a:r>
            <a:r>
              <a:rPr lang="en-AU" sz="2400" dirty="0"/>
              <a:t>	</a:t>
            </a:r>
            <a:r>
              <a:rPr lang="en-AU" sz="2400" dirty="0">
                <a:hlinkClick r:id="rId4"/>
              </a:rPr>
              <a:t>values/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717463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Western Sydney University 1">
      <a:dk1>
        <a:srgbClr val="000000"/>
      </a:dk1>
      <a:lt1>
        <a:srgbClr val="FFFFFF"/>
      </a:lt1>
      <a:dk2>
        <a:srgbClr val="A31E34"/>
      </a:dk2>
      <a:lt2>
        <a:srgbClr val="EBBCBB"/>
      </a:lt2>
      <a:accent1>
        <a:srgbClr val="FE7073"/>
      </a:accent1>
      <a:accent2>
        <a:srgbClr val="F6303D"/>
      </a:accent2>
      <a:accent3>
        <a:srgbClr val="5A2A82"/>
      </a:accent3>
      <a:accent4>
        <a:srgbClr val="027199"/>
      </a:accent4>
      <a:accent5>
        <a:srgbClr val="BA7FD1"/>
      </a:accent5>
      <a:accent6>
        <a:srgbClr val="FF7D7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DA8831222F7F429E91A5940D24EC36" ma:contentTypeVersion="9" ma:contentTypeDescription="Create a new document." ma:contentTypeScope="" ma:versionID="69a1100f0e56a8e127be49eaff528aeb">
  <xsd:schema xmlns:xsd="http://www.w3.org/2001/XMLSchema" xmlns:xs="http://www.w3.org/2001/XMLSchema" xmlns:p="http://schemas.microsoft.com/office/2006/metadata/properties" xmlns:ns2="e124fe43-fe43-4e84-9ab8-c599e4fe2b7b" targetNamespace="http://schemas.microsoft.com/office/2006/metadata/properties" ma:root="true" ma:fieldsID="2887b4d00811a70124b3fd627d73fca2" ns2:_="">
    <xsd:import namespace="e124fe43-fe43-4e84-9ab8-c599e4fe2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24fe43-fe43-4e84-9ab8-c599e4fe2b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AB56059-40D8-42B9-BD5E-987B51D287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82B325-FF43-4097-99CE-E5A52F02FD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24fe43-fe43-4e84-9ab8-c599e4fe2b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973B550-18F5-4BAE-979A-8EFA5A7C4211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28118</TotalTime>
  <Words>392</Words>
  <Application>Microsoft Office PowerPoint</Application>
  <PresentationFormat>On-screen Show (4:3)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4" baseType="lpstr">
      <vt:lpstr>Arial</vt:lpstr>
      <vt:lpstr>Arial Black</vt:lpstr>
      <vt:lpstr>Calibri</vt:lpstr>
      <vt:lpstr>Chronicle Text G1</vt:lpstr>
      <vt:lpstr>Chronicle Text G1 Roman</vt:lpstr>
      <vt:lpstr>Courier New</vt:lpstr>
      <vt:lpstr>Gotham Narrow</vt:lpstr>
      <vt:lpstr>Gotham Narrow Bold</vt:lpstr>
      <vt:lpstr>Gotham Narrow Book</vt:lpstr>
      <vt:lpstr>Gotham Narrow Light</vt:lpstr>
      <vt:lpstr>Times</vt:lpstr>
      <vt:lpstr>Office Theme</vt:lpstr>
      <vt:lpstr>1_Office Theme</vt:lpstr>
      <vt:lpstr>Return a Value from a Function</vt:lpstr>
      <vt:lpstr>The return Statement</vt:lpstr>
      <vt:lpstr>1) Returning a Value from a Function</vt:lpstr>
      <vt:lpstr>2) Returning a Value from a Function</vt:lpstr>
      <vt:lpstr>Example 1</vt:lpstr>
      <vt:lpstr>Example 1 continued …</vt:lpstr>
      <vt:lpstr>3) Returning a Value from a Function</vt:lpstr>
      <vt:lpstr>Example 2</vt:lpstr>
      <vt:lpstr>Returning a Boolean Value</vt:lpstr>
      <vt:lpstr>Example 3</vt:lpstr>
      <vt:lpstr>More info</vt:lpstr>
    </vt:vector>
  </TitlesOfParts>
  <Company>University of Western Sydney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5 - Return a Value from a Function</dc:title>
  <dc:creator>Ram Singh</dc:creator>
  <cp:lastModifiedBy>Upul Gunawardana</cp:lastModifiedBy>
  <cp:revision>698</cp:revision>
  <dcterms:created xsi:type="dcterms:W3CDTF">2018-02-26T21:48:17Z</dcterms:created>
  <dcterms:modified xsi:type="dcterms:W3CDTF">2022-05-26T14:20:10Z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0x01010010DA8831222F7F429E91A5940D24EC36</vt:lpwstr>
  </property>
</Properties>
</file>