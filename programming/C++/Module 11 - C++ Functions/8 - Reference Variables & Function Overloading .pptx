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17" r:id="rId8"/>
    <p:sldId id="309" r:id="rId9"/>
    <p:sldId id="306" r:id="rId10"/>
    <p:sldId id="311" r:id="rId11"/>
    <p:sldId id="318" r:id="rId12"/>
    <p:sldId id="29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86" d="100"/>
          <a:sy n="86" d="100"/>
        </p:scale>
        <p:origin x="103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257B4A8B-7660-46E1-B130-2379F74E8F83}"/>
    <pc:docChg chg="modSld">
      <pc:chgData name="Upul Gunawardana" userId="d78f31a5-8ae7-4659-910b-ce777cc612cd" providerId="ADAL" clId="{257B4A8B-7660-46E1-B130-2379F74E8F83}" dt="2022-05-26T14:23:43.570" v="7" actId="20577"/>
      <pc:docMkLst>
        <pc:docMk/>
      </pc:docMkLst>
      <pc:sldChg chg="modSp mod">
        <pc:chgData name="Upul Gunawardana" userId="d78f31a5-8ae7-4659-910b-ce777cc612cd" providerId="ADAL" clId="{257B4A8B-7660-46E1-B130-2379F74E8F83}" dt="2022-05-26T14:23:43.570" v="7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257B4A8B-7660-46E1-B130-2379F74E8F83}" dt="2022-05-26T14:23:43.570" v="7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5/27/2022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variable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76-function-overloading/" TargetMode="External"/><Relationship Id="rId5" Type="http://schemas.openxmlformats.org/officeDocument/2006/relationships/hyperlink" Target="https://www.learncpp.com/cpp-tutorial/611-references/comment-page-1/" TargetMode="External"/><Relationship Id="rId4" Type="http://schemas.openxmlformats.org/officeDocument/2006/relationships/hyperlink" Target="https://www.cplusplus.com/doc/tutorial/functions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Reference Variables &amp; Function Overloading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 Variable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E2BB1F81-7F61-4F21-B4E5-228BEFEE06F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806575"/>
            <a:ext cx="8153400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A mechanism that allows a function to work with the original argument from the function call, not a copy of the argument.</a:t>
            </a:r>
          </a:p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Allows the function to modify values stored in the calling environment.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Provides a way for the function to ‘return’ more than </a:t>
            </a:r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one value.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Passing by Reference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E2C31F1-154C-4DDB-A62D-AB0DA53DF4B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A </a:t>
            </a:r>
            <a:r>
              <a:rPr lang="en-US" u="sng" dirty="0">
                <a:latin typeface="Arial" charset="0"/>
                <a:ea typeface="ヒラギノ角ゴ Pro W3" charset="0"/>
                <a:cs typeface="Arial" charset="0"/>
              </a:rPr>
              <a:t>reference variable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is an alias for another variable.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Defined with an ampersand (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&amp;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void </a:t>
            </a:r>
            <a:r>
              <a:rPr lang="en-US" dirty="0" err="1">
                <a:latin typeface="Courier New" charset="0"/>
                <a:ea typeface="ヒラギノ角ゴ Pro W3" charset="0"/>
                <a:cs typeface="Arial" charset="0"/>
              </a:rPr>
              <a:t>getDimensions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(int&amp;, int&amp;);</a:t>
            </a: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Changes to a reference variable are made to the variable it refers to.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Use reference variables to implement passing parameters by</a:t>
            </a:r>
            <a:r>
              <a:rPr lang="en-US" i="1" dirty="0">
                <a:latin typeface="Arial" charset="0"/>
                <a:ea typeface="ヒラギノ角ゴ Pro W3" charset="0"/>
                <a:cs typeface="Arial" charset="0"/>
              </a:rPr>
              <a:t> reference.</a:t>
            </a:r>
          </a:p>
        </p:txBody>
      </p:sp>
    </p:spTree>
    <p:extLst>
      <p:ext uri="{BB962C8B-B14F-4D97-AF65-F5344CB8AC3E}">
        <p14:creationId xmlns:p14="http://schemas.microsoft.com/office/powerpoint/2010/main" val="230443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2ECBFB6-295B-4673-9113-FB5B9729C226}"/>
              </a:ext>
            </a:extLst>
          </p:cNvPr>
          <p:cNvGrpSpPr/>
          <p:nvPr/>
        </p:nvGrpSpPr>
        <p:grpSpPr>
          <a:xfrm>
            <a:off x="107379" y="72008"/>
            <a:ext cx="9001125" cy="6741368"/>
            <a:chOff x="142875" y="0"/>
            <a:chExt cx="9001125" cy="6858000"/>
          </a:xfrm>
        </p:grpSpPr>
        <p:grpSp>
          <p:nvGrpSpPr>
            <p:cNvPr id="29" name="Group 11">
              <a:extLst>
                <a:ext uri="{FF2B5EF4-FFF2-40B4-BE49-F238E27FC236}">
                  <a16:creationId xmlns:a16="http://schemas.microsoft.com/office/drawing/2014/main" id="{13CF66AC-71A3-4D61-AF9C-9EF88A4E43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875" y="0"/>
              <a:ext cx="6573201" cy="4341231"/>
              <a:chOff x="544" y="840"/>
              <a:chExt cx="4508" cy="3096"/>
            </a:xfrm>
          </p:grpSpPr>
          <p:pic>
            <p:nvPicPr>
              <p:cNvPr id="30" name="Picture 2">
                <a:extLst>
                  <a:ext uri="{FF2B5EF4-FFF2-40B4-BE49-F238E27FC236}">
                    <a16:creationId xmlns:a16="http://schemas.microsoft.com/office/drawing/2014/main" id="{DD1B6769-44BE-4A92-99FE-17EB5A02F3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10" t="10904"/>
              <a:stretch/>
            </p:blipFill>
            <p:spPr bwMode="auto">
              <a:xfrm>
                <a:off x="544" y="1354"/>
                <a:ext cx="4496" cy="25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" name="Text Box 3">
                <a:extLst>
                  <a:ext uri="{FF2B5EF4-FFF2-40B4-BE49-F238E27FC236}">
                    <a16:creationId xmlns:a16="http://schemas.microsoft.com/office/drawing/2014/main" id="{4C58B689-774B-41E7-A503-340CFD703D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5" y="840"/>
                <a:ext cx="3442" cy="44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000" dirty="0">
                    <a:solidFill>
                      <a:srgbClr val="FF3300"/>
                    </a:solidFill>
                  </a:rPr>
                  <a:t>The &amp; here in the prototype indicates that the parameter is a reference variable.</a:t>
                </a:r>
              </a:p>
            </p:txBody>
          </p:sp>
          <p:sp>
            <p:nvSpPr>
              <p:cNvPr id="32" name="Line 4">
                <a:extLst>
                  <a:ext uri="{FF2B5EF4-FFF2-40B4-BE49-F238E27FC236}">
                    <a16:creationId xmlns:a16="http://schemas.microsoft.com/office/drawing/2014/main" id="{59A265B1-D786-4079-AF35-FE5FC4DE60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56" y="1354"/>
                <a:ext cx="288" cy="806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33" name="Text Box 5">
                <a:extLst>
                  <a:ext uri="{FF2B5EF4-FFF2-40B4-BE49-F238E27FC236}">
                    <a16:creationId xmlns:a16="http://schemas.microsoft.com/office/drawing/2014/main" id="{502BB11F-DCEC-4435-B2AC-4883F90E5E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429"/>
                <a:ext cx="2508" cy="442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000" dirty="0">
                    <a:solidFill>
                      <a:srgbClr val="FF3300"/>
                    </a:solidFill>
                  </a:rPr>
                  <a:t>Here we are passing value by reference.</a:t>
                </a:r>
              </a:p>
            </p:txBody>
          </p:sp>
          <p:sp>
            <p:nvSpPr>
              <p:cNvPr id="34" name="Line 6">
                <a:extLst>
                  <a:ext uri="{FF2B5EF4-FFF2-40B4-BE49-F238E27FC236}">
                    <a16:creationId xmlns:a16="http://schemas.microsoft.com/office/drawing/2014/main" id="{E9EEB8FB-3B7B-4F74-86C2-0ED52D1CFC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0" y="2688"/>
                <a:ext cx="534" cy="56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AU"/>
              </a:p>
            </p:txBody>
          </p:sp>
        </p:grpSp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D78D2534-774D-4819-B35A-1559F4A105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9174" y="3802444"/>
              <a:ext cx="6504825" cy="3055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Text Box 3">
              <a:extLst>
                <a:ext uri="{FF2B5EF4-FFF2-40B4-BE49-F238E27FC236}">
                  <a16:creationId xmlns:a16="http://schemas.microsoft.com/office/drawing/2014/main" id="{AB0FF086-6096-4D58-A8FB-F878C1F4F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157" y="4770541"/>
              <a:ext cx="2411843" cy="1569660"/>
            </a:xfrm>
            <a:prstGeom prst="rect">
              <a:avLst/>
            </a:prstGeom>
            <a:solidFill>
              <a:srgbClr val="3366FF"/>
            </a:solidFill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FFFF00"/>
                  </a:solidFill>
                </a:rPr>
                <a:t>The &amp; also appears here in the function header.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7798A8C-6456-49AF-8FC0-DA216DA78224}"/>
                </a:ext>
              </a:extLst>
            </p:cNvPr>
            <p:cNvCxnSpPr/>
            <p:nvPr/>
          </p:nvCxnSpPr>
          <p:spPr>
            <a:xfrm flipH="1">
              <a:off x="5267527" y="4770541"/>
              <a:ext cx="2031798" cy="22656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711" y="908720"/>
            <a:ext cx="4695095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b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052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 Variable Notes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0AE970C4-0B11-424F-835B-427F486D28A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60092"/>
            <a:ext cx="8229600" cy="44279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Each reference parameter must contain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&amp;</a:t>
            </a: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.</a:t>
            </a:r>
            <a:endParaRPr lang="en-US" sz="2400" b="1" dirty="0">
              <a:latin typeface="Arial" panose="020B0604020202020204" pitchFamily="34" charset="0"/>
              <a:ea typeface="ヒラギノ角ゴ Pro W3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Space between type and 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&amp;</a:t>
            </a: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 is unimportant.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Must use 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&amp;</a:t>
            </a: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 in both prototype and header.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Argument passed to reference parameter must be a variable –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cannot be an expression or constant</a:t>
            </a: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.</a:t>
            </a:r>
            <a:endParaRPr lang="en-US" sz="2400" dirty="0">
              <a:solidFill>
                <a:schemeClr val="accent2">
                  <a:lumMod val="75000"/>
                </a:schemeClr>
              </a:solidFill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charset="0"/>
                <a:ea typeface="ヒラギノ角ゴ Pro W3" charset="0"/>
                <a:cs typeface="Arial" charset="0"/>
              </a:rPr>
              <a:t>Use when appropriate – don’t use when an argument should not be changed by a function, or if a function needs to return only 1 value.</a:t>
            </a:r>
          </a:p>
        </p:txBody>
      </p:sp>
    </p:spTree>
    <p:extLst>
      <p:ext uri="{BB962C8B-B14F-4D97-AF65-F5344CB8AC3E}">
        <p14:creationId xmlns:p14="http://schemas.microsoft.com/office/powerpoint/2010/main" val="584941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Overloading Functions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53F7258-49B6-49DC-9622-B320471A2ECD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736725"/>
            <a:ext cx="7845425" cy="3881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u="sng" dirty="0">
                <a:latin typeface="Arial" charset="0"/>
                <a:ea typeface="ヒラギノ角ゴ Pro W3" charset="0"/>
                <a:cs typeface="Arial" charset="0"/>
              </a:rPr>
              <a:t>Overloaded functions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 have the same name but different parameter lists.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Can be used to create functions that perform the same task but take different parameter types or different number of  parameters.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Compiler will determine which version of function to call by argument and parameter lists to pass to the function.</a:t>
            </a:r>
            <a:endParaRPr lang="en-US" sz="2800" u="sng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926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Overloading Examples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DC97401-C6A8-4630-A77D-716A7FAAC34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1752600"/>
            <a:ext cx="8534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Times" charset="0"/>
              <a:buNone/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	Using these overloaded functions,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void getDimensions(int);           // 1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void getDimensions(int, int);      // 2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void getDimensions(int, double);   // 3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void getDimensions(double, double);// 4</a:t>
            </a:r>
          </a:p>
          <a:p>
            <a:pPr>
              <a:lnSpc>
                <a:spcPct val="80000"/>
              </a:lnSpc>
              <a:buFont typeface="Times" charset="0"/>
              <a:buNone/>
            </a:pPr>
            <a:r>
              <a:rPr lang="en-US" sz="2800">
                <a:latin typeface="Courier New" charset="0"/>
                <a:ea typeface="ヒラギノ角ゴ Pro W3" charset="0"/>
                <a:cs typeface="Arial" charset="0"/>
              </a:rPr>
              <a:t>	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the compiler will use them as follows: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int length, width;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double base, height;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getDimensions(length);           // 1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getDimensions(length, width);    // 2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getDimensions(length, height);   // 3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getDimensions(height, base);     // 4</a:t>
            </a: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3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Variables and types.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https://www.cplusplus.com/doc/tutorial/variables/</a:t>
            </a:r>
            <a:endParaRPr lang="en-AU" sz="2400" dirty="0"/>
          </a:p>
          <a:p>
            <a:r>
              <a:rPr lang="en-AU" sz="2400" dirty="0"/>
              <a:t>[2]	cplusplus.com: Overloads and templates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https://www.cplusplus.com/doc/tutorial/functions2/</a:t>
            </a:r>
            <a:endParaRPr lang="en-AU" sz="2400" dirty="0"/>
          </a:p>
          <a:p>
            <a:r>
              <a:rPr lang="en-AU" sz="2400" dirty="0"/>
              <a:t>[3] 	learncpp.com: 6.11 – Reference variables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https://www.learncpp.com/cpp-tutorial/611-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references/comment-page-1/</a:t>
            </a:r>
            <a:endParaRPr lang="en-AU" sz="2400" dirty="0"/>
          </a:p>
          <a:p>
            <a:r>
              <a:rPr lang="en-AU" sz="2400" dirty="0"/>
              <a:t>[4]	learncpp.com: 7.6 – Function overloading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https://www.learncpp.com/cpp-tutorial/76-function-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overloading/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855D23-D727-4BDB-823C-4184E3E1AC1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3745C0-87DF-42BC-8B59-6715225026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287FA5-1B4F-4049-A568-46DE683C7A8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28876</TotalTime>
  <Words>490</Words>
  <Application>Microsoft Office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Office Theme</vt:lpstr>
      <vt:lpstr>1_Office Theme</vt:lpstr>
      <vt:lpstr>Reference Variables &amp; Function Overloading</vt:lpstr>
      <vt:lpstr>Reference Variable</vt:lpstr>
      <vt:lpstr>Passing by Reference</vt:lpstr>
      <vt:lpstr>Example 1 </vt:lpstr>
      <vt:lpstr>Reference Variable Notes</vt:lpstr>
      <vt:lpstr>Overloading Functions</vt:lpstr>
      <vt:lpstr>Function Overloading Examples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7 - Static Local Variables &amp; Default Arguments</dc:title>
  <dc:creator>Ram Singh</dc:creator>
  <cp:lastModifiedBy>Upul Gunawardana</cp:lastModifiedBy>
  <cp:revision>747</cp:revision>
  <dcterms:created xsi:type="dcterms:W3CDTF">2018-02-26T21:48:17Z</dcterms:created>
  <dcterms:modified xsi:type="dcterms:W3CDTF">2022-05-26T14:23:45Z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