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9" r:id="rId8"/>
    <p:sldId id="315" r:id="rId9"/>
    <p:sldId id="316" r:id="rId10"/>
    <p:sldId id="306" r:id="rId11"/>
    <p:sldId id="305" r:id="rId12"/>
    <p:sldId id="311" r:id="rId13"/>
    <p:sldId id="29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5D2CC9FE-83FF-40E1-97AC-3E7DC28F74EF}"/>
    <pc:docChg chg="modSld">
      <pc:chgData name="Upul Gunawardana" userId="d78f31a5-8ae7-4659-910b-ce777cc612cd" providerId="ADAL" clId="{5D2CC9FE-83FF-40E1-97AC-3E7DC28F74EF}" dt="2022-05-26T14:22:48.310" v="7" actId="20577"/>
      <pc:docMkLst>
        <pc:docMk/>
      </pc:docMkLst>
      <pc:sldChg chg="modSp mod">
        <pc:chgData name="Upul Gunawardana" userId="d78f31a5-8ae7-4659-910b-ce777cc612cd" providerId="ADAL" clId="{5D2CC9FE-83FF-40E1-97AC-3E7DC28F74EF}" dt="2022-05-26T14:22:48.310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5D2CC9FE-83FF-40E1-97AC-3E7DC28F74EF}" dt="2022-05-26T14:22:48.310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oldtutorial/variable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cpp.com/cpp-tutorial/77-default-arguments/" TargetMode="External"/><Relationship Id="rId4" Type="http://schemas.openxmlformats.org/officeDocument/2006/relationships/hyperlink" Target="https://www.learncpp.com/cpp-tutorial/static-local-variabl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Static Local Variables &amp; Default Arguments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Local Variables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3894A3C-AD58-4E4B-88EC-6A605162294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Local variables only exist while the function is executing.  When the function terminates, the contents of local variables are lost.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static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local variables retain their contents between function calls.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static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local variables are defined and initialized only the first time the function is executed.  </a:t>
            </a:r>
            <a:r>
              <a:rPr lang="en-US" sz="2800">
                <a:latin typeface="Courier New" charset="0"/>
                <a:ea typeface="ヒラギノ角ゴ Pro W3" charset="0"/>
                <a:cs typeface="Arial" charset="0"/>
              </a:rPr>
              <a:t>0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is the default initialization value.</a:t>
            </a:r>
            <a:endParaRPr lang="en-US" sz="28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958EFFE-687E-443E-8AAA-FC8FCCEFBC5E}"/>
              </a:ext>
            </a:extLst>
          </p:cNvPr>
          <p:cNvGrpSpPr/>
          <p:nvPr/>
        </p:nvGrpSpPr>
        <p:grpSpPr>
          <a:xfrm>
            <a:off x="90287" y="44624"/>
            <a:ext cx="8946209" cy="6753894"/>
            <a:chOff x="197792" y="104106"/>
            <a:chExt cx="8946209" cy="6753894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6A810C23-0F05-46FC-8EEA-3619D96E27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8" t="10571"/>
            <a:stretch/>
          </p:blipFill>
          <p:spPr bwMode="auto">
            <a:xfrm>
              <a:off x="197792" y="104106"/>
              <a:ext cx="7570123" cy="3769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E521468A-129B-4E63-AE85-A03031D8A2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" t="11457"/>
            <a:stretch/>
          </p:blipFill>
          <p:spPr bwMode="auto">
            <a:xfrm>
              <a:off x="2679271" y="3310579"/>
              <a:ext cx="6464730" cy="3547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3">
              <a:extLst>
                <a:ext uri="{FF2B5EF4-FFF2-40B4-BE49-F238E27FC236}">
                  <a16:creationId xmlns:a16="http://schemas.microsoft.com/office/drawing/2014/main" id="{5552FD4A-CA37-4034-99F8-F58EE87F5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92" y="3873399"/>
              <a:ext cx="2481479" cy="2554545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</a:rPr>
                <a:t>In this program, each time </a:t>
              </a:r>
              <a:r>
                <a:rPr lang="en-US" sz="2000" dirty="0" err="1">
                  <a:solidFill>
                    <a:schemeClr val="accent2">
                      <a:lumMod val="75000"/>
                    </a:schemeClr>
                  </a:solidFill>
                  <a:latin typeface="Courier New" charset="0"/>
                </a:rPr>
                <a:t>showLocal</a:t>
              </a: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</a:rPr>
                <a:t> is called, the </a:t>
              </a:r>
              <a:r>
                <a:rPr lang="en-US" sz="2000" dirty="0" err="1">
                  <a:solidFill>
                    <a:schemeClr val="accent2">
                      <a:lumMod val="75000"/>
                    </a:schemeClr>
                  </a:solidFill>
                  <a:latin typeface="Courier New" charset="0"/>
                </a:rPr>
                <a:t>localNum</a:t>
              </a: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</a:rPr>
                <a:t> variable is re-created and initialized with the value 5.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1: Local Variables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5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040879-2983-4C69-9175-192868157B75}"/>
              </a:ext>
            </a:extLst>
          </p:cNvPr>
          <p:cNvGrpSpPr/>
          <p:nvPr/>
        </p:nvGrpSpPr>
        <p:grpSpPr>
          <a:xfrm>
            <a:off x="107504" y="973088"/>
            <a:ext cx="8892480" cy="5884911"/>
            <a:chOff x="1" y="726613"/>
            <a:chExt cx="9143999" cy="6131386"/>
          </a:xfrm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3F76D60D-FAAF-4ACF-A5E3-6D54D4593A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4" t="12021"/>
            <a:stretch/>
          </p:blipFill>
          <p:spPr bwMode="auto">
            <a:xfrm>
              <a:off x="1" y="726613"/>
              <a:ext cx="6256490" cy="3263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2EC2E92-3113-4801-8C7B-76AD46640D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5814" y="3175240"/>
              <a:ext cx="6458186" cy="3682759"/>
              <a:chOff x="354" y="788"/>
              <a:chExt cx="4702" cy="2823"/>
            </a:xfrm>
          </p:grpSpPr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8D50B7C2-8A66-4236-A982-CDEEE71067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80" t="7972"/>
              <a:stretch/>
            </p:blipFill>
            <p:spPr bwMode="auto">
              <a:xfrm>
                <a:off x="354" y="788"/>
                <a:ext cx="4702" cy="28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Text Box 3">
                <a:extLst>
                  <a:ext uri="{FF2B5EF4-FFF2-40B4-BE49-F238E27FC236}">
                    <a16:creationId xmlns:a16="http://schemas.microsoft.com/office/drawing/2014/main" id="{1DEB947E-EA74-4782-A41F-AB76D02F08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2852"/>
                <a:ext cx="3264" cy="6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ヒラギノ角ゴ Pro W3" charset="0"/>
                    <a:cs typeface="ヒラギノ角ゴ Pro W3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2000">
                    <a:solidFill>
                      <a:srgbClr val="FF6600"/>
                    </a:solidFill>
                    <a:latin typeface="Courier New" charset="0"/>
                  </a:rPr>
                  <a:t>statNum</a:t>
                </a:r>
                <a:r>
                  <a:rPr lang="en-US" sz="2000">
                    <a:solidFill>
                      <a:srgbClr val="FF6600"/>
                    </a:solidFill>
                  </a:rPr>
                  <a:t> is automatically initialized   to 0. Notice that it retains its value between function calls.</a:t>
                </a:r>
              </a:p>
            </p:txBody>
          </p:sp>
          <p:sp>
            <p:nvSpPr>
              <p:cNvPr id="16" name="Line 4">
                <a:extLst>
                  <a:ext uri="{FF2B5EF4-FFF2-40B4-BE49-F238E27FC236}">
                    <a16:creationId xmlns:a16="http://schemas.microsoft.com/office/drawing/2014/main" id="{D73DB007-9AD8-4587-8773-1552CC244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2995"/>
                <a:ext cx="536" cy="1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AU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64288" cy="1124744"/>
          </a:xfrm>
        </p:spPr>
        <p:txBody>
          <a:bodyPr>
            <a:noAutofit/>
          </a:bodyPr>
          <a:lstStyle/>
          <a:p>
            <a:r>
              <a:rPr lang="en-A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2: Static Local Variables</a:t>
            </a:r>
            <a:endParaRPr lang="en-GB" sz="36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2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2" name="Text Box 2">
            <a:extLst>
              <a:ext uri="{FF2B5EF4-FFF2-40B4-BE49-F238E27FC236}">
                <a16:creationId xmlns:a16="http://schemas.microsoft.com/office/drawing/2014/main" id="{E49866B5-0EEF-4348-A0F9-927C49561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57" y="260648"/>
            <a:ext cx="6966177" cy="229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2">
                    <a:lumMod val="75000"/>
                  </a:schemeClr>
                </a:solidFill>
              </a:rPr>
              <a:t>If you initialize a local static variable, the initialization only </a:t>
            </a:r>
            <a:r>
              <a:rPr lang="en-US" sz="2600" b="1" u="sng" dirty="0">
                <a:solidFill>
                  <a:schemeClr val="accent2">
                    <a:lumMod val="75000"/>
                  </a:schemeClr>
                </a:solidFill>
              </a:rPr>
              <a:t>happens once</a:t>
            </a:r>
            <a:r>
              <a:rPr lang="en-US" sz="26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457200" indent="-4572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accent2">
                    <a:lumMod val="75000"/>
                  </a:schemeClr>
                </a:solidFill>
              </a:rPr>
              <a:t>The lifetime of a static variable is from the moment it is invoked till the end of the program.</a:t>
            </a:r>
          </a:p>
        </p:txBody>
      </p:sp>
      <p:pic>
        <p:nvPicPr>
          <p:cNvPr id="17" name="Picture 4" descr="Pink tissue paper">
            <a:extLst>
              <a:ext uri="{FF2B5EF4-FFF2-40B4-BE49-F238E27FC236}">
                <a16:creationId xmlns:a16="http://schemas.microsoft.com/office/drawing/2014/main" id="{27965DB7-3210-447D-BCB5-CFB57618D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38" y="2492896"/>
            <a:ext cx="7239000" cy="432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771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Arguments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8E76293-A916-4EC0-B803-BE318089275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30097"/>
            <a:ext cx="8305800" cy="4690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Times" charset="0"/>
              <a:buNone/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	A </a:t>
            </a:r>
            <a:r>
              <a:rPr lang="en-US" sz="2800" u="sng">
                <a:latin typeface="Arial" charset="0"/>
                <a:ea typeface="ヒラギノ角ゴ Pro W3" charset="0"/>
                <a:cs typeface="Arial" charset="0"/>
              </a:rPr>
              <a:t>Default argument</a:t>
            </a: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  is an argument that is passed automatically to a parameter if the argument is missing on the function call.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Must be a constant declared in prototype: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void evenOrOdd(int = 0);</a:t>
            </a:r>
            <a:endParaRPr lang="en-US" sz="24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Can be declared in header if no prototype</a:t>
            </a:r>
            <a:br>
              <a:rPr lang="en-US" sz="2800">
                <a:latin typeface="Arial" charset="0"/>
                <a:ea typeface="ヒラギノ角ゴ Pro W3" charset="0"/>
                <a:cs typeface="Arial" charset="0"/>
              </a:rPr>
            </a:br>
            <a:endParaRPr lang="en-US" sz="2800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 charset="0"/>
                <a:ea typeface="ヒラギノ角ゴ Pro W3" charset="0"/>
                <a:cs typeface="Arial" charset="0"/>
              </a:rPr>
              <a:t>Multi-parameter functions may have default arguments for some or all of them:</a:t>
            </a:r>
          </a:p>
          <a:p>
            <a:pPr lvl="1">
              <a:lnSpc>
                <a:spcPct val="90000"/>
              </a:lnSpc>
              <a:buClr>
                <a:srgbClr val="3333CC"/>
              </a:buClr>
              <a:buFontTx/>
              <a:buNone/>
            </a:pPr>
            <a:r>
              <a:rPr lang="en-US" sz="240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2400">
                <a:latin typeface="Courier New" charset="0"/>
                <a:ea typeface="ヒラギノ角ゴ Pro W3" charset="0"/>
                <a:cs typeface="Arial" charset="0"/>
              </a:rPr>
              <a:t>int getSum(int, int=0, int=0);</a:t>
            </a:r>
            <a:endParaRPr lang="en-US" sz="2400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0AF3D6C-4210-40C4-B011-0A8FD3767E00}"/>
              </a:ext>
            </a:extLst>
          </p:cNvPr>
          <p:cNvGrpSpPr/>
          <p:nvPr/>
        </p:nvGrpSpPr>
        <p:grpSpPr>
          <a:xfrm>
            <a:off x="0" y="41818"/>
            <a:ext cx="9144001" cy="6816182"/>
            <a:chOff x="0" y="41818"/>
            <a:chExt cx="9144001" cy="6816182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B38DC3C0-AACA-4255-8CF7-2579C9F2D7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5" t="10509"/>
            <a:stretch/>
          </p:blipFill>
          <p:spPr bwMode="auto">
            <a:xfrm>
              <a:off x="0" y="503245"/>
              <a:ext cx="5542207" cy="3060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83CC7DE7-5018-4E65-8D07-0A554E290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06" y="41818"/>
              <a:ext cx="6248400" cy="461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Default arguments specified in the prototype</a:t>
              </a:r>
            </a:p>
          </p:txBody>
        </p:sp>
        <p:sp>
          <p:nvSpPr>
            <p:cNvPr id="11" name="Line 4">
              <a:extLst>
                <a:ext uri="{FF2B5EF4-FFF2-40B4-BE49-F238E27FC236}">
                  <a16:creationId xmlns:a16="http://schemas.microsoft.com/office/drawing/2014/main" id="{4019C63E-D598-4FF3-9DB0-33D7B0B27E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2729" y="503245"/>
              <a:ext cx="557915" cy="106884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AU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9ECA8AE-D843-4A02-8079-4D15375704FE}"/>
                </a:ext>
              </a:extLst>
            </p:cNvPr>
            <p:cNvCxnSpPr/>
            <p:nvPr/>
          </p:nvCxnSpPr>
          <p:spPr>
            <a:xfrm flipH="1">
              <a:off x="3143150" y="430458"/>
              <a:ext cx="333836" cy="104472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C6A4B353-FCF2-459B-997B-68415AB0C7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9185" y="3129956"/>
              <a:ext cx="4594816" cy="3728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6345A9A0-D583-407D-AE66-6729647E2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04456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3: Default Arguments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Arguments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5B1543C-8E7F-433F-AFF8-E81E89C64E2C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18332"/>
            <a:ext cx="85344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If not all parameters to a function have default values, the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default less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ones are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declared first 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in the parameter list: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int getSum(int, int=0, int=0);// OK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int getSum(int, int=0, int);  // NO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When an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argument is omitted from a function call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, all arguments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after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it must also be 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Arial" charset="0"/>
                <a:ea typeface="ヒラギノ角ゴ Pro W3" charset="0"/>
                <a:cs typeface="Arial" charset="0"/>
              </a:rPr>
              <a:t>omitted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: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sum = getSum(num1, num2);    // OK</a:t>
            </a:r>
          </a:p>
          <a:p>
            <a:pPr lvl="1">
              <a:lnSpc>
                <a:spcPct val="85000"/>
              </a:lnSpc>
              <a:buClr>
                <a:srgbClr val="3333CC"/>
              </a:buClr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	sum = getSum(num1, , num3);  // NO</a:t>
            </a:r>
            <a:endParaRPr lang="en-US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Variables. Data Types.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https://www.cplusplus.com/doc/oldtutorial/variables/</a:t>
            </a:r>
            <a:endParaRPr lang="en-AU" sz="2400" dirty="0"/>
          </a:p>
          <a:p>
            <a:r>
              <a:rPr lang="en-AU" sz="2400" dirty="0"/>
              <a:t>[2] 	learncpp.com: 6.10 – Static local variables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https://www.learncpp.com/cpp-tutorial/static-local-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variables/</a:t>
            </a:r>
            <a:endParaRPr lang="en-AU" sz="2400" dirty="0"/>
          </a:p>
          <a:p>
            <a:r>
              <a:rPr lang="en-AU" sz="2400" dirty="0"/>
              <a:t>[3]	learncpp.com: 7.7 – Default arguments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https://www.learncpp.com/cpp-tutorial/77-default-</a:t>
            </a:r>
            <a:r>
              <a:rPr lang="en-AU" sz="2400" dirty="0"/>
              <a:t>	</a:t>
            </a:r>
            <a:r>
              <a:rPr lang="en-AU" sz="2400" dirty="0">
                <a:hlinkClick r:id="rId5"/>
              </a:rPr>
              <a:t>arguments/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AFDE5-6ED6-4819-BA4C-6D4CBEFE73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E8A1D93-8071-4C7B-A26C-48429A6BE7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1592F8-326F-443F-9097-7E916E561A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28781</TotalTime>
  <Words>440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Static Local Variables &amp; Default Arguments</vt:lpstr>
      <vt:lpstr>Static Local Variables</vt:lpstr>
      <vt:lpstr>Example 1: Local Variables</vt:lpstr>
      <vt:lpstr>Example 2: Static Local Variables</vt:lpstr>
      <vt:lpstr>PowerPoint Presentation</vt:lpstr>
      <vt:lpstr>Default Arguments</vt:lpstr>
      <vt:lpstr>Example 3: Default Arguments</vt:lpstr>
      <vt:lpstr>Default Arguments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7 - Static Local Variables &amp; Default Arguments</dc:title>
  <dc:creator>Ram Singh</dc:creator>
  <cp:lastModifiedBy>Upul Gunawardana</cp:lastModifiedBy>
  <cp:revision>734</cp:revision>
  <dcterms:created xsi:type="dcterms:W3CDTF">2018-02-26T21:48:17Z</dcterms:created>
  <dcterms:modified xsi:type="dcterms:W3CDTF">2022-05-26T14:22:51Z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