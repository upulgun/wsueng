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09" r:id="rId8"/>
    <p:sldId id="306" r:id="rId9"/>
    <p:sldId id="305" r:id="rId10"/>
    <p:sldId id="311" r:id="rId11"/>
    <p:sldId id="308" r:id="rId12"/>
    <p:sldId id="310" r:id="rId13"/>
    <p:sldId id="312" r:id="rId14"/>
    <p:sldId id="314" r:id="rId15"/>
    <p:sldId id="29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6" d="100"/>
          <a:sy n="86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69884C93-4C00-412F-9E69-D5EA3BA8539F}"/>
    <pc:docChg chg="modSld">
      <pc:chgData name="Upul Gunawardana" userId="d78f31a5-8ae7-4659-910b-ce777cc612cd" providerId="ADAL" clId="{69884C93-4C00-412F-9E69-D5EA3BA8539F}" dt="2022-05-26T14:21:49.338" v="13" actId="20577"/>
      <pc:docMkLst>
        <pc:docMk/>
      </pc:docMkLst>
      <pc:sldChg chg="modSp mod">
        <pc:chgData name="Upul Gunawardana" userId="d78f31a5-8ae7-4659-910b-ce777cc612cd" providerId="ADAL" clId="{69884C93-4C00-412F-9E69-D5EA3BA8539F}" dt="2022-05-26T14:21:49.338" v="13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69884C93-4C00-412F-9E69-D5EA3BA8539F}" dt="2022-05-26T14:21:49.338" v="13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oldtutorial/variable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earncpp.com/cpp-tutorial/introduction-to-global-variables/" TargetMode="External"/><Relationship Id="rId4" Type="http://schemas.openxmlformats.org/officeDocument/2006/relationships/hyperlink" Target="https://www.learncpp.com/cpp-tutorial/local-variabl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Local &amp; Global Variables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Variables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2DF4015-6C34-43D2-B9E8-7741846C1D45}"/>
              </a:ext>
            </a:extLst>
          </p:cNvPr>
          <p:cNvSpPr txBox="1">
            <a:spLocks noChangeArrowheads="1"/>
          </p:cNvSpPr>
          <p:nvPr/>
        </p:nvSpPr>
        <p:spPr>
          <a:xfrm>
            <a:off x="456688" y="1779172"/>
            <a:ext cx="7999413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Variables defined inside a function are </a:t>
            </a:r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local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to that function. They are hidden from the statements in other functions, which normally cannot access them.</a:t>
            </a:r>
          </a:p>
          <a:p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Because the variables defined in a function are hidden, other functions may have separate, distinct variables with the same name.</a:t>
            </a:r>
          </a:p>
          <a:p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C11967E-C5FF-42D2-8E2D-9C1D49DB915A}"/>
              </a:ext>
            </a:extLst>
          </p:cNvPr>
          <p:cNvGrpSpPr/>
          <p:nvPr/>
        </p:nvGrpSpPr>
        <p:grpSpPr>
          <a:xfrm>
            <a:off x="254810" y="156355"/>
            <a:ext cx="6223000" cy="6399465"/>
            <a:chOff x="254810" y="156355"/>
            <a:chExt cx="6223000" cy="6399465"/>
          </a:xfrm>
        </p:grpSpPr>
        <p:pic>
          <p:nvPicPr>
            <p:cNvPr id="8" name="Picture 7" descr="Pink tissue paper">
              <a:extLst>
                <a:ext uri="{FF2B5EF4-FFF2-40B4-BE49-F238E27FC236}">
                  <a16:creationId xmlns:a16="http://schemas.microsoft.com/office/drawing/2014/main" id="{25477F66-88DA-49D0-8521-5EFEAEF7AE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75"/>
            <a:stretch/>
          </p:blipFill>
          <p:spPr bwMode="auto">
            <a:xfrm>
              <a:off x="254810" y="156355"/>
              <a:ext cx="5907988" cy="5397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FC9816D2-8B23-42EE-BD0A-EB9DF923A5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810" y="5554108"/>
              <a:ext cx="6223000" cy="1001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11" y="908720"/>
            <a:ext cx="4695095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52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continued …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51CF322-2ADF-445E-A88A-E474B8D73F54}"/>
              </a:ext>
            </a:extLst>
          </p:cNvPr>
          <p:cNvGrpSpPr/>
          <p:nvPr/>
        </p:nvGrpSpPr>
        <p:grpSpPr>
          <a:xfrm>
            <a:off x="395536" y="1117921"/>
            <a:ext cx="7175500" cy="5572245"/>
            <a:chOff x="395536" y="1117921"/>
            <a:chExt cx="7175500" cy="5572245"/>
          </a:xfrm>
        </p:grpSpPr>
        <p:pic>
          <p:nvPicPr>
            <p:cNvPr id="14" name="Picture 4" descr="0613sowc copy">
              <a:extLst>
                <a:ext uri="{FF2B5EF4-FFF2-40B4-BE49-F238E27FC236}">
                  <a16:creationId xmlns:a16="http://schemas.microsoft.com/office/drawing/2014/main" id="{2778A661-6917-4019-94E3-1FCE3691FB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836" y="3461443"/>
              <a:ext cx="6738200" cy="32287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398713FC-5374-41B4-A518-7F0F7F780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1117921"/>
              <a:ext cx="7175500" cy="2123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marL="342900" indent="-342900" algn="just" eaLnBrk="1" hangingPunct="1">
                <a:spcBef>
                  <a:spcPct val="50000"/>
                </a:spcBef>
                <a:buFont typeface="Arial" panose="020B0604020202020204" pitchFamily="34" charset="0"/>
                <a:buChar char="•"/>
              </a:pPr>
              <a:r>
                <a:rPr lang="en-US" dirty="0"/>
                <a:t>When the program is executing in </a:t>
              </a:r>
              <a:r>
                <a:rPr lang="en-US" dirty="0">
                  <a:latin typeface="Courier New" charset="0"/>
                </a:rPr>
                <a:t>main</a:t>
              </a:r>
              <a:r>
                <a:rPr lang="en-US" dirty="0"/>
                <a:t>, the </a:t>
              </a:r>
              <a:r>
                <a:rPr lang="en-US" dirty="0">
                  <a:latin typeface="Courier New" charset="0"/>
                </a:rPr>
                <a:t>num</a:t>
              </a:r>
              <a:r>
                <a:rPr lang="en-US" dirty="0"/>
                <a:t> variable defined in </a:t>
              </a:r>
              <a:r>
                <a:rPr lang="en-US" dirty="0">
                  <a:latin typeface="Courier New" charset="0"/>
                </a:rPr>
                <a:t>main</a:t>
              </a:r>
              <a:r>
                <a:rPr lang="en-US" dirty="0"/>
                <a:t> is visible only in </a:t>
              </a:r>
              <a:r>
                <a:rPr lang="en-US" dirty="0">
                  <a:latin typeface="Courier New" charset="0"/>
                </a:rPr>
                <a:t>main</a:t>
              </a:r>
              <a:r>
                <a:rPr lang="en-US" dirty="0"/>
                <a:t>.</a:t>
              </a:r>
            </a:p>
            <a:p>
              <a:pPr marL="342900" indent="-342900" algn="just" eaLnBrk="1" hangingPunct="1">
                <a:spcBef>
                  <a:spcPct val="50000"/>
                </a:spcBef>
                <a:buFont typeface="Arial" panose="020B0604020202020204" pitchFamily="34" charset="0"/>
                <a:buChar char="•"/>
              </a:pPr>
              <a:r>
                <a:rPr lang="en-US" dirty="0"/>
                <a:t>The </a:t>
              </a:r>
              <a:r>
                <a:rPr lang="en-US" dirty="0">
                  <a:latin typeface="Courier New" charset="0"/>
                </a:rPr>
                <a:t>num</a:t>
              </a:r>
              <a:r>
                <a:rPr lang="en-US" dirty="0"/>
                <a:t> variable in </a:t>
              </a:r>
              <a:r>
                <a:rPr lang="en-US" dirty="0" err="1">
                  <a:latin typeface="Courier New" charset="0"/>
                </a:rPr>
                <a:t>anotherFunction</a:t>
              </a:r>
              <a:r>
                <a:rPr lang="en-US" dirty="0"/>
                <a:t> is visible only in </a:t>
              </a:r>
              <a:r>
                <a:rPr lang="en-US" dirty="0" err="1">
                  <a:latin typeface="Courier New" charset="0"/>
                </a:rPr>
                <a:t>anotherFunction</a:t>
              </a:r>
              <a:r>
                <a:rPr lang="en-US" dirty="0">
                  <a:latin typeface="Courier New" charset="0"/>
                </a:rPr>
                <a:t>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and is separate from the </a:t>
              </a:r>
              <a:r>
                <a:rPr lang="en-US" dirty="0">
                  <a:latin typeface="Courier New" charset="0"/>
                </a:rPr>
                <a:t>num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used </a:t>
              </a:r>
              <a:r>
                <a:rPr lang="en-US" dirty="0"/>
                <a:t>in </a:t>
              </a:r>
              <a:r>
                <a:rPr lang="en-US" dirty="0">
                  <a:latin typeface="Courier New" charset="0"/>
                </a:rPr>
                <a:t>main</a:t>
              </a:r>
              <a:r>
                <a:rPr lang="en-US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4941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Lifetime of a Local Variable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61256E2E-340B-46C5-93E5-A8E280697696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570038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A function’s local variables exist only while the function is executing. This is known as the </a:t>
            </a:r>
            <a:r>
              <a:rPr lang="en-US" sz="2800" i="1" dirty="0">
                <a:latin typeface="Arial" charset="0"/>
                <a:ea typeface="ヒラギノ角ゴ Pro W3" charset="0"/>
                <a:cs typeface="Arial" charset="0"/>
              </a:rPr>
              <a:t>lifetime 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of a local variable.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When the function begins, its local variables and its parameter variables are </a:t>
            </a: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created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in memory, and when the function ends, the local variables and parameter variables are </a:t>
            </a: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destroyed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.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This means that any value stored in a local variable in a called function is </a:t>
            </a: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lost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when the called function ends and execution returns to the calling function.</a:t>
            </a:r>
          </a:p>
          <a:p>
            <a:pPr>
              <a:lnSpc>
                <a:spcPct val="90000"/>
              </a:lnSpc>
              <a:buFont typeface="Times" charset="0"/>
              <a:buNone/>
            </a:pP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59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Variables &amp; Global Constants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ABDC902-C2F5-4616-82A5-812408A3B3B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828800"/>
            <a:ext cx="8229600" cy="4262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A global variable is any variable defined </a:t>
            </a: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outside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all the functions in a program. 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The scope of a global variable is the portion of the program from the global variable definition to the end of the source code. </a:t>
            </a:r>
            <a:br>
              <a:rPr lang="en-US" sz="2800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This means that a global variable can be accessed by </a:t>
            </a:r>
            <a:r>
              <a:rPr lang="en-US" sz="2800" i="1" u="sng" dirty="0">
                <a:latin typeface="Arial" charset="0"/>
                <a:ea typeface="ヒラギノ角ゴ Pro W3" charset="0"/>
                <a:cs typeface="Arial" charset="0"/>
              </a:rPr>
              <a:t>all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functions that are defined after the global variable is defined.</a:t>
            </a:r>
          </a:p>
        </p:txBody>
      </p:sp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Warning on using Global Variables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4014D7E-9179-4D02-A4C3-796FFC1715A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You should avoid using global variables because they make programs difficult to debug.</a:t>
            </a:r>
            <a:br>
              <a:rPr lang="en-US">
                <a:solidFill>
                  <a:srgbClr val="FFFF00"/>
                </a:solidFill>
                <a:latin typeface="Arial" charset="0"/>
                <a:ea typeface="ヒラギノ角ゴ Pro W3" charset="0"/>
                <a:cs typeface="Arial" charset="0"/>
              </a:rPr>
            </a:br>
            <a:endParaRPr lang="en-US">
              <a:solidFill>
                <a:srgbClr val="FFFF00"/>
              </a:solidFill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Any global that you create should be </a:t>
            </a:r>
            <a:r>
              <a:rPr lang="en-US" i="1">
                <a:latin typeface="Arial" charset="0"/>
                <a:ea typeface="ヒラギノ角ゴ Pro W3" charset="0"/>
                <a:cs typeface="Arial" charset="0"/>
              </a:rPr>
              <a:t>global constants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.</a:t>
            </a: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66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F4C724-81B1-421E-977D-2F36CF301D67}"/>
              </a:ext>
            </a:extLst>
          </p:cNvPr>
          <p:cNvGrpSpPr/>
          <p:nvPr/>
        </p:nvGrpSpPr>
        <p:grpSpPr>
          <a:xfrm>
            <a:off x="323528" y="1527330"/>
            <a:ext cx="8709025" cy="4749314"/>
            <a:chOff x="323528" y="1527330"/>
            <a:chExt cx="8709025" cy="4749314"/>
          </a:xfrm>
        </p:grpSpPr>
        <p:pic>
          <p:nvPicPr>
            <p:cNvPr id="8" name="Picture 5" descr="Pink tissue paper">
              <a:extLst>
                <a:ext uri="{FF2B5EF4-FFF2-40B4-BE49-F238E27FC236}">
                  <a16:creationId xmlns:a16="http://schemas.microsoft.com/office/drawing/2014/main" id="{BCBE6084-1FCB-433A-97BA-8E7C5BC75B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752269"/>
              <a:ext cx="6629400" cy="452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3">
              <a:extLst>
                <a:ext uri="{FF2B5EF4-FFF2-40B4-BE49-F238E27FC236}">
                  <a16:creationId xmlns:a16="http://schemas.microsoft.com/office/drawing/2014/main" id="{BAC4D637-08D0-45E4-B858-63C2B045D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303" y="1527330"/>
              <a:ext cx="4159250" cy="15621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	Global constants defined for values that do not change throughout the program’s execution</a:t>
              </a:r>
              <a:r>
                <a:rPr lang="en-US" dirty="0">
                  <a:solidFill>
                    <a:srgbClr val="FFFF00"/>
                  </a:solidFill>
                </a:rPr>
                <a:t>.</a:t>
              </a:r>
            </a:p>
          </p:txBody>
        </p:sp>
        <p:sp>
          <p:nvSpPr>
            <p:cNvPr id="10" name="Line 4">
              <a:extLst>
                <a:ext uri="{FF2B5EF4-FFF2-40B4-BE49-F238E27FC236}">
                  <a16:creationId xmlns:a16="http://schemas.microsoft.com/office/drawing/2014/main" id="{F594B1EA-C363-4268-A595-F3240EAD65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1552" y="2420887"/>
              <a:ext cx="1301751" cy="9950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AU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82" y="246317"/>
            <a:ext cx="4695095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116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 continued …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6D474AD-149E-4236-837E-97562B9B289E}"/>
              </a:ext>
            </a:extLst>
          </p:cNvPr>
          <p:cNvGrpSpPr/>
          <p:nvPr/>
        </p:nvGrpSpPr>
        <p:grpSpPr>
          <a:xfrm>
            <a:off x="533400" y="1530350"/>
            <a:ext cx="7391400" cy="4799013"/>
            <a:chOff x="533400" y="1530350"/>
            <a:chExt cx="7391400" cy="4799013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D2366939-4E01-4C2C-8F61-D5D19E35F9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2778125"/>
              <a:ext cx="48768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9C9FF775-5C94-4F99-BAD6-36890488E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3657600"/>
              <a:ext cx="4594225" cy="1114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E327AB28-3F4E-43C7-BC26-B4AD943AD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5181600"/>
              <a:ext cx="5715000" cy="1147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78B1E7E7-1648-4621-8B92-3538ECA74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1530350"/>
              <a:ext cx="5867400" cy="8318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The constants are then used for those values throughout the program.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3085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Initialising Local &amp; Global Variables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339BE7CD-10EB-417A-812D-3D81747E887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8288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Local variables are not automatically initialized. They must be initialized by programmer.</a:t>
            </a:r>
            <a:br>
              <a:rPr lang="en-US">
                <a:latin typeface="Arial" charset="0"/>
                <a:ea typeface="ヒラギノ角ゴ Pro W3" charset="0"/>
                <a:cs typeface="Arial" charset="0"/>
              </a:rPr>
            </a:b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Global variables (not constants) are automatically initialized to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0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(numeric) or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NULL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(character) when the variable is defined.</a:t>
            </a:r>
            <a:endParaRPr lang="en-US" u="sng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99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Variables. Data Types.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https://www.cplusplus.com/doc/oldtutorial/variables/</a:t>
            </a:r>
            <a:endParaRPr lang="en-AU" sz="2400" dirty="0"/>
          </a:p>
          <a:p>
            <a:r>
              <a:rPr lang="en-AU" sz="2400" dirty="0"/>
              <a:t>[2] 	learncpp.com: 6.3 – Local variables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https://www.learncpp.com/cpp-tutorial/local-variables/</a:t>
            </a:r>
            <a:endParaRPr lang="en-AU" sz="2400" dirty="0"/>
          </a:p>
          <a:p>
            <a:r>
              <a:rPr lang="en-AU" sz="2400" dirty="0"/>
              <a:t>[3]	learncpp.com: 6.4 – Introduction to global variables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https://www.learncpp.com/cpp-tutorial/introduction-to-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global-variables/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925E5E-804F-4BEC-8469-4B852F5B6F9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EDD1AD2-7BB2-4A66-8D7E-1DE0E9F5B1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1FEED7-673A-4CBD-A041-82FAE0C676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28621</TotalTime>
  <Words>478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Local &amp; Global Variables</vt:lpstr>
      <vt:lpstr>Local Variables</vt:lpstr>
      <vt:lpstr>Example 1</vt:lpstr>
      <vt:lpstr>Example 1 continued …</vt:lpstr>
      <vt:lpstr>Lifetime of a Local Variable</vt:lpstr>
      <vt:lpstr>Global Variables &amp; Global Constants</vt:lpstr>
      <vt:lpstr>Warning on using Global Variables</vt:lpstr>
      <vt:lpstr>Example 2</vt:lpstr>
      <vt:lpstr>Example 2 continued …</vt:lpstr>
      <vt:lpstr>Initialising Local &amp; Global Variables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6 - Local and Global Variables</dc:title>
  <dc:creator>Ram Singh</dc:creator>
  <cp:lastModifiedBy>Upul Gunawardana</cp:lastModifiedBy>
  <cp:revision>723</cp:revision>
  <dcterms:created xsi:type="dcterms:W3CDTF">2018-02-26T21:48:17Z</dcterms:created>
  <dcterms:modified xsi:type="dcterms:W3CDTF">2022-05-26T14:21:49Z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