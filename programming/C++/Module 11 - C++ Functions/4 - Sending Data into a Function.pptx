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6" r:id="rId8"/>
    <p:sldId id="309" r:id="rId9"/>
    <p:sldId id="310" r:id="rId10"/>
    <p:sldId id="305" r:id="rId11"/>
    <p:sldId id="311" r:id="rId12"/>
    <p:sldId id="312" r:id="rId13"/>
    <p:sldId id="308" r:id="rId14"/>
    <p:sldId id="29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101" d="100"/>
          <a:sy n="101" d="100"/>
        </p:scale>
        <p:origin x="100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F9E7E714-B5D0-4C4B-AE89-C60605FC8C17}"/>
    <pc:docChg chg="modSld">
      <pc:chgData name="Upul Gunawardana" userId="d78f31a5-8ae7-4659-910b-ce777cc612cd" providerId="ADAL" clId="{F9E7E714-B5D0-4C4B-AE89-C60605FC8C17}" dt="2022-05-26T14:17:37.921" v="7" actId="20577"/>
      <pc:docMkLst>
        <pc:docMk/>
      </pc:docMkLst>
      <pc:sldChg chg="modSp mod">
        <pc:chgData name="Upul Gunawardana" userId="d78f31a5-8ae7-4659-910b-ce777cc612cd" providerId="ADAL" clId="{F9E7E714-B5D0-4C4B-AE89-C60605FC8C17}" dt="2022-05-26T14:17:37.921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F9E7E714-B5D0-4C4B-AE89-C60605FC8C17}" dt="2022-05-26T14:17:37.921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introduction-to-function-parameters-and-argu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Sending Data into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Sending Data into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132FA90-1C7F-4465-B2FC-051F5A0744F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736725"/>
            <a:ext cx="7999413" cy="37433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Values can be passed into a function at time of call: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	c = pow(a, b);  </a:t>
            </a:r>
          </a:p>
          <a:p>
            <a:pPr lvl="1">
              <a:buClr>
                <a:srgbClr val="3333CC"/>
              </a:buClr>
              <a:buFontTx/>
              <a:buNone/>
            </a:pP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(Note: This function needs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#include &lt;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cmath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&gt; </a:t>
            </a:r>
            <a:r>
              <a:rPr lang="en-US" sz="2400" dirty="0">
                <a:latin typeface="Courier New" charset="0"/>
                <a:ea typeface="ヒラギノ角ゴ Pro W3" charset="0"/>
                <a:cs typeface="Arial" charset="0"/>
              </a:rPr>
              <a:t>to work)</a:t>
            </a:r>
          </a:p>
          <a:p>
            <a:pPr lvl="1">
              <a:buClr>
                <a:srgbClr val="3333CC"/>
              </a:buClr>
              <a:buFontTx/>
              <a:buNone/>
            </a:pPr>
            <a:endParaRPr lang="en-US" sz="2400" dirty="0">
              <a:latin typeface="Courier New" charset="0"/>
              <a:ea typeface="ヒラギノ角ゴ Pro W3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Values passed into a function are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arguments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.</a:t>
            </a:r>
            <a:b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</a:b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Variables in a function that hold the values passed as arguments are </a:t>
            </a:r>
            <a:r>
              <a:rPr lang="en-US" sz="2800" u="sng" dirty="0">
                <a:latin typeface="Arial" charset="0"/>
                <a:ea typeface="ヒラギノ角ゴ Pro W3" charset="0"/>
                <a:cs typeface="Arial" charset="0"/>
              </a:rPr>
              <a:t>parameters</a:t>
            </a:r>
            <a:r>
              <a:rPr lang="en-US" sz="2800" dirty="0">
                <a:latin typeface="Arial" charset="0"/>
                <a:ea typeface="ヒラギノ角ゴ Pro W3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Function with a Parameter Variable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90A1561-A134-4AF0-A310-D21E5E71DFBC}"/>
              </a:ext>
            </a:extLst>
          </p:cNvPr>
          <p:cNvGrpSpPr/>
          <p:nvPr/>
        </p:nvGrpSpPr>
        <p:grpSpPr>
          <a:xfrm>
            <a:off x="395536" y="1628800"/>
            <a:ext cx="8610600" cy="3841750"/>
            <a:chOff x="381000" y="1828800"/>
            <a:chExt cx="8610600" cy="3841750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5F3CA228-6AAC-4607-B136-1C1EA4115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828800"/>
              <a:ext cx="8001000" cy="210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void </a:t>
              </a:r>
              <a:r>
                <a:rPr lang="en-US" dirty="0" err="1">
                  <a:latin typeface="Courier New" charset="0"/>
                </a:rPr>
                <a:t>displayValue</a:t>
              </a:r>
              <a:r>
                <a:rPr lang="en-US" dirty="0">
                  <a:latin typeface="Courier New" charset="0"/>
                </a:rPr>
                <a:t>(int num)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{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   </a:t>
              </a:r>
              <a:r>
                <a:rPr lang="en-US" dirty="0" err="1">
                  <a:latin typeface="Courier New" charset="0"/>
                </a:rPr>
                <a:t>cout</a:t>
              </a:r>
              <a:r>
                <a:rPr lang="en-US" dirty="0">
                  <a:latin typeface="Courier New" charset="0"/>
                </a:rPr>
                <a:t> &lt;&lt; "The value is " &lt;&lt; num &lt;&lt; </a:t>
              </a:r>
              <a:r>
                <a:rPr lang="en-US" dirty="0" err="1">
                  <a:latin typeface="Courier New" charset="0"/>
                </a:rPr>
                <a:t>endl</a:t>
              </a:r>
              <a:r>
                <a:rPr lang="en-US" dirty="0">
                  <a:latin typeface="Courier New" charset="0"/>
                </a:rPr>
                <a:t>;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dirty="0">
                  <a:latin typeface="Courier New" charset="0"/>
                </a:rPr>
                <a:t>}</a:t>
              </a:r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7FD2D280-D344-4C25-ABA2-6D9536922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724400"/>
              <a:ext cx="8610600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/>
                <a:t>The integer variable </a:t>
              </a:r>
              <a:r>
                <a:rPr lang="en-US" sz="2800">
                  <a:latin typeface="Courier New" charset="0"/>
                </a:rPr>
                <a:t>num</a:t>
              </a:r>
              <a:r>
                <a:rPr lang="en-US" sz="2800"/>
                <a:t> is a parameter.                             It accepts any integer value passed to the function.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E04146F-B7AC-415B-9A04-C0296A2121C9}"/>
              </a:ext>
            </a:extLst>
          </p:cNvPr>
          <p:cNvGrpSpPr/>
          <p:nvPr/>
        </p:nvGrpSpPr>
        <p:grpSpPr>
          <a:xfrm>
            <a:off x="30155" y="87447"/>
            <a:ext cx="7350201" cy="6737963"/>
            <a:chOff x="30155" y="87447"/>
            <a:chExt cx="7350201" cy="67379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D784DB-CA75-4E0A-A684-2EE04C6AD3C3}"/>
                </a:ext>
              </a:extLst>
            </p:cNvPr>
            <p:cNvGrpSpPr/>
            <p:nvPr/>
          </p:nvGrpSpPr>
          <p:grpSpPr>
            <a:xfrm>
              <a:off x="30155" y="87447"/>
              <a:ext cx="7350201" cy="6737963"/>
              <a:chOff x="2483768" y="973088"/>
              <a:chExt cx="7350201" cy="6737963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4A984C92-4F53-4BB0-A3AF-4FC7A901B2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8" t="12108"/>
              <a:stretch/>
            </p:blipFill>
            <p:spPr bwMode="auto">
              <a:xfrm>
                <a:off x="2483768" y="973088"/>
                <a:ext cx="7350201" cy="3507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FC946CBC-111B-45A6-AFD0-9825822654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3" t="13775"/>
              <a:stretch/>
            </p:blipFill>
            <p:spPr bwMode="auto">
              <a:xfrm>
                <a:off x="2483768" y="4455072"/>
                <a:ext cx="7350201" cy="32559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4FE765A-DE6F-4191-B84E-267CD35E5139}"/>
                </a:ext>
              </a:extLst>
            </p:cNvPr>
            <p:cNvCxnSpPr/>
            <p:nvPr/>
          </p:nvCxnSpPr>
          <p:spPr>
            <a:xfrm flipH="1">
              <a:off x="2987824" y="1041082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04DD4D-1909-429F-BB03-3FAAED9EF391}"/>
                </a:ext>
              </a:extLst>
            </p:cNvPr>
            <p:cNvSpPr txBox="1"/>
            <p:nvPr/>
          </p:nvSpPr>
          <p:spPr>
            <a:xfrm>
              <a:off x="4248212" y="856416"/>
              <a:ext cx="1558277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 dirty="0"/>
                <a:t>Only data type 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B9E5C51-2032-4840-BEBE-F1E9C1E00F55}"/>
                </a:ext>
              </a:extLst>
            </p:cNvPr>
            <p:cNvCxnSpPr/>
            <p:nvPr/>
          </p:nvCxnSpPr>
          <p:spPr>
            <a:xfrm flipH="1">
              <a:off x="3443173" y="4412645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5B7CDD-95AB-4E61-B201-60BF1A977A3F}"/>
                </a:ext>
              </a:extLst>
            </p:cNvPr>
            <p:cNvSpPr txBox="1"/>
            <p:nvPr/>
          </p:nvSpPr>
          <p:spPr>
            <a:xfrm>
              <a:off x="4573764" y="4348703"/>
              <a:ext cx="1683048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 dirty="0"/>
                <a:t>Full declaration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</p:spTree>
    <p:extLst>
      <p:ext uri="{BB962C8B-B14F-4D97-AF65-F5344CB8AC3E}">
        <p14:creationId xmlns:p14="http://schemas.microsoft.com/office/powerpoint/2010/main" val="79505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05C9BCA-7055-481A-A074-AC42AF40922E}"/>
              </a:ext>
            </a:extLst>
          </p:cNvPr>
          <p:cNvGrpSpPr/>
          <p:nvPr/>
        </p:nvGrpSpPr>
        <p:grpSpPr>
          <a:xfrm>
            <a:off x="694811" y="523046"/>
            <a:ext cx="7359650" cy="5448985"/>
            <a:chOff x="694811" y="523046"/>
            <a:chExt cx="7359650" cy="5448985"/>
          </a:xfrm>
        </p:grpSpPr>
        <p:pic>
          <p:nvPicPr>
            <p:cNvPr id="8" name="Picture 2" descr="0606sowc copy">
              <a:extLst>
                <a:ext uri="{FF2B5EF4-FFF2-40B4-BE49-F238E27FC236}">
                  <a16:creationId xmlns:a16="http://schemas.microsoft.com/office/drawing/2014/main" id="{8869A73B-813D-440B-8DA3-80D63E1B3A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8900" y="1568450"/>
              <a:ext cx="5575300" cy="285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B49D82DE-F4F3-4D0D-A75B-D7F806374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11" y="4940156"/>
              <a:ext cx="7359650" cy="1031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</a:rPr>
                <a:t>The function call in line 11 passes the value 5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</a:rPr>
                <a:t>as an argument to the function.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57E80B9-4D73-4CC0-A5CF-2A1D799A084C}"/>
                </a:ext>
              </a:extLst>
            </p:cNvPr>
            <p:cNvCxnSpPr/>
            <p:nvPr/>
          </p:nvCxnSpPr>
          <p:spPr>
            <a:xfrm flipH="1">
              <a:off x="3386571" y="784656"/>
              <a:ext cx="887942" cy="783794"/>
            </a:xfrm>
            <a:prstGeom prst="straightConnector1">
              <a:avLst/>
            </a:prstGeom>
            <a:ln w="666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4891C6-9592-40E7-AD33-72E24F5724BF}"/>
                </a:ext>
              </a:extLst>
            </p:cNvPr>
            <p:cNvSpPr txBox="1"/>
            <p:nvPr/>
          </p:nvSpPr>
          <p:spPr>
            <a:xfrm>
              <a:off x="4377762" y="523046"/>
              <a:ext cx="16416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/>
                <a:t>argument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033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Multiple Arguments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15229B7-EA27-404F-BE60-3A3513857893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600200"/>
            <a:ext cx="829468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When calling a function and passing multiple arguments:</a:t>
            </a:r>
            <a:br>
              <a:rPr lang="en-US"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number of arguments</a:t>
            </a:r>
            <a:r>
              <a:rPr lang="en-US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in the call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must</a:t>
            </a:r>
            <a:r>
              <a:rPr lang="en-US">
                <a:solidFill>
                  <a:srgbClr val="FFFF00"/>
                </a:solidFill>
                <a:latin typeface="Arial" charset="0"/>
                <a:ea typeface="ヒラギノ角ゴ Pro W3" charset="0"/>
                <a:cs typeface="Arial" charset="0"/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match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the prototype and definition</a:t>
            </a:r>
            <a:br>
              <a:rPr lang="en-US">
                <a:latin typeface="Arial" charset="0"/>
                <a:ea typeface="ヒラギノ角ゴ Pro W3" charset="0"/>
                <a:cs typeface="Arial" charset="0"/>
              </a:rPr>
            </a:b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first argument will be used to initialize the first parameter, the second argument to initialize the second parameter, etc.</a:t>
            </a:r>
          </a:p>
          <a:p>
            <a:pPr lvl="1">
              <a:lnSpc>
                <a:spcPct val="90000"/>
              </a:lnSpc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BCA741D-A0C6-46CE-9BE3-80777903815C}"/>
              </a:ext>
            </a:extLst>
          </p:cNvPr>
          <p:cNvGrpSpPr/>
          <p:nvPr/>
        </p:nvGrpSpPr>
        <p:grpSpPr>
          <a:xfrm>
            <a:off x="107504" y="0"/>
            <a:ext cx="7576843" cy="6736327"/>
            <a:chOff x="969875" y="0"/>
            <a:chExt cx="7576843" cy="6736327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9F844C7A-0E32-4CA6-A538-1DAD937E4A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81"/>
            <a:stretch/>
          </p:blipFill>
          <p:spPr bwMode="auto">
            <a:xfrm>
              <a:off x="969875" y="0"/>
              <a:ext cx="6863236" cy="4195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1BF8D11-1715-41FD-810D-FF39BAB5B2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875" y="4195482"/>
              <a:ext cx="6506333" cy="254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13CFA65-EAE6-4436-8ECA-E465FE8636ED}"/>
                </a:ext>
              </a:extLst>
            </p:cNvPr>
            <p:cNvCxnSpPr/>
            <p:nvPr/>
          </p:nvCxnSpPr>
          <p:spPr>
            <a:xfrm flipH="1">
              <a:off x="4495149" y="836618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D2A2A0-153C-40C3-99D4-D83E450889E9}"/>
                </a:ext>
              </a:extLst>
            </p:cNvPr>
            <p:cNvSpPr txBox="1"/>
            <p:nvPr/>
          </p:nvSpPr>
          <p:spPr>
            <a:xfrm>
              <a:off x="5734843" y="651952"/>
              <a:ext cx="1558277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 dirty="0"/>
                <a:t>Only data type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B3B8B2-62B1-4D92-85FF-CA25C1C475F3}"/>
                </a:ext>
              </a:extLst>
            </p:cNvPr>
            <p:cNvCxnSpPr/>
            <p:nvPr/>
          </p:nvCxnSpPr>
          <p:spPr>
            <a:xfrm flipH="1">
              <a:off x="5623976" y="4990673"/>
              <a:ext cx="1128827" cy="27215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2295A3-210C-497F-80DA-B61DB8603EC7}"/>
                </a:ext>
              </a:extLst>
            </p:cNvPr>
            <p:cNvSpPr txBox="1"/>
            <p:nvPr/>
          </p:nvSpPr>
          <p:spPr>
            <a:xfrm>
              <a:off x="6863670" y="4806007"/>
              <a:ext cx="1683048" cy="369332"/>
            </a:xfrm>
            <a:prstGeom prst="rect">
              <a:avLst/>
            </a:prstGeom>
            <a:solidFill>
              <a:srgbClr val="C0504D"/>
            </a:solidFill>
          </p:spPr>
          <p:txBody>
            <a:bodyPr wrap="none" rtlCol="0">
              <a:spAutoFit/>
            </a:bodyPr>
            <a:lstStyle/>
            <a:p>
              <a:r>
                <a:rPr lang="en-AU" dirty="0"/>
                <a:t>Full declaration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</p:spTree>
    <p:extLst>
      <p:ext uri="{BB962C8B-B14F-4D97-AF65-F5344CB8AC3E}">
        <p14:creationId xmlns:p14="http://schemas.microsoft.com/office/powerpoint/2010/main" val="3811630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216097-A467-4ED3-9B88-BE7D55D83425}"/>
              </a:ext>
            </a:extLst>
          </p:cNvPr>
          <p:cNvGrpSpPr/>
          <p:nvPr/>
        </p:nvGrpSpPr>
        <p:grpSpPr>
          <a:xfrm>
            <a:off x="323528" y="1287500"/>
            <a:ext cx="8305800" cy="4749800"/>
            <a:chOff x="381000" y="1595438"/>
            <a:chExt cx="8305800" cy="4749800"/>
          </a:xfrm>
        </p:grpSpPr>
        <p:sp>
          <p:nvSpPr>
            <p:cNvPr id="15" name="Text Box 2">
              <a:extLst>
                <a:ext uri="{FF2B5EF4-FFF2-40B4-BE49-F238E27FC236}">
                  <a16:creationId xmlns:a16="http://schemas.microsoft.com/office/drawing/2014/main" id="{945D6343-FE29-4D1C-B2BC-1CAB591C6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800600"/>
              <a:ext cx="8305800" cy="154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</a:rPr>
                <a:t>The function call in line 18 passes value1,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</a:rPr>
                <a:t>value2, and value3 as a arguments to the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</a:rPr>
                <a:t>function.</a:t>
              </a:r>
            </a:p>
          </p:txBody>
        </p:sp>
        <p:pic>
          <p:nvPicPr>
            <p:cNvPr id="16" name="Picture 3" descr="0607sowc copy">
              <a:extLst>
                <a:ext uri="{FF2B5EF4-FFF2-40B4-BE49-F238E27FC236}">
                  <a16:creationId xmlns:a16="http://schemas.microsoft.com/office/drawing/2014/main" id="{4496C98E-3514-42AC-8953-096E57A36E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595438"/>
              <a:ext cx="8077200" cy="282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692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Data by Value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0C7A627-6888-4D3C-B0EE-A202E3452278}"/>
              </a:ext>
            </a:extLst>
          </p:cNvPr>
          <p:cNvGrpSpPr/>
          <p:nvPr/>
        </p:nvGrpSpPr>
        <p:grpSpPr>
          <a:xfrm>
            <a:off x="457200" y="1052736"/>
            <a:ext cx="8229600" cy="5450297"/>
            <a:chOff x="457200" y="1052736"/>
            <a:chExt cx="8229600" cy="5450297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43C7CDB-4E10-4619-8BDC-DD32970BE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052736"/>
              <a:ext cx="8229600" cy="545029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r>
                <a:rPr lang="en-US" u="sng" dirty="0">
                  <a:latin typeface="Arial" charset="0"/>
                  <a:ea typeface="ヒラギノ角ゴ Pro W3" charset="0"/>
                  <a:cs typeface="Arial" charset="0"/>
                </a:rPr>
                <a:t>Pass by value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: when an argument is passed to a function, its value is copied into the parameter.</a:t>
              </a:r>
            </a:p>
            <a:p>
              <a:pPr algn="just"/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Changes to the parameter in the function </a:t>
              </a: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Arial" charset="0"/>
                  <a:ea typeface="ヒラギノ角ゴ Pro W3" charset="0"/>
                  <a:cs typeface="Arial" charset="0"/>
                </a:rPr>
                <a:t>do not 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affect the value of the argument.</a:t>
              </a:r>
            </a:p>
            <a:p>
              <a:pPr algn="just"/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Example: 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int </a:t>
              </a:r>
              <a:r>
                <a:rPr lang="en-US" dirty="0" err="1">
                  <a:latin typeface="Courier New" charset="0"/>
                  <a:ea typeface="ヒラギノ角ゴ Pro W3" charset="0"/>
                  <a:cs typeface="Arial" charset="0"/>
                </a:rPr>
                <a:t>val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=5;</a:t>
              </a:r>
            </a:p>
            <a:p>
              <a:pPr marL="0" indent="0" algn="just">
                <a:buNone/>
              </a:pP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		 </a:t>
              </a:r>
              <a:r>
                <a:rPr lang="en-US" dirty="0" err="1">
                  <a:latin typeface="Courier New" charset="0"/>
                  <a:ea typeface="ヒラギノ角ゴ Pro W3" charset="0"/>
                  <a:cs typeface="Arial" charset="0"/>
                </a:rPr>
                <a:t>evenOrOdd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(</a:t>
              </a:r>
              <a:r>
                <a:rPr lang="en-US" dirty="0" err="1">
                  <a:latin typeface="Courier New" charset="0"/>
                  <a:ea typeface="ヒラギノ角ゴ Pro W3" charset="0"/>
                  <a:cs typeface="Arial" charset="0"/>
                </a:rPr>
                <a:t>val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);</a:t>
              </a:r>
            </a:p>
            <a:p>
              <a:pPr marL="0" indent="0" algn="just">
                <a:buNone/>
              </a:pPr>
              <a:endParaRPr lang="en-US" dirty="0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 u="sng" dirty="0">
                <a:latin typeface="Arial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 dirty="0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 dirty="0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endParaRPr lang="en-US" dirty="0">
                <a:latin typeface="Courier New" charset="0"/>
                <a:ea typeface="ヒラギノ角ゴ Pro W3" charset="0"/>
                <a:cs typeface="Arial" charset="0"/>
              </a:endParaRPr>
            </a:p>
            <a:p>
              <a:pPr algn="just"/>
              <a:r>
                <a:rPr lang="en-US" dirty="0" err="1">
                  <a:latin typeface="Courier New" charset="0"/>
                  <a:ea typeface="ヒラギノ角ゴ Pro W3" charset="0"/>
                  <a:cs typeface="Arial" charset="0"/>
                </a:rPr>
                <a:t>evenOrOdd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can change variable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num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, but it will have </a:t>
              </a:r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Arial" charset="0"/>
                  <a:ea typeface="ヒラギノ角ゴ Pro W3" charset="0"/>
                  <a:cs typeface="Arial" charset="0"/>
                </a:rPr>
                <a:t>no effect 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on variable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val</a:t>
              </a:r>
              <a:r>
                <a:rPr lang="en-US" dirty="0">
                  <a:latin typeface="Arial" panose="020B0604020202020204" pitchFamily="34" charset="0"/>
                  <a:ea typeface="ヒラギノ角ゴ Pro W3" charset="0"/>
                  <a:cs typeface="Arial" panose="020B0604020202020204" pitchFamily="34" charset="0"/>
                </a:rPr>
                <a:t>.</a:t>
              </a:r>
              <a:endParaRPr lang="en-US" dirty="0">
                <a:latin typeface="Courier New" charset="0"/>
                <a:ea typeface="ヒラギノ角ゴ Pro W3" charset="0"/>
                <a:cs typeface="Arial" charset="0"/>
              </a:endParaRPr>
            </a:p>
          </p:txBody>
        </p: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5822867F-8269-41E9-ADD7-8F440022A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731" y="3501008"/>
              <a:ext cx="7848600" cy="1739900"/>
              <a:chOff x="432" y="1920"/>
              <a:chExt cx="4944" cy="1096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1EE28F8-0B8B-437B-862F-7512D7040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256"/>
                <a:ext cx="76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FE995646-EA17-4A0D-A1F9-5F695FA66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920"/>
                <a:ext cx="76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val</a:t>
                </a: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732BF700-BA36-4DDA-AFF7-E442120EB5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2544"/>
                <a:ext cx="158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 dirty="0"/>
                  <a:t>argument in</a:t>
                </a:r>
              </a:p>
              <a:p>
                <a:pPr algn="ctr" eaLnBrk="1" hangingPunct="1">
                  <a:lnSpc>
                    <a:spcPct val="80000"/>
                  </a:lnSpc>
                  <a:spcBef>
                    <a:spcPct val="20000"/>
                  </a:spcBef>
                </a:pPr>
                <a:r>
                  <a:rPr lang="en-US" dirty="0"/>
                  <a:t>calling function</a:t>
                </a:r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B69E24B1-F0E7-43C5-BC48-8D1761155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256"/>
                <a:ext cx="76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5</a:t>
                </a:r>
              </a:p>
            </p:txBody>
          </p:sp>
          <p:sp>
            <p:nvSpPr>
              <p:cNvPr id="14" name="Text Box 8">
                <a:extLst>
                  <a:ext uri="{FF2B5EF4-FFF2-40B4-BE49-F238E27FC236}">
                    <a16:creationId xmlns:a16="http://schemas.microsoft.com/office/drawing/2014/main" id="{07C71872-E748-4531-AC1D-7E0BFBF4BD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920"/>
                <a:ext cx="76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sz="3200">
                    <a:latin typeface="Courier New" charset="0"/>
                  </a:rPr>
                  <a:t>num</a:t>
                </a:r>
              </a:p>
            </p:txBody>
          </p:sp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3751B190-3D40-44A1-A7EC-8B5287B4D0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2544"/>
                <a:ext cx="1920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algn="ctr" eaLnBrk="1" hangingPunct="1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en-US"/>
                  <a:t>parameter in</a:t>
                </a:r>
              </a:p>
              <a:p>
                <a:pPr algn="ctr" eaLnBrk="1" hangingPunct="1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en-US">
                    <a:latin typeface="Courier New" charset="0"/>
                  </a:rPr>
                  <a:t>evenOrOdd</a:t>
                </a:r>
                <a:r>
                  <a:rPr lang="en-US"/>
                  <a:t> function</a:t>
                </a:r>
              </a:p>
            </p:txBody>
          </p:sp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B6D869E5-A164-4CE4-9116-D332A113D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400"/>
                <a:ext cx="2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5662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https://cplusplus.com/doc/tutorial/functions/</a:t>
            </a:r>
            <a:endParaRPr lang="en-AU" sz="2400" dirty="0"/>
          </a:p>
          <a:p>
            <a:r>
              <a:rPr lang="en-AU" sz="2400" dirty="0"/>
              <a:t>[2] 	learncpp.com: 2.3 – Introduction to function parameters 	and arguments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https://www.learncpp.com/cpp-tutorial/introduction-to-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function-parameters-and-arguments/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186428-3E02-48BE-A1D2-30A06E32FF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207170-0A55-4C9B-9AC4-810B945619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F15166-76FC-4CC0-8F37-BD43C5A92EC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27989</TotalTime>
  <Words>373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Sending Data into a Function</vt:lpstr>
      <vt:lpstr>Sending Data into a Function</vt:lpstr>
      <vt:lpstr>A Function with a Parameter Variable</vt:lpstr>
      <vt:lpstr>PowerPoint Presentation</vt:lpstr>
      <vt:lpstr>PowerPoint Presentation</vt:lpstr>
      <vt:lpstr>Passing Multiple Arguments</vt:lpstr>
      <vt:lpstr>PowerPoint Presentation</vt:lpstr>
      <vt:lpstr>PowerPoint Presentation</vt:lpstr>
      <vt:lpstr>Passing Data by Value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4 - Sending Data into a Function</dc:title>
  <dc:creator>Ram Singh</dc:creator>
  <cp:lastModifiedBy>Upul Gunawardana</cp:lastModifiedBy>
  <cp:revision>675</cp:revision>
  <dcterms:created xsi:type="dcterms:W3CDTF">2018-02-26T21:48:17Z</dcterms:created>
  <dcterms:modified xsi:type="dcterms:W3CDTF">2022-05-26T14:17:40Z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